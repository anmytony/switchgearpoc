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Override PartName="/ppt/slides/slide13.xml" ContentType="application/vnd.openxmlformats-officedocument.presentationml.slide+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2" d="100"/>
          <a:sy n="32" d="100"/>
        </p:scale>
        <p:origin x="1104"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  <Relationship Id="rId18" Type="http://schemas.openxmlformats.org/officeDocument/2006/relationships/slide" Target="slides/slide13.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2452B-B47B-2285-F7C8-264C04368B3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082AC4E-77EA-C50C-69DB-83F7B896C10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559D695-CFBB-11AB-09CA-95504D5BA637}"/>
              </a:ext>
            </a:extLst>
          </p:cNvPr>
          <p:cNvSpPr>
            <a:spLocks noGrp="1"/>
          </p:cNvSpPr>
          <p:nvPr>
            <p:ph type="dt" sz="half" idx="10"/>
          </p:nvPr>
        </p:nvSpPr>
        <p:spPr/>
        <p:txBody>
          <a:bodyPr/>
          <a:lstStyle/>
          <a:p>
            <a:fld id="{60F1A0F2-3809-415C-AD32-0F9DCC5C3D2A}" type="datetimeFigureOut">
              <a:rPr lang="en-US" smtClean="0"/>
              <a:t>6/19/2026</a:t>
            </a:fld>
            <a:endParaRPr lang="en-US"/>
          </a:p>
        </p:txBody>
      </p:sp>
      <p:sp>
        <p:nvSpPr>
          <p:cNvPr id="5" name="Footer Placeholder 4">
            <a:extLst>
              <a:ext uri="{FF2B5EF4-FFF2-40B4-BE49-F238E27FC236}">
                <a16:creationId xmlns:a16="http://schemas.microsoft.com/office/drawing/2014/main" id="{0F30DA32-5DC8-49FA-77F4-B15C6F7428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09E2EB-F8DB-3F82-E650-A2AD8F57CE84}"/>
              </a:ext>
            </a:extLst>
          </p:cNvPr>
          <p:cNvSpPr>
            <a:spLocks noGrp="1"/>
          </p:cNvSpPr>
          <p:nvPr>
            <p:ph type="sldNum" sz="quarter" idx="12"/>
          </p:nvPr>
        </p:nvSpPr>
        <p:spPr/>
        <p:txBody>
          <a:bodyPr/>
          <a:lstStyle/>
          <a:p>
            <a:fld id="{3A1D309D-E71D-45F6-9DFF-09FD3ACC0BCF}" type="slidenum">
              <a:rPr lang="en-US" smtClean="0"/>
              <a:t>‹#›</a:t>
            </a:fld>
            <a:endParaRPr lang="en-US"/>
          </a:p>
        </p:txBody>
      </p:sp>
    </p:spTree>
    <p:extLst>
      <p:ext uri="{BB962C8B-B14F-4D97-AF65-F5344CB8AC3E}">
        <p14:creationId xmlns:p14="http://schemas.microsoft.com/office/powerpoint/2010/main" val="35984083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1B1F3-2199-3592-2A83-D8B96B2F826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4CA0B6D-02E4-15B7-3A0E-25B3AD9B014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2FCE8A-EFF6-85F7-3923-D16D687245F1}"/>
              </a:ext>
            </a:extLst>
          </p:cNvPr>
          <p:cNvSpPr>
            <a:spLocks noGrp="1"/>
          </p:cNvSpPr>
          <p:nvPr>
            <p:ph type="dt" sz="half" idx="10"/>
          </p:nvPr>
        </p:nvSpPr>
        <p:spPr/>
        <p:txBody>
          <a:bodyPr/>
          <a:lstStyle/>
          <a:p>
            <a:fld id="{60F1A0F2-3809-415C-AD32-0F9DCC5C3D2A}" type="datetimeFigureOut">
              <a:rPr lang="en-US" smtClean="0"/>
              <a:t>6/19/2026</a:t>
            </a:fld>
            <a:endParaRPr lang="en-US"/>
          </a:p>
        </p:txBody>
      </p:sp>
      <p:sp>
        <p:nvSpPr>
          <p:cNvPr id="5" name="Footer Placeholder 4">
            <a:extLst>
              <a:ext uri="{FF2B5EF4-FFF2-40B4-BE49-F238E27FC236}">
                <a16:creationId xmlns:a16="http://schemas.microsoft.com/office/drawing/2014/main" id="{C4F60E73-B491-0230-E7A8-0B5A1B9E13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CF9BE0-AEF5-9766-C6BB-86A7BBFD967A}"/>
              </a:ext>
            </a:extLst>
          </p:cNvPr>
          <p:cNvSpPr>
            <a:spLocks noGrp="1"/>
          </p:cNvSpPr>
          <p:nvPr>
            <p:ph type="sldNum" sz="quarter" idx="12"/>
          </p:nvPr>
        </p:nvSpPr>
        <p:spPr/>
        <p:txBody>
          <a:bodyPr/>
          <a:lstStyle/>
          <a:p>
            <a:fld id="{3A1D309D-E71D-45F6-9DFF-09FD3ACC0BCF}" type="slidenum">
              <a:rPr lang="en-US" smtClean="0"/>
              <a:t>‹#›</a:t>
            </a:fld>
            <a:endParaRPr lang="en-US"/>
          </a:p>
        </p:txBody>
      </p:sp>
    </p:spTree>
    <p:extLst>
      <p:ext uri="{BB962C8B-B14F-4D97-AF65-F5344CB8AC3E}">
        <p14:creationId xmlns:p14="http://schemas.microsoft.com/office/powerpoint/2010/main" val="37995564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6339D-DFDC-40F6-9699-CF79AA5DEF6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4F8CC12-6EF0-247E-6D9B-30CADA27AB1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C3DB067-F60F-1E30-B076-5BD6CA4EDE6E}"/>
              </a:ext>
            </a:extLst>
          </p:cNvPr>
          <p:cNvSpPr>
            <a:spLocks noGrp="1"/>
          </p:cNvSpPr>
          <p:nvPr>
            <p:ph type="dt" sz="half" idx="10"/>
          </p:nvPr>
        </p:nvSpPr>
        <p:spPr/>
        <p:txBody>
          <a:bodyPr/>
          <a:lstStyle/>
          <a:p>
            <a:fld id="{60F1A0F2-3809-415C-AD32-0F9DCC5C3D2A}" type="datetimeFigureOut">
              <a:rPr lang="en-US" smtClean="0"/>
              <a:t>6/19/2026</a:t>
            </a:fld>
            <a:endParaRPr lang="en-US"/>
          </a:p>
        </p:txBody>
      </p:sp>
      <p:sp>
        <p:nvSpPr>
          <p:cNvPr id="5" name="Footer Placeholder 4">
            <a:extLst>
              <a:ext uri="{FF2B5EF4-FFF2-40B4-BE49-F238E27FC236}">
                <a16:creationId xmlns:a16="http://schemas.microsoft.com/office/drawing/2014/main" id="{44CBD0E2-CB44-6E5C-277F-FBA9BEB448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1CB006-E38C-3854-8F25-4FBB72F8D6AA}"/>
              </a:ext>
            </a:extLst>
          </p:cNvPr>
          <p:cNvSpPr>
            <a:spLocks noGrp="1"/>
          </p:cNvSpPr>
          <p:nvPr>
            <p:ph type="sldNum" sz="quarter" idx="12"/>
          </p:nvPr>
        </p:nvSpPr>
        <p:spPr/>
        <p:txBody>
          <a:bodyPr/>
          <a:lstStyle/>
          <a:p>
            <a:fld id="{3A1D309D-E71D-45F6-9DFF-09FD3ACC0BCF}" type="slidenum">
              <a:rPr lang="en-US" smtClean="0"/>
              <a:t>‹#›</a:t>
            </a:fld>
            <a:endParaRPr lang="en-US"/>
          </a:p>
        </p:txBody>
      </p:sp>
    </p:spTree>
    <p:extLst>
      <p:ext uri="{BB962C8B-B14F-4D97-AF65-F5344CB8AC3E}">
        <p14:creationId xmlns:p14="http://schemas.microsoft.com/office/powerpoint/2010/main" val="9333581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9DDC8-8DFF-B250-C230-42564839551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46394A4-C377-B493-80E1-8F2DF190459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030A438-8E0E-E34E-D1E5-B4FD4173AC7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0596D53-AFD8-9ADC-B348-00F7DE5C9C22}"/>
              </a:ext>
            </a:extLst>
          </p:cNvPr>
          <p:cNvSpPr>
            <a:spLocks noGrp="1"/>
          </p:cNvSpPr>
          <p:nvPr>
            <p:ph type="dt" sz="half" idx="10"/>
          </p:nvPr>
        </p:nvSpPr>
        <p:spPr/>
        <p:txBody>
          <a:bodyPr/>
          <a:lstStyle/>
          <a:p>
            <a:fld id="{60F1A0F2-3809-415C-AD32-0F9DCC5C3D2A}" type="datetimeFigureOut">
              <a:rPr lang="en-US" smtClean="0"/>
              <a:t>6/19/2026</a:t>
            </a:fld>
            <a:endParaRPr lang="en-US"/>
          </a:p>
        </p:txBody>
      </p:sp>
      <p:sp>
        <p:nvSpPr>
          <p:cNvPr id="6" name="Footer Placeholder 5">
            <a:extLst>
              <a:ext uri="{FF2B5EF4-FFF2-40B4-BE49-F238E27FC236}">
                <a16:creationId xmlns:a16="http://schemas.microsoft.com/office/drawing/2014/main" id="{4ACFFC83-561B-56DA-0DDE-7CC42666C8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C0C91A-0F94-08EF-11D0-BD410AE52B24}"/>
              </a:ext>
            </a:extLst>
          </p:cNvPr>
          <p:cNvSpPr>
            <a:spLocks noGrp="1"/>
          </p:cNvSpPr>
          <p:nvPr>
            <p:ph type="sldNum" sz="quarter" idx="12"/>
          </p:nvPr>
        </p:nvSpPr>
        <p:spPr/>
        <p:txBody>
          <a:bodyPr/>
          <a:lstStyle/>
          <a:p>
            <a:fld id="{3A1D309D-E71D-45F6-9DFF-09FD3ACC0BCF}" type="slidenum">
              <a:rPr lang="en-US" smtClean="0"/>
              <a:t>‹#›</a:t>
            </a:fld>
            <a:endParaRPr lang="en-US"/>
          </a:p>
        </p:txBody>
      </p:sp>
    </p:spTree>
    <p:extLst>
      <p:ext uri="{BB962C8B-B14F-4D97-AF65-F5344CB8AC3E}">
        <p14:creationId xmlns:p14="http://schemas.microsoft.com/office/powerpoint/2010/main" val="41726078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8932A-6E05-4E50-26A7-7D4D0E49273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4D488C5-CB4E-C8E6-0DCA-42EFC3DE0E1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48F632D-7C82-5BA9-1727-BC2761C994C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13868B4-52A6-4FC2-15A7-0BEB32AF0DB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307869F-C385-D79B-8165-B54CAFC8AE3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BBE45B1-A0B1-C71D-FE49-F6960E32C629}"/>
              </a:ext>
            </a:extLst>
          </p:cNvPr>
          <p:cNvSpPr>
            <a:spLocks noGrp="1"/>
          </p:cNvSpPr>
          <p:nvPr>
            <p:ph type="dt" sz="half" idx="10"/>
          </p:nvPr>
        </p:nvSpPr>
        <p:spPr/>
        <p:txBody>
          <a:bodyPr/>
          <a:lstStyle/>
          <a:p>
            <a:fld id="{60F1A0F2-3809-415C-AD32-0F9DCC5C3D2A}" type="datetimeFigureOut">
              <a:rPr lang="en-US" smtClean="0"/>
              <a:t>6/19/2026</a:t>
            </a:fld>
            <a:endParaRPr lang="en-US"/>
          </a:p>
        </p:txBody>
      </p:sp>
      <p:sp>
        <p:nvSpPr>
          <p:cNvPr id="8" name="Footer Placeholder 7">
            <a:extLst>
              <a:ext uri="{FF2B5EF4-FFF2-40B4-BE49-F238E27FC236}">
                <a16:creationId xmlns:a16="http://schemas.microsoft.com/office/drawing/2014/main" id="{26FABB9B-278F-587C-F716-2020D18BBCB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807D0AB-E35A-9FFB-96C2-FFBBC0A9B003}"/>
              </a:ext>
            </a:extLst>
          </p:cNvPr>
          <p:cNvSpPr>
            <a:spLocks noGrp="1"/>
          </p:cNvSpPr>
          <p:nvPr>
            <p:ph type="sldNum" sz="quarter" idx="12"/>
          </p:nvPr>
        </p:nvSpPr>
        <p:spPr/>
        <p:txBody>
          <a:bodyPr/>
          <a:lstStyle/>
          <a:p>
            <a:fld id="{3A1D309D-E71D-45F6-9DFF-09FD3ACC0BCF}" type="slidenum">
              <a:rPr lang="en-US" smtClean="0"/>
              <a:t>‹#›</a:t>
            </a:fld>
            <a:endParaRPr lang="en-US"/>
          </a:p>
        </p:txBody>
      </p:sp>
    </p:spTree>
    <p:extLst>
      <p:ext uri="{BB962C8B-B14F-4D97-AF65-F5344CB8AC3E}">
        <p14:creationId xmlns:p14="http://schemas.microsoft.com/office/powerpoint/2010/main" val="20971259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22A83-BA60-923C-32AD-89892CA2819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049361D-2570-2767-5F17-A1324A0C299A}"/>
              </a:ext>
            </a:extLst>
          </p:cNvPr>
          <p:cNvSpPr>
            <a:spLocks noGrp="1"/>
          </p:cNvSpPr>
          <p:nvPr>
            <p:ph type="dt" sz="half" idx="10"/>
          </p:nvPr>
        </p:nvSpPr>
        <p:spPr/>
        <p:txBody>
          <a:bodyPr/>
          <a:lstStyle/>
          <a:p>
            <a:fld id="{60F1A0F2-3809-415C-AD32-0F9DCC5C3D2A}" type="datetimeFigureOut">
              <a:rPr lang="en-US" smtClean="0"/>
              <a:t>6/19/2026</a:t>
            </a:fld>
            <a:endParaRPr lang="en-US"/>
          </a:p>
        </p:txBody>
      </p:sp>
      <p:sp>
        <p:nvSpPr>
          <p:cNvPr id="4" name="Footer Placeholder 3">
            <a:extLst>
              <a:ext uri="{FF2B5EF4-FFF2-40B4-BE49-F238E27FC236}">
                <a16:creationId xmlns:a16="http://schemas.microsoft.com/office/drawing/2014/main" id="{D4D188EB-C2D8-1043-C3FA-B167EC234A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10CAA94-8793-4FD8-8886-09A7EF841FBB}"/>
              </a:ext>
            </a:extLst>
          </p:cNvPr>
          <p:cNvSpPr>
            <a:spLocks noGrp="1"/>
          </p:cNvSpPr>
          <p:nvPr>
            <p:ph type="sldNum" sz="quarter" idx="12"/>
          </p:nvPr>
        </p:nvSpPr>
        <p:spPr/>
        <p:txBody>
          <a:bodyPr/>
          <a:lstStyle/>
          <a:p>
            <a:fld id="{3A1D309D-E71D-45F6-9DFF-09FD3ACC0BCF}" type="slidenum">
              <a:rPr lang="en-US" smtClean="0"/>
              <a:t>‹#›</a:t>
            </a:fld>
            <a:endParaRPr lang="en-US"/>
          </a:p>
        </p:txBody>
      </p:sp>
    </p:spTree>
    <p:extLst>
      <p:ext uri="{BB962C8B-B14F-4D97-AF65-F5344CB8AC3E}">
        <p14:creationId xmlns:p14="http://schemas.microsoft.com/office/powerpoint/2010/main" val="13306063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ACD7375-5E0B-7FBB-3A49-2C14B406E23C}"/>
              </a:ext>
            </a:extLst>
          </p:cNvPr>
          <p:cNvSpPr>
            <a:spLocks noGrp="1"/>
          </p:cNvSpPr>
          <p:nvPr>
            <p:ph type="dt" sz="half" idx="10"/>
          </p:nvPr>
        </p:nvSpPr>
        <p:spPr/>
        <p:txBody>
          <a:bodyPr/>
          <a:lstStyle/>
          <a:p>
            <a:fld id="{60F1A0F2-3809-415C-AD32-0F9DCC5C3D2A}" type="datetimeFigureOut">
              <a:rPr lang="en-US" smtClean="0"/>
              <a:t>6/19/2026</a:t>
            </a:fld>
            <a:endParaRPr lang="en-US"/>
          </a:p>
        </p:txBody>
      </p:sp>
      <p:sp>
        <p:nvSpPr>
          <p:cNvPr id="3" name="Footer Placeholder 2">
            <a:extLst>
              <a:ext uri="{FF2B5EF4-FFF2-40B4-BE49-F238E27FC236}">
                <a16:creationId xmlns:a16="http://schemas.microsoft.com/office/drawing/2014/main" id="{2344C022-33C4-5016-B913-C3D3781EF33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4AD727F-9C30-6881-F5DC-8BDBE3F35B34}"/>
              </a:ext>
            </a:extLst>
          </p:cNvPr>
          <p:cNvSpPr>
            <a:spLocks noGrp="1"/>
          </p:cNvSpPr>
          <p:nvPr>
            <p:ph type="sldNum" sz="quarter" idx="12"/>
          </p:nvPr>
        </p:nvSpPr>
        <p:spPr/>
        <p:txBody>
          <a:bodyPr/>
          <a:lstStyle/>
          <a:p>
            <a:fld id="{3A1D309D-E71D-45F6-9DFF-09FD3ACC0BCF}" type="slidenum">
              <a:rPr lang="en-US" smtClean="0"/>
              <a:t>‹#›</a:t>
            </a:fld>
            <a:endParaRPr lang="en-US"/>
          </a:p>
        </p:txBody>
      </p:sp>
    </p:spTree>
    <p:extLst>
      <p:ext uri="{BB962C8B-B14F-4D97-AF65-F5344CB8AC3E}">
        <p14:creationId xmlns:p14="http://schemas.microsoft.com/office/powerpoint/2010/main" val="10129010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C751B-6632-2661-CD32-31F2F5FE70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87A57CD-1044-A00F-1460-C4DDDDCAA20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51E9110-B312-30E7-5232-49C6608819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D0F671-2235-2386-0E3F-7BBB0C6FEF54}"/>
              </a:ext>
            </a:extLst>
          </p:cNvPr>
          <p:cNvSpPr>
            <a:spLocks noGrp="1"/>
          </p:cNvSpPr>
          <p:nvPr>
            <p:ph type="dt" sz="half" idx="10"/>
          </p:nvPr>
        </p:nvSpPr>
        <p:spPr/>
        <p:txBody>
          <a:bodyPr/>
          <a:lstStyle/>
          <a:p>
            <a:fld id="{60F1A0F2-3809-415C-AD32-0F9DCC5C3D2A}" type="datetimeFigureOut">
              <a:rPr lang="en-US" smtClean="0"/>
              <a:t>6/19/2026</a:t>
            </a:fld>
            <a:endParaRPr lang="en-US"/>
          </a:p>
        </p:txBody>
      </p:sp>
      <p:sp>
        <p:nvSpPr>
          <p:cNvPr id="6" name="Footer Placeholder 5">
            <a:extLst>
              <a:ext uri="{FF2B5EF4-FFF2-40B4-BE49-F238E27FC236}">
                <a16:creationId xmlns:a16="http://schemas.microsoft.com/office/drawing/2014/main" id="{4BF50487-18E6-1BC0-201D-154B53DF5B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B55116-444B-103B-9D80-5AC31CC579B3}"/>
              </a:ext>
            </a:extLst>
          </p:cNvPr>
          <p:cNvSpPr>
            <a:spLocks noGrp="1"/>
          </p:cNvSpPr>
          <p:nvPr>
            <p:ph type="sldNum" sz="quarter" idx="12"/>
          </p:nvPr>
        </p:nvSpPr>
        <p:spPr/>
        <p:txBody>
          <a:bodyPr/>
          <a:lstStyle/>
          <a:p>
            <a:fld id="{3A1D309D-E71D-45F6-9DFF-09FD3ACC0BCF}" type="slidenum">
              <a:rPr lang="en-US" smtClean="0"/>
              <a:t>‹#›</a:t>
            </a:fld>
            <a:endParaRPr lang="en-US"/>
          </a:p>
        </p:txBody>
      </p:sp>
    </p:spTree>
    <p:extLst>
      <p:ext uri="{BB962C8B-B14F-4D97-AF65-F5344CB8AC3E}">
        <p14:creationId xmlns:p14="http://schemas.microsoft.com/office/powerpoint/2010/main" val="28298655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2CBF7-E570-9959-CEEF-45AC3E92A3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3E1972B-53A5-8730-D42D-F12CA1FB8F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47C2442-6ABA-B39B-DA82-28F8B04147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0B3473-80D2-472C-BDD0-61C020711B20}"/>
              </a:ext>
            </a:extLst>
          </p:cNvPr>
          <p:cNvSpPr>
            <a:spLocks noGrp="1"/>
          </p:cNvSpPr>
          <p:nvPr>
            <p:ph type="dt" sz="half" idx="10"/>
          </p:nvPr>
        </p:nvSpPr>
        <p:spPr/>
        <p:txBody>
          <a:bodyPr/>
          <a:lstStyle/>
          <a:p>
            <a:fld id="{60F1A0F2-3809-415C-AD32-0F9DCC5C3D2A}" type="datetimeFigureOut">
              <a:rPr lang="en-US" smtClean="0"/>
              <a:t>6/19/2026</a:t>
            </a:fld>
            <a:endParaRPr lang="en-US"/>
          </a:p>
        </p:txBody>
      </p:sp>
      <p:sp>
        <p:nvSpPr>
          <p:cNvPr id="6" name="Footer Placeholder 5">
            <a:extLst>
              <a:ext uri="{FF2B5EF4-FFF2-40B4-BE49-F238E27FC236}">
                <a16:creationId xmlns:a16="http://schemas.microsoft.com/office/drawing/2014/main" id="{1331CB75-23D9-21F7-72D4-AF1861761B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986D6B-3B60-AA79-F09F-E533886008E7}"/>
              </a:ext>
            </a:extLst>
          </p:cNvPr>
          <p:cNvSpPr>
            <a:spLocks noGrp="1"/>
          </p:cNvSpPr>
          <p:nvPr>
            <p:ph type="sldNum" sz="quarter" idx="12"/>
          </p:nvPr>
        </p:nvSpPr>
        <p:spPr/>
        <p:txBody>
          <a:bodyPr/>
          <a:lstStyle/>
          <a:p>
            <a:fld id="{3A1D309D-E71D-45F6-9DFF-09FD3ACC0BCF}" type="slidenum">
              <a:rPr lang="en-US" smtClean="0"/>
              <a:t>‹#›</a:t>
            </a:fld>
            <a:endParaRPr lang="en-US"/>
          </a:p>
        </p:txBody>
      </p:sp>
    </p:spTree>
    <p:extLst>
      <p:ext uri="{BB962C8B-B14F-4D97-AF65-F5344CB8AC3E}">
        <p14:creationId xmlns:p14="http://schemas.microsoft.com/office/powerpoint/2010/main" val="29650238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B2E08-DF1B-3629-7034-A5333D5D32B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95738F-C432-F6D9-7A08-1A060CF60F8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57009F-8E2F-C8B1-2098-E9321C20EF86}"/>
              </a:ext>
            </a:extLst>
          </p:cNvPr>
          <p:cNvSpPr>
            <a:spLocks noGrp="1"/>
          </p:cNvSpPr>
          <p:nvPr>
            <p:ph type="dt" sz="half" idx="10"/>
          </p:nvPr>
        </p:nvSpPr>
        <p:spPr/>
        <p:txBody>
          <a:bodyPr/>
          <a:lstStyle/>
          <a:p>
            <a:fld id="{60F1A0F2-3809-415C-AD32-0F9DCC5C3D2A}" type="datetimeFigureOut">
              <a:rPr lang="en-US" smtClean="0"/>
              <a:t>6/19/2026</a:t>
            </a:fld>
            <a:endParaRPr lang="en-US"/>
          </a:p>
        </p:txBody>
      </p:sp>
      <p:sp>
        <p:nvSpPr>
          <p:cNvPr id="5" name="Footer Placeholder 4">
            <a:extLst>
              <a:ext uri="{FF2B5EF4-FFF2-40B4-BE49-F238E27FC236}">
                <a16:creationId xmlns:a16="http://schemas.microsoft.com/office/drawing/2014/main" id="{94B40886-3DA7-CF7D-CD28-E951D73FE4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43EDD4-194E-57AE-7A0D-169B44AE7151}"/>
              </a:ext>
            </a:extLst>
          </p:cNvPr>
          <p:cNvSpPr>
            <a:spLocks noGrp="1"/>
          </p:cNvSpPr>
          <p:nvPr>
            <p:ph type="sldNum" sz="quarter" idx="12"/>
          </p:nvPr>
        </p:nvSpPr>
        <p:spPr/>
        <p:txBody>
          <a:bodyPr/>
          <a:lstStyle/>
          <a:p>
            <a:fld id="{3A1D309D-E71D-45F6-9DFF-09FD3ACC0BCF}" type="slidenum">
              <a:rPr lang="en-US" smtClean="0"/>
              <a:t>‹#›</a:t>
            </a:fld>
            <a:endParaRPr lang="en-US"/>
          </a:p>
        </p:txBody>
      </p:sp>
    </p:spTree>
    <p:extLst>
      <p:ext uri="{BB962C8B-B14F-4D97-AF65-F5344CB8AC3E}">
        <p14:creationId xmlns:p14="http://schemas.microsoft.com/office/powerpoint/2010/main" val="33589531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F6D93E6-6E91-4171-FA42-ACE5DABCC51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DB3288B-93F0-4D1F-E32C-C4E93E5CF2B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931A81-A8EA-C89F-9AF0-8E0C5A1C617F}"/>
              </a:ext>
            </a:extLst>
          </p:cNvPr>
          <p:cNvSpPr>
            <a:spLocks noGrp="1"/>
          </p:cNvSpPr>
          <p:nvPr>
            <p:ph type="dt" sz="half" idx="10"/>
          </p:nvPr>
        </p:nvSpPr>
        <p:spPr/>
        <p:txBody>
          <a:bodyPr/>
          <a:lstStyle/>
          <a:p>
            <a:fld id="{60F1A0F2-3809-415C-AD32-0F9DCC5C3D2A}" type="datetimeFigureOut">
              <a:rPr lang="en-US" smtClean="0"/>
              <a:t>6/19/2026</a:t>
            </a:fld>
            <a:endParaRPr lang="en-US"/>
          </a:p>
        </p:txBody>
      </p:sp>
      <p:sp>
        <p:nvSpPr>
          <p:cNvPr id="5" name="Footer Placeholder 4">
            <a:extLst>
              <a:ext uri="{FF2B5EF4-FFF2-40B4-BE49-F238E27FC236}">
                <a16:creationId xmlns:a16="http://schemas.microsoft.com/office/drawing/2014/main" id="{6DE5D7FC-D44E-1519-DE1D-334F1CD6BF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F67089-779E-DEDB-E420-7A1B18258F88}"/>
              </a:ext>
            </a:extLst>
          </p:cNvPr>
          <p:cNvSpPr>
            <a:spLocks noGrp="1"/>
          </p:cNvSpPr>
          <p:nvPr>
            <p:ph type="sldNum" sz="quarter" idx="12"/>
          </p:nvPr>
        </p:nvSpPr>
        <p:spPr/>
        <p:txBody>
          <a:bodyPr/>
          <a:lstStyle/>
          <a:p>
            <a:fld id="{3A1D309D-E71D-45F6-9DFF-09FD3ACC0BCF}" type="slidenum">
              <a:rPr lang="en-US" smtClean="0"/>
              <a:t>‹#›</a:t>
            </a:fld>
            <a:endParaRPr lang="en-US"/>
          </a:p>
        </p:txBody>
      </p:sp>
    </p:spTree>
    <p:extLst>
      <p:ext uri="{BB962C8B-B14F-4D97-AF65-F5344CB8AC3E}">
        <p14:creationId xmlns:p14="http://schemas.microsoft.com/office/powerpoint/2010/main" val="32780575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A99189-7AF5-0C44-83F8-22E1A26932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FB9C6D9-135F-F127-E30F-26CD5C0B17F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87B71E-7270-6323-71A1-3F59248C43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0F1A0F2-3809-415C-AD32-0F9DCC5C3D2A}" type="datetimeFigureOut">
              <a:rPr lang="en-US" smtClean="0"/>
              <a:t>6/19/2026</a:t>
            </a:fld>
            <a:endParaRPr lang="en-US"/>
          </a:p>
        </p:txBody>
      </p:sp>
      <p:sp>
        <p:nvSpPr>
          <p:cNvPr id="5" name="Footer Placeholder 4">
            <a:extLst>
              <a:ext uri="{FF2B5EF4-FFF2-40B4-BE49-F238E27FC236}">
                <a16:creationId xmlns:a16="http://schemas.microsoft.com/office/drawing/2014/main" id="{8CD9D9FD-7726-43DE-1B73-F158A7BAC98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D5E38BB-570A-CDD0-3357-BC17C9B95A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A1D309D-E71D-45F6-9DFF-09FD3ACC0BCF}" type="slidenum">
              <a:rPr lang="en-US" smtClean="0"/>
              <a:t>‹#›</a:t>
            </a:fld>
            <a:endParaRPr lang="en-US"/>
          </a:p>
        </p:txBody>
      </p:sp>
    </p:spTree>
    <p:extLst>
      <p:ext uri="{BB962C8B-B14F-4D97-AF65-F5344CB8AC3E}">
        <p14:creationId xmlns:p14="http://schemas.microsoft.com/office/powerpoint/2010/main" val="23629159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
  <Relationship Id="rId1"
    Type="http://schemas.openxmlformats.org/officeDocument/2006/relationships/image"
    Target="../media/arch_diagram.png"/>
  <Relationship Id="rId2"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C8327F6-D844-719D-4CE7-5EB1DBF2F021}"/>
              </a:ext>
            </a:extLst>
          </p:cNvPr>
          <p:cNvSpPr/>
          <p:nvPr/>
        </p:nvSpPr>
        <p:spPr>
          <a:xfrm>
            <a:off x="0" y="0"/>
            <a:ext cx="9144000" cy="6858000"/>
          </a:xfrm>
          <a:prstGeom prst="rect">
            <a:avLst/>
          </a:prstGeom>
          <a:solidFill>
            <a:srgbClr val="1E1E1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A4BF3C5C-C3CF-4016-B8D5-9E49CAB3ECAB}"/>
              </a:ext>
            </a:extLst>
          </p:cNvPr>
          <p:cNvSpPr/>
          <p:nvPr/>
        </p:nvSpPr>
        <p:spPr>
          <a:xfrm>
            <a:off x="0" y="0"/>
            <a:ext cx="9144000" cy="1016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BF5F1E1A-C358-CB7F-DD6E-21631D6C3E0E}"/>
              </a:ext>
            </a:extLst>
          </p:cNvPr>
          <p:cNvSpPr/>
          <p:nvPr/>
        </p:nvSpPr>
        <p:spPr>
          <a:xfrm>
            <a:off x="0" y="6756400"/>
            <a:ext cx="9144000" cy="1016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79314AF-0E87-F2BE-A8D8-33F8E99FB66D}"/>
              </a:ext>
            </a:extLst>
          </p:cNvPr>
          <p:cNvSpPr/>
          <p:nvPr/>
        </p:nvSpPr>
        <p:spPr>
          <a:xfrm>
            <a:off x="304800" y="304800"/>
            <a:ext cx="1016000" cy="4064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50AB61A-C107-66CD-E8F0-41FACDEEF010}"/>
              </a:ext>
            </a:extLst>
          </p:cNvPr>
          <p:cNvSpPr txBox="1"/>
          <p:nvPr/>
        </p:nvSpPr>
        <p:spPr>
          <a:xfrm>
            <a:off x="304800" y="304800"/>
            <a:ext cx="641522" cy="369332"/>
          </a:xfrm>
          <a:prstGeom prst="rect">
            <a:avLst/>
          </a:prstGeom>
          <a:noFill/>
        </p:spPr>
        <p:txBody>
          <a:bodyPr vert="horz" wrap="none" rtlCol="0">
            <a:spAutoFit/>
          </a:bodyPr>
          <a:lstStyle/>
          <a:p>
            <a:pPr algn="ctr"/>
            <a:r>
              <a:rPr lang="en-US" b="1">
                <a:solidFill>
                  <a:srgbClr val="FFFFFF"/>
                </a:solidFill>
                <a:latin typeface="Segoe UI" panose="020B0502040204020203" pitchFamily="34" charset="0"/>
              </a:rPr>
              <a:t>ABB</a:t>
            </a:r>
          </a:p>
        </p:txBody>
      </p:sp>
      <p:sp>
        <p:nvSpPr>
          <p:cNvPr id="7" name="TextBox 6">
            <a:extLst>
              <a:ext uri="{FF2B5EF4-FFF2-40B4-BE49-F238E27FC236}">
                <a16:creationId xmlns:a16="http://schemas.microsoft.com/office/drawing/2014/main" id="{9B549C68-603D-C9E2-F510-3FDEB6D20BBA}"/>
              </a:ext>
            </a:extLst>
          </p:cNvPr>
          <p:cNvSpPr txBox="1"/>
          <p:nvPr/>
        </p:nvSpPr>
        <p:spPr>
          <a:xfrm>
            <a:off x="508000" y="1270000"/>
            <a:ext cx="8128000" cy="615553"/>
          </a:xfrm>
          <a:prstGeom prst="rect">
            <a:avLst/>
          </a:prstGeom>
          <a:noFill/>
        </p:spPr>
        <p:txBody>
          <a:bodyPr vert="horz" wrap="square" rtlCol="0">
            <a:spAutoFit/>
          </a:bodyPr>
          <a:lstStyle/>
          <a:p>
            <a:r>
              <a:rPr lang="en-US" sz="3400">
                <a:solidFill>
                  <a:srgbClr val="CCCCCC"/>
                </a:solidFill>
                <a:latin typeface="Segoe UI" panose="020B0502040204020203" pitchFamily="34" charset="0"/>
              </a:rPr>
              <a:t>AI-Powered Medium Voltage</a:t>
            </a:r>
          </a:p>
        </p:txBody>
      </p:sp>
      <p:sp>
        <p:nvSpPr>
          <p:cNvPr id="8" name="TextBox 7">
            <a:extLst>
              <a:ext uri="{FF2B5EF4-FFF2-40B4-BE49-F238E27FC236}">
                <a16:creationId xmlns:a16="http://schemas.microsoft.com/office/drawing/2014/main" id="{763F5563-89AF-50ED-9816-D4CE5086A990}"/>
              </a:ext>
            </a:extLst>
          </p:cNvPr>
          <p:cNvSpPr txBox="1"/>
          <p:nvPr/>
        </p:nvSpPr>
        <p:spPr>
          <a:xfrm>
            <a:off x="508000" y="1930400"/>
            <a:ext cx="8128000" cy="800219"/>
          </a:xfrm>
          <a:prstGeom prst="rect">
            <a:avLst/>
          </a:prstGeom>
          <a:noFill/>
        </p:spPr>
        <p:txBody>
          <a:bodyPr vert="horz" wrap="square" rtlCol="0">
            <a:spAutoFit/>
          </a:bodyPr>
          <a:lstStyle/>
          <a:p>
            <a:r>
              <a:rPr lang="en-US" sz="4600" b="1">
                <a:solidFill>
                  <a:srgbClr val="FFFFFF"/>
                </a:solidFill>
                <a:latin typeface="Segoe UI" panose="020B0502040204020203" pitchFamily="34" charset="0"/>
              </a:rPr>
              <a:t>Switchgear Co-Engineer</a:t>
            </a:r>
          </a:p>
        </p:txBody>
      </p:sp>
      <p:sp>
        <p:nvSpPr>
          <p:cNvPr id="9" name="Rectangle 8">
            <a:extLst>
              <a:ext uri="{FF2B5EF4-FFF2-40B4-BE49-F238E27FC236}">
                <a16:creationId xmlns:a16="http://schemas.microsoft.com/office/drawing/2014/main" id="{C7DE723D-1529-95D6-B111-EA945C34814D}"/>
              </a:ext>
            </a:extLst>
          </p:cNvPr>
          <p:cNvSpPr/>
          <p:nvPr/>
        </p:nvSpPr>
        <p:spPr>
          <a:xfrm>
            <a:off x="508000" y="2844800"/>
            <a:ext cx="1524000" cy="508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37BC0348-0E7B-27B4-EA01-51200BCE25E2}"/>
              </a:ext>
            </a:extLst>
          </p:cNvPr>
          <p:cNvSpPr txBox="1"/>
          <p:nvPr/>
        </p:nvSpPr>
        <p:spPr>
          <a:xfrm>
            <a:off x="508000" y="3048000"/>
            <a:ext cx="8128000" cy="292388"/>
          </a:xfrm>
          <a:prstGeom prst="rect">
            <a:avLst/>
          </a:prstGeom>
          <a:noFill/>
        </p:spPr>
        <p:txBody>
          <a:bodyPr vert="horz" wrap="square" rtlCol="0">
            <a:spAutoFit/>
          </a:bodyPr>
          <a:lstStyle/>
          <a:p>
            <a:r>
              <a:rPr lang="en-US" sz="1300">
                <a:solidFill>
                  <a:srgbClr val="AAAAAA"/>
                </a:solidFill>
                <a:latin typeface="Segoe UI" panose="020B0502040204020203" pitchFamily="34" charset="0"/>
              </a:rPr>
              <a:t>RFQ-to-ABB Configurator: Multi-Path AI Extraction + Ensemble Voting + XML Export</a:t>
            </a:r>
          </a:p>
        </p:txBody>
      </p:sp>
      <p:sp>
        <p:nvSpPr>
          <p:cNvPr id="11" name="TextBox 10">
            <a:extLst>
              <a:ext uri="{FF2B5EF4-FFF2-40B4-BE49-F238E27FC236}">
                <a16:creationId xmlns:a16="http://schemas.microsoft.com/office/drawing/2014/main" id="{456B30E3-2222-04A5-980C-C0B3564B26A7}"/>
              </a:ext>
            </a:extLst>
          </p:cNvPr>
          <p:cNvSpPr txBox="1"/>
          <p:nvPr/>
        </p:nvSpPr>
        <p:spPr>
          <a:xfrm>
            <a:off x="508000" y="4953000"/>
            <a:ext cx="8128000" cy="261610"/>
          </a:xfrm>
          <a:prstGeom prst="rect">
            <a:avLst/>
          </a:prstGeom>
          <a:noFill/>
        </p:spPr>
        <p:txBody>
          <a:bodyPr vert="horz" wrap="square" rtlCol="0">
            <a:spAutoFit/>
          </a:bodyPr>
          <a:lstStyle/>
          <a:p>
            <a:r>
              <a:rPr lang="en-US" sz="1100">
                <a:solidFill>
                  <a:srgbClr val="888888"/>
                </a:solidFill>
                <a:latin typeface="Segoe UI" panose="020B0502040204020203" pitchFamily="34" charset="0"/>
              </a:rPr>
              <a:t>Architecture  |  Extraction Logic  |  Confidence  |  Multilingual  |  Roadmap</a:t>
            </a:r>
          </a:p>
        </p:txBody>
      </p:sp>
      <p:sp>
        <p:nvSpPr>
          <p:cNvPr id="12" name="TextBox 11">
            <a:extLst>
              <a:ext uri="{FF2B5EF4-FFF2-40B4-BE49-F238E27FC236}">
                <a16:creationId xmlns:a16="http://schemas.microsoft.com/office/drawing/2014/main" id="{674B62EC-6F17-1697-B961-E66665A4526C}"/>
              </a:ext>
            </a:extLst>
          </p:cNvPr>
          <p:cNvSpPr txBox="1"/>
          <p:nvPr/>
        </p:nvSpPr>
        <p:spPr>
          <a:xfrm>
            <a:off x="508000" y="6045200"/>
            <a:ext cx="5080000" cy="246221"/>
          </a:xfrm>
          <a:prstGeom prst="rect">
            <a:avLst/>
          </a:prstGeom>
          <a:noFill/>
        </p:spPr>
        <p:txBody>
          <a:bodyPr vert="horz" wrap="square" rtlCol="0">
            <a:spAutoFit/>
          </a:bodyPr>
          <a:lstStyle/>
          <a:p>
            <a:r>
              <a:rPr lang="sv-SE" sz="1000">
                <a:solidFill>
                  <a:srgbClr val="666666"/>
                </a:solidFill>
                <a:latin typeface="Segoe UI" panose="020B0502040204020203" pitchFamily="34" charset="0"/>
              </a:rPr>
              <a:t>ABB Hackathon 2026  |  Team Infosys</a:t>
            </a:r>
            <a:endParaRPr lang="en-US" sz="1000">
              <a:solidFill>
                <a:srgbClr val="666666"/>
              </a:solidFill>
              <a:latin typeface="Segoe UI" panose="020B0502040204020203" pitchFamily="34" charset="0"/>
            </a:endParaRPr>
          </a:p>
        </p:txBody>
      </p:sp>
    </p:spTree>
    <p:extLst>
      <p:ext uri="{BB962C8B-B14F-4D97-AF65-F5344CB8AC3E}">
        <p14:creationId xmlns:p14="http://schemas.microsoft.com/office/powerpoint/2010/main" val="42327069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FA512A5-9411-1A9C-8A52-4503EE665C98}"/>
              </a:ext>
            </a:extLst>
          </p:cNvPr>
          <p:cNvSpPr/>
          <p:nvPr/>
        </p:nvSpPr>
        <p:spPr>
          <a:xfrm>
            <a:off x="0" y="0"/>
            <a:ext cx="9144000" cy="6858000"/>
          </a:xfrm>
          <a:prstGeom prst="rect">
            <a:avLst/>
          </a:prstGeom>
          <a:solidFill>
            <a:srgbClr val="F0F0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F02232BD-7911-B6CE-BD35-0828E4965AE8}"/>
              </a:ext>
            </a:extLst>
          </p:cNvPr>
          <p:cNvSpPr/>
          <p:nvPr/>
        </p:nvSpPr>
        <p:spPr>
          <a:xfrm>
            <a:off x="0" y="0"/>
            <a:ext cx="9144000" cy="762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11C10ACB-50C7-A187-6A48-B23658976D09}"/>
              </a:ext>
            </a:extLst>
          </p:cNvPr>
          <p:cNvSpPr/>
          <p:nvPr/>
        </p:nvSpPr>
        <p:spPr>
          <a:xfrm>
            <a:off x="0" y="0"/>
            <a:ext cx="2794000" cy="6858000"/>
          </a:xfrm>
          <a:prstGeom prst="rect">
            <a:avLst/>
          </a:prstGeom>
          <a:solidFill>
            <a:srgbClr val="E8E8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89FF5DA-3C2F-C0CE-EA03-6127A881C33B}"/>
              </a:ext>
            </a:extLst>
          </p:cNvPr>
          <p:cNvSpPr txBox="1"/>
          <p:nvPr/>
        </p:nvSpPr>
        <p:spPr>
          <a:xfrm>
            <a:off x="203200" y="254000"/>
            <a:ext cx="2413000" cy="400110"/>
          </a:xfrm>
          <a:prstGeom prst="rect">
            <a:avLst/>
          </a:prstGeom>
          <a:noFill/>
        </p:spPr>
        <p:txBody>
          <a:bodyPr vert="horz" wrap="square" rtlCol="0">
            <a:spAutoFit/>
          </a:bodyPr>
          <a:lstStyle/>
          <a:p>
            <a:pPr algn="ctr"/>
            <a:r>
              <a:rPr lang="en-US" sz="2000" b="1">
                <a:solidFill>
                  <a:srgbClr val="FF0F1A"/>
                </a:solidFill>
                <a:latin typeface="Segoe UI" panose="020B0502040204020203" pitchFamily="34" charset="0"/>
              </a:rPr>
              <a:t>USE CASE</a:t>
            </a:r>
          </a:p>
        </p:txBody>
      </p:sp>
      <p:sp>
        <p:nvSpPr>
          <p:cNvPr id="6" name="Rectangle 5">
            <a:extLst>
              <a:ext uri="{FF2B5EF4-FFF2-40B4-BE49-F238E27FC236}">
                <a16:creationId xmlns:a16="http://schemas.microsoft.com/office/drawing/2014/main" id="{8B4193D3-3E8D-D7DC-BC85-AA66F68697BB}"/>
              </a:ext>
            </a:extLst>
          </p:cNvPr>
          <p:cNvSpPr/>
          <p:nvPr/>
        </p:nvSpPr>
        <p:spPr>
          <a:xfrm>
            <a:off x="203200" y="736600"/>
            <a:ext cx="2387600" cy="254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86BC7B9C-F9F7-0871-7CE8-51417BF5A757}"/>
              </a:ext>
            </a:extLst>
          </p:cNvPr>
          <p:cNvSpPr/>
          <p:nvPr/>
        </p:nvSpPr>
        <p:spPr>
          <a:xfrm>
            <a:off x="203200" y="914400"/>
            <a:ext cx="76200" cy="762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0505F2B-BEF3-E4EB-A686-A8FE24243CE3}"/>
              </a:ext>
            </a:extLst>
          </p:cNvPr>
          <p:cNvSpPr txBox="1"/>
          <p:nvPr/>
        </p:nvSpPr>
        <p:spPr>
          <a:xfrm>
            <a:off x="355600" y="876300"/>
            <a:ext cx="2286000" cy="369332"/>
          </a:xfrm>
          <a:prstGeom prst="rect">
            <a:avLst/>
          </a:prstGeom>
          <a:noFill/>
        </p:spPr>
        <p:txBody>
          <a:bodyPr vert="horz" wrap="square" rtlCol="0">
            <a:spAutoFit/>
          </a:bodyPr>
          <a:lstStyle/>
          <a:p>
            <a:r>
              <a:rPr lang="en-US" sz="900">
                <a:solidFill>
                  <a:srgbClr val="3D3D3D"/>
                </a:solidFill>
                <a:latin typeface="Segoe UI" panose="020B0502040204020203" pitchFamily="34" charset="0"/>
              </a:rPr>
              <a:t>RFQ docs arrive as PDFs, scanned tables, images</a:t>
            </a:r>
          </a:p>
        </p:txBody>
      </p:sp>
      <p:sp>
        <p:nvSpPr>
          <p:cNvPr id="9" name="Rectangle 8">
            <a:extLst>
              <a:ext uri="{FF2B5EF4-FFF2-40B4-BE49-F238E27FC236}">
                <a16:creationId xmlns:a16="http://schemas.microsoft.com/office/drawing/2014/main" id="{05D6CCEC-6B14-1E82-44EC-643445736E06}"/>
              </a:ext>
            </a:extLst>
          </p:cNvPr>
          <p:cNvSpPr/>
          <p:nvPr/>
        </p:nvSpPr>
        <p:spPr>
          <a:xfrm>
            <a:off x="203200" y="1346200"/>
            <a:ext cx="76200" cy="762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A7C3A21E-DE20-F242-5A47-5114C34EC192}"/>
              </a:ext>
            </a:extLst>
          </p:cNvPr>
          <p:cNvSpPr txBox="1"/>
          <p:nvPr/>
        </p:nvSpPr>
        <p:spPr>
          <a:xfrm>
            <a:off x="355600" y="1308100"/>
            <a:ext cx="2286000" cy="369332"/>
          </a:xfrm>
          <a:prstGeom prst="rect">
            <a:avLst/>
          </a:prstGeom>
          <a:noFill/>
        </p:spPr>
        <p:txBody>
          <a:bodyPr vert="horz" wrap="square" rtlCol="0">
            <a:spAutoFit/>
          </a:bodyPr>
          <a:lstStyle/>
          <a:p>
            <a:r>
              <a:rPr lang="en-US" sz="900">
                <a:solidFill>
                  <a:srgbClr val="3D3D3D"/>
                </a:solidFill>
                <a:latin typeface="Segoe UI" panose="020B0502040204020203" pitchFamily="34" charset="0"/>
              </a:rPr>
              <a:t>Engineers extract specs manually -- error-prone</a:t>
            </a:r>
          </a:p>
        </p:txBody>
      </p:sp>
      <p:sp>
        <p:nvSpPr>
          <p:cNvPr id="11" name="Rectangle 10">
            <a:extLst>
              <a:ext uri="{FF2B5EF4-FFF2-40B4-BE49-F238E27FC236}">
                <a16:creationId xmlns:a16="http://schemas.microsoft.com/office/drawing/2014/main" id="{50A20C38-AB27-FC61-67C8-727D486C748B}"/>
              </a:ext>
            </a:extLst>
          </p:cNvPr>
          <p:cNvSpPr/>
          <p:nvPr/>
        </p:nvSpPr>
        <p:spPr>
          <a:xfrm>
            <a:off x="203200" y="1778000"/>
            <a:ext cx="76200" cy="762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B22B9BF6-A23E-5466-B20B-383DF2C22264}"/>
              </a:ext>
            </a:extLst>
          </p:cNvPr>
          <p:cNvSpPr txBox="1"/>
          <p:nvPr/>
        </p:nvSpPr>
        <p:spPr>
          <a:xfrm>
            <a:off x="355600" y="1739900"/>
            <a:ext cx="2286000" cy="230832"/>
          </a:xfrm>
          <a:prstGeom prst="rect">
            <a:avLst/>
          </a:prstGeom>
          <a:noFill/>
        </p:spPr>
        <p:txBody>
          <a:bodyPr vert="horz" wrap="square" rtlCol="0">
            <a:spAutoFit/>
          </a:bodyPr>
          <a:lstStyle/>
          <a:p>
            <a:r>
              <a:rPr lang="en-US" sz="900">
                <a:solidFill>
                  <a:srgbClr val="3D3D3D"/>
                </a:solidFill>
                <a:latin typeface="Segoe UI" panose="020B0502040204020203" pitchFamily="34" charset="0"/>
              </a:rPr>
              <a:t>Missing values delay product selection</a:t>
            </a:r>
          </a:p>
        </p:txBody>
      </p:sp>
      <p:sp>
        <p:nvSpPr>
          <p:cNvPr id="13" name="Rectangle 12">
            <a:extLst>
              <a:ext uri="{FF2B5EF4-FFF2-40B4-BE49-F238E27FC236}">
                <a16:creationId xmlns:a16="http://schemas.microsoft.com/office/drawing/2014/main" id="{7C94B03D-9D77-E335-160F-C700C876ED8F}"/>
              </a:ext>
            </a:extLst>
          </p:cNvPr>
          <p:cNvSpPr/>
          <p:nvPr/>
        </p:nvSpPr>
        <p:spPr>
          <a:xfrm>
            <a:off x="203200" y="2209800"/>
            <a:ext cx="76200" cy="762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F7877314-BB0B-1131-513F-4363CA52B2A6}"/>
              </a:ext>
            </a:extLst>
          </p:cNvPr>
          <p:cNvSpPr txBox="1"/>
          <p:nvPr/>
        </p:nvSpPr>
        <p:spPr>
          <a:xfrm>
            <a:off x="355600" y="2171700"/>
            <a:ext cx="2286000" cy="230832"/>
          </a:xfrm>
          <a:prstGeom prst="rect">
            <a:avLst/>
          </a:prstGeom>
          <a:noFill/>
        </p:spPr>
        <p:txBody>
          <a:bodyPr vert="horz" wrap="square" rtlCol="0">
            <a:spAutoFit/>
          </a:bodyPr>
          <a:lstStyle/>
          <a:p>
            <a:r>
              <a:rPr lang="en-US" sz="900">
                <a:solidFill>
                  <a:srgbClr val="3D3D3D"/>
                </a:solidFill>
                <a:latin typeface="Segoe UI" panose="020B0502040204020203" pitchFamily="34" charset="0"/>
              </a:rPr>
              <a:t>Multilingual documents: EN/FR/IT/DE</a:t>
            </a:r>
          </a:p>
        </p:txBody>
      </p:sp>
      <p:sp>
        <p:nvSpPr>
          <p:cNvPr id="15" name="Rectangle 14">
            <a:extLst>
              <a:ext uri="{FF2B5EF4-FFF2-40B4-BE49-F238E27FC236}">
                <a16:creationId xmlns:a16="http://schemas.microsoft.com/office/drawing/2014/main" id="{F7A73B81-70D0-40FC-E081-4331231E6D71}"/>
              </a:ext>
            </a:extLst>
          </p:cNvPr>
          <p:cNvSpPr/>
          <p:nvPr/>
        </p:nvSpPr>
        <p:spPr>
          <a:xfrm>
            <a:off x="203200" y="2641600"/>
            <a:ext cx="76200" cy="762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E92CA7AE-3218-723D-A686-E91AF499EB1D}"/>
              </a:ext>
            </a:extLst>
          </p:cNvPr>
          <p:cNvSpPr txBox="1"/>
          <p:nvPr/>
        </p:nvSpPr>
        <p:spPr>
          <a:xfrm>
            <a:off x="355600" y="2603500"/>
            <a:ext cx="2286000" cy="369332"/>
          </a:xfrm>
          <a:prstGeom prst="rect">
            <a:avLst/>
          </a:prstGeom>
          <a:noFill/>
        </p:spPr>
        <p:txBody>
          <a:bodyPr vert="horz" wrap="square" rtlCol="0">
            <a:spAutoFit/>
          </a:bodyPr>
          <a:lstStyle/>
          <a:p>
            <a:r>
              <a:rPr lang="en-US" sz="900">
                <a:solidFill>
                  <a:srgbClr val="3D3D3D"/>
                </a:solidFill>
                <a:latin typeface="Segoe UI" panose="020B0502040204020203" pitchFamily="34" charset="0"/>
              </a:rPr>
              <a:t>ABB product config must match IEC standards</a:t>
            </a:r>
          </a:p>
        </p:txBody>
      </p:sp>
      <p:sp>
        <p:nvSpPr>
          <p:cNvPr id="17" name="TextBox 16">
            <a:extLst>
              <a:ext uri="{FF2B5EF4-FFF2-40B4-BE49-F238E27FC236}">
                <a16:creationId xmlns:a16="http://schemas.microsoft.com/office/drawing/2014/main" id="{5204B70C-7957-93EA-19AE-5727785B1E8E}"/>
              </a:ext>
            </a:extLst>
          </p:cNvPr>
          <p:cNvSpPr txBox="1"/>
          <p:nvPr/>
        </p:nvSpPr>
        <p:spPr>
          <a:xfrm>
            <a:off x="2984500" y="254000"/>
            <a:ext cx="5969000" cy="430887"/>
          </a:xfrm>
          <a:prstGeom prst="rect">
            <a:avLst/>
          </a:prstGeom>
          <a:noFill/>
        </p:spPr>
        <p:txBody>
          <a:bodyPr vert="horz" wrap="square" rtlCol="0">
            <a:spAutoFit/>
          </a:bodyPr>
          <a:lstStyle/>
          <a:p>
            <a:r>
              <a:rPr lang="en-US" sz="2200" b="1">
                <a:solidFill>
                  <a:srgbClr val="1E1E1E"/>
                </a:solidFill>
                <a:latin typeface="Segoe UI" panose="020B0502040204020203" pitchFamily="34" charset="0"/>
              </a:rPr>
              <a:t>Problem and Solution</a:t>
            </a:r>
          </a:p>
        </p:txBody>
      </p:sp>
      <p:sp>
        <p:nvSpPr>
          <p:cNvPr id="18" name="Rectangle 17">
            <a:extLst>
              <a:ext uri="{FF2B5EF4-FFF2-40B4-BE49-F238E27FC236}">
                <a16:creationId xmlns:a16="http://schemas.microsoft.com/office/drawing/2014/main" id="{55131D9B-C615-ED2D-9A01-808D98CE8C75}"/>
              </a:ext>
            </a:extLst>
          </p:cNvPr>
          <p:cNvSpPr/>
          <p:nvPr/>
        </p:nvSpPr>
        <p:spPr>
          <a:xfrm>
            <a:off x="2984500" y="685800"/>
            <a:ext cx="5842000" cy="254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4D7D662-A5E7-C882-BD47-EFDB1136AE26}"/>
              </a:ext>
            </a:extLst>
          </p:cNvPr>
          <p:cNvSpPr/>
          <p:nvPr/>
        </p:nvSpPr>
        <p:spPr>
          <a:xfrm>
            <a:off x="2984500" y="787400"/>
            <a:ext cx="5842000" cy="1117600"/>
          </a:xfrm>
          <a:prstGeom prst="rect">
            <a:avLst/>
          </a:prstGeom>
          <a:solidFill>
            <a:srgbClr val="E8E8FF"/>
          </a:solidFill>
          <a:ln w="12700">
            <a:solidFill>
              <a:srgbClr val="AAAA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E250F574-A0C8-CCC8-A90B-0D0040F67069}"/>
              </a:ext>
            </a:extLst>
          </p:cNvPr>
          <p:cNvSpPr txBox="1"/>
          <p:nvPr/>
        </p:nvSpPr>
        <p:spPr>
          <a:xfrm>
            <a:off x="3111500" y="838200"/>
            <a:ext cx="5588000" cy="230832"/>
          </a:xfrm>
          <a:prstGeom prst="rect">
            <a:avLst/>
          </a:prstGeom>
          <a:noFill/>
        </p:spPr>
        <p:txBody>
          <a:bodyPr vert="horz" wrap="square" rtlCol="0">
            <a:spAutoFit/>
          </a:bodyPr>
          <a:lstStyle/>
          <a:p>
            <a:r>
              <a:rPr lang="en-US" sz="900" b="1">
                <a:solidFill>
                  <a:srgbClr val="00008B"/>
                </a:solidFill>
                <a:latin typeface="Segoe UI" panose="020B0502040204020203" pitchFamily="34" charset="0"/>
              </a:rPr>
              <a:t>THE PROBLEM</a:t>
            </a:r>
          </a:p>
        </p:txBody>
      </p:sp>
      <p:sp>
        <p:nvSpPr>
          <p:cNvPr id="21" name="TextBox 20">
            <a:extLst>
              <a:ext uri="{FF2B5EF4-FFF2-40B4-BE49-F238E27FC236}">
                <a16:creationId xmlns:a16="http://schemas.microsoft.com/office/drawing/2014/main" id="{28E50650-C854-0283-A150-81D74601A00E}"/>
              </a:ext>
            </a:extLst>
          </p:cNvPr>
          <p:cNvSpPr txBox="1"/>
          <p:nvPr/>
        </p:nvSpPr>
        <p:spPr>
          <a:xfrm>
            <a:off x="3111500" y="1041400"/>
            <a:ext cx="5588000" cy="369332"/>
          </a:xfrm>
          <a:prstGeom prst="rect">
            <a:avLst/>
          </a:prstGeom>
          <a:noFill/>
        </p:spPr>
        <p:txBody>
          <a:bodyPr vert="horz" wrap="square" rtlCol="0">
            <a:spAutoFit/>
          </a:bodyPr>
          <a:lstStyle/>
          <a:p>
            <a:r>
              <a:rPr lang="en-US" sz="900">
                <a:solidFill>
                  <a:srgbClr val="3D3D3D"/>
                </a:solidFill>
                <a:latin typeface="Segoe UI" panose="020B0502040204020203" pitchFamily="34" charset="0"/>
              </a:rPr>
              <a:t>MV switchgear engineers spend hours manually reading RFQ documents, extracting 11+ technical parameters, cross-referencing IEC standards, and configuring ABB products -- with high error risk.</a:t>
            </a:r>
          </a:p>
        </p:txBody>
      </p:sp>
      <p:sp>
        <p:nvSpPr>
          <p:cNvPr id="22" name="Rectangle 21">
            <a:extLst>
              <a:ext uri="{FF2B5EF4-FFF2-40B4-BE49-F238E27FC236}">
                <a16:creationId xmlns:a16="http://schemas.microsoft.com/office/drawing/2014/main" id="{466FC7F4-3E75-6CD8-AD6F-7DAD9A58F9B2}"/>
              </a:ext>
            </a:extLst>
          </p:cNvPr>
          <p:cNvSpPr/>
          <p:nvPr/>
        </p:nvSpPr>
        <p:spPr>
          <a:xfrm>
            <a:off x="2984500" y="2006600"/>
            <a:ext cx="5842000" cy="1219200"/>
          </a:xfrm>
          <a:prstGeom prst="rect">
            <a:avLst/>
          </a:prstGeom>
          <a:solidFill>
            <a:srgbClr val="E8FFE8"/>
          </a:solidFill>
          <a:ln w="12700">
            <a:solidFill>
              <a:srgbClr val="AAFF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74BCC950-3FD7-BC9B-F4F6-092A624FDE52}"/>
              </a:ext>
            </a:extLst>
          </p:cNvPr>
          <p:cNvSpPr txBox="1"/>
          <p:nvPr/>
        </p:nvSpPr>
        <p:spPr>
          <a:xfrm>
            <a:off x="3111500" y="2057400"/>
            <a:ext cx="5588000" cy="230832"/>
          </a:xfrm>
          <a:prstGeom prst="rect">
            <a:avLst/>
          </a:prstGeom>
          <a:noFill/>
        </p:spPr>
        <p:txBody>
          <a:bodyPr vert="horz" wrap="square" rtlCol="0">
            <a:spAutoFit/>
          </a:bodyPr>
          <a:lstStyle/>
          <a:p>
            <a:r>
              <a:rPr lang="en-US" sz="900" b="1">
                <a:solidFill>
                  <a:srgbClr val="006400"/>
                </a:solidFill>
                <a:latin typeface="Segoe UI" panose="020B0502040204020203" pitchFamily="34" charset="0"/>
              </a:rPr>
              <a:t>THE SOLUTION</a:t>
            </a:r>
          </a:p>
        </p:txBody>
      </p:sp>
      <p:sp>
        <p:nvSpPr>
          <p:cNvPr id="24" name="TextBox 23">
            <a:extLst>
              <a:ext uri="{FF2B5EF4-FFF2-40B4-BE49-F238E27FC236}">
                <a16:creationId xmlns:a16="http://schemas.microsoft.com/office/drawing/2014/main" id="{3AC84E1A-0F82-A0B8-F6BD-19936CD81188}"/>
              </a:ext>
            </a:extLst>
          </p:cNvPr>
          <p:cNvSpPr txBox="1"/>
          <p:nvPr/>
        </p:nvSpPr>
        <p:spPr>
          <a:xfrm>
            <a:off x="3111500" y="2260600"/>
            <a:ext cx="5588000" cy="507831"/>
          </a:xfrm>
          <a:prstGeom prst="rect">
            <a:avLst/>
          </a:prstGeom>
          <a:noFill/>
        </p:spPr>
        <p:txBody>
          <a:bodyPr vert="horz" wrap="square" rtlCol="0">
            <a:spAutoFit/>
          </a:bodyPr>
          <a:lstStyle/>
          <a:p>
            <a:r>
              <a:rPr lang="en-US" sz="900">
                <a:solidFill>
                  <a:srgbClr val="3D3D3D"/>
                </a:solidFill>
                <a:latin typeface="Segoe UI" panose="020B0502040204020203" pitchFamily="34" charset="0"/>
              </a:rPr>
              <a:t>AI pipeline ingests heterogeneous RFQ documents and extracts parameters using 3 parallel paths (DI Custom Model + RAG + Grounded Vision), applies ensemble voting for confidence scoring, and exports a validated ABB XML configuration -- with human review for edge cases.</a:t>
            </a:r>
          </a:p>
        </p:txBody>
      </p:sp>
      <p:sp>
        <p:nvSpPr>
          <p:cNvPr id="25" name="Rectangle 24">
            <a:extLst>
              <a:ext uri="{FF2B5EF4-FFF2-40B4-BE49-F238E27FC236}">
                <a16:creationId xmlns:a16="http://schemas.microsoft.com/office/drawing/2014/main" id="{0D2A3E7A-311A-EED8-5351-905FE4BDB6B6}"/>
              </a:ext>
            </a:extLst>
          </p:cNvPr>
          <p:cNvSpPr/>
          <p:nvPr/>
        </p:nvSpPr>
        <p:spPr>
          <a:xfrm>
            <a:off x="2984500" y="3352800"/>
            <a:ext cx="1828800" cy="863600"/>
          </a:xfrm>
          <a:prstGeom prst="rect">
            <a:avLst/>
          </a:prstGeom>
          <a:solidFill>
            <a:srgbClr val="FFFFFF"/>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9F8F462F-4B34-734B-0691-847B6178AEA6}"/>
              </a:ext>
            </a:extLst>
          </p:cNvPr>
          <p:cNvSpPr txBox="1"/>
          <p:nvPr/>
        </p:nvSpPr>
        <p:spPr>
          <a:xfrm>
            <a:off x="3035300" y="3454400"/>
            <a:ext cx="1727200" cy="323165"/>
          </a:xfrm>
          <a:prstGeom prst="rect">
            <a:avLst/>
          </a:prstGeom>
          <a:noFill/>
        </p:spPr>
        <p:txBody>
          <a:bodyPr vert="horz" wrap="square" rtlCol="0">
            <a:spAutoFit/>
          </a:bodyPr>
          <a:lstStyle/>
          <a:p>
            <a:pPr algn="ctr"/>
            <a:r>
              <a:rPr lang="en-US" sz="1500" b="1">
                <a:solidFill>
                  <a:srgbClr val="FF0F1A"/>
                </a:solidFill>
                <a:latin typeface="Segoe UI" panose="020B0502040204020203" pitchFamily="34" charset="0"/>
              </a:rPr>
              <a:t>3 AI Paths</a:t>
            </a:r>
          </a:p>
        </p:txBody>
      </p:sp>
      <p:sp>
        <p:nvSpPr>
          <p:cNvPr id="27" name="TextBox 26">
            <a:extLst>
              <a:ext uri="{FF2B5EF4-FFF2-40B4-BE49-F238E27FC236}">
                <a16:creationId xmlns:a16="http://schemas.microsoft.com/office/drawing/2014/main" id="{B501A4D4-6DCE-E472-D9F4-6E4B09D84722}"/>
              </a:ext>
            </a:extLst>
          </p:cNvPr>
          <p:cNvSpPr txBox="1"/>
          <p:nvPr/>
        </p:nvSpPr>
        <p:spPr>
          <a:xfrm>
            <a:off x="3035300" y="3784600"/>
            <a:ext cx="1727200" cy="230832"/>
          </a:xfrm>
          <a:prstGeom prst="rect">
            <a:avLst/>
          </a:prstGeom>
          <a:noFill/>
        </p:spPr>
        <p:txBody>
          <a:bodyPr vert="horz" wrap="square" rtlCol="0">
            <a:spAutoFit/>
          </a:bodyPr>
          <a:lstStyle/>
          <a:p>
            <a:pPr algn="ctr"/>
            <a:r>
              <a:rPr lang="en-US" sz="900">
                <a:solidFill>
                  <a:srgbClr val="3D3D3D"/>
                </a:solidFill>
                <a:latin typeface="Segoe UI" panose="020B0502040204020203" pitchFamily="34" charset="0"/>
              </a:rPr>
              <a:t>run in parallel</a:t>
            </a:r>
          </a:p>
        </p:txBody>
      </p:sp>
      <p:sp>
        <p:nvSpPr>
          <p:cNvPr id="28" name="Rectangle 27">
            <a:extLst>
              <a:ext uri="{FF2B5EF4-FFF2-40B4-BE49-F238E27FC236}">
                <a16:creationId xmlns:a16="http://schemas.microsoft.com/office/drawing/2014/main" id="{49369785-FE74-1AD2-F2A2-F467EE93D3B2}"/>
              </a:ext>
            </a:extLst>
          </p:cNvPr>
          <p:cNvSpPr/>
          <p:nvPr/>
        </p:nvSpPr>
        <p:spPr>
          <a:xfrm>
            <a:off x="4889500" y="3352800"/>
            <a:ext cx="1828800" cy="863600"/>
          </a:xfrm>
          <a:prstGeom prst="rect">
            <a:avLst/>
          </a:prstGeom>
          <a:solidFill>
            <a:srgbClr val="FFFFFF"/>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8CDC6184-9300-212F-241D-B9FAE1F193FC}"/>
              </a:ext>
            </a:extLst>
          </p:cNvPr>
          <p:cNvSpPr txBox="1"/>
          <p:nvPr/>
        </p:nvSpPr>
        <p:spPr>
          <a:xfrm>
            <a:off x="4940300" y="3454400"/>
            <a:ext cx="1727200" cy="323165"/>
          </a:xfrm>
          <a:prstGeom prst="rect">
            <a:avLst/>
          </a:prstGeom>
          <a:noFill/>
        </p:spPr>
        <p:txBody>
          <a:bodyPr vert="horz" wrap="square" rtlCol="0">
            <a:spAutoFit/>
          </a:bodyPr>
          <a:lstStyle/>
          <a:p>
            <a:pPr algn="ctr"/>
            <a:r>
              <a:rPr lang="en-US" sz="1500" b="1">
                <a:solidFill>
                  <a:srgbClr val="FF0F1A"/>
                </a:solidFill>
                <a:latin typeface="Segoe UI" panose="020B0502040204020203" pitchFamily="34" charset="0"/>
              </a:rPr>
              <a:t>11 Parameters</a:t>
            </a:r>
          </a:p>
        </p:txBody>
      </p:sp>
      <p:sp>
        <p:nvSpPr>
          <p:cNvPr id="30" name="TextBox 29">
            <a:extLst>
              <a:ext uri="{FF2B5EF4-FFF2-40B4-BE49-F238E27FC236}">
                <a16:creationId xmlns:a16="http://schemas.microsoft.com/office/drawing/2014/main" id="{BF885804-FB62-C68A-6962-F6FBB0E317EB}"/>
              </a:ext>
            </a:extLst>
          </p:cNvPr>
          <p:cNvSpPr txBox="1"/>
          <p:nvPr/>
        </p:nvSpPr>
        <p:spPr>
          <a:xfrm>
            <a:off x="4940300" y="3784600"/>
            <a:ext cx="1727200" cy="230832"/>
          </a:xfrm>
          <a:prstGeom prst="rect">
            <a:avLst/>
          </a:prstGeom>
          <a:noFill/>
        </p:spPr>
        <p:txBody>
          <a:bodyPr vert="horz" wrap="square" rtlCol="0">
            <a:spAutoFit/>
          </a:bodyPr>
          <a:lstStyle/>
          <a:p>
            <a:pPr algn="ctr"/>
            <a:r>
              <a:rPr lang="en-US" sz="900">
                <a:solidFill>
                  <a:srgbClr val="3D3D3D"/>
                </a:solidFill>
                <a:latin typeface="Segoe UI" panose="020B0502040204020203" pitchFamily="34" charset="0"/>
              </a:rPr>
              <a:t>auto-extracted</a:t>
            </a:r>
          </a:p>
        </p:txBody>
      </p:sp>
      <p:sp>
        <p:nvSpPr>
          <p:cNvPr id="31" name="Rectangle 30">
            <a:extLst>
              <a:ext uri="{FF2B5EF4-FFF2-40B4-BE49-F238E27FC236}">
                <a16:creationId xmlns:a16="http://schemas.microsoft.com/office/drawing/2014/main" id="{86ECEAE6-1DA3-FC65-3EAD-661F2984E1A2}"/>
              </a:ext>
            </a:extLst>
          </p:cNvPr>
          <p:cNvSpPr/>
          <p:nvPr/>
        </p:nvSpPr>
        <p:spPr>
          <a:xfrm>
            <a:off x="6794500" y="3352800"/>
            <a:ext cx="1828800" cy="863600"/>
          </a:xfrm>
          <a:prstGeom prst="rect">
            <a:avLst/>
          </a:prstGeom>
          <a:solidFill>
            <a:srgbClr val="FFFFFF"/>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AF91AE00-9B22-BA8B-F98D-9D426E82D4B3}"/>
              </a:ext>
            </a:extLst>
          </p:cNvPr>
          <p:cNvSpPr txBox="1"/>
          <p:nvPr/>
        </p:nvSpPr>
        <p:spPr>
          <a:xfrm>
            <a:off x="6845300" y="3454400"/>
            <a:ext cx="1727200" cy="323165"/>
          </a:xfrm>
          <a:prstGeom prst="rect">
            <a:avLst/>
          </a:prstGeom>
          <a:noFill/>
        </p:spPr>
        <p:txBody>
          <a:bodyPr vert="horz" wrap="square" rtlCol="0">
            <a:spAutoFit/>
          </a:bodyPr>
          <a:lstStyle/>
          <a:p>
            <a:pPr algn="ctr"/>
            <a:r>
              <a:rPr lang="en-US" sz="1500" b="1">
                <a:solidFill>
                  <a:srgbClr val="FF0F1A"/>
                </a:solidFill>
                <a:latin typeface="Segoe UI" panose="020B0502040204020203" pitchFamily="34" charset="0"/>
              </a:rPr>
              <a:t>2-Level</a:t>
            </a:r>
          </a:p>
        </p:txBody>
      </p:sp>
      <p:sp>
        <p:nvSpPr>
          <p:cNvPr id="33" name="TextBox 32">
            <a:extLst>
              <a:ext uri="{FF2B5EF4-FFF2-40B4-BE49-F238E27FC236}">
                <a16:creationId xmlns:a16="http://schemas.microsoft.com/office/drawing/2014/main" id="{1E95D14C-537F-6046-D45E-0F7A2C4E17D6}"/>
              </a:ext>
            </a:extLst>
          </p:cNvPr>
          <p:cNvSpPr txBox="1"/>
          <p:nvPr/>
        </p:nvSpPr>
        <p:spPr>
          <a:xfrm>
            <a:off x="6845300" y="3784600"/>
            <a:ext cx="1727200" cy="230832"/>
          </a:xfrm>
          <a:prstGeom prst="rect">
            <a:avLst/>
          </a:prstGeom>
          <a:noFill/>
        </p:spPr>
        <p:txBody>
          <a:bodyPr vert="horz" wrap="square" rtlCol="0">
            <a:spAutoFit/>
          </a:bodyPr>
          <a:lstStyle/>
          <a:p>
            <a:pPr algn="ctr"/>
            <a:r>
              <a:rPr lang="en-US" sz="900">
                <a:solidFill>
                  <a:srgbClr val="3D3D3D"/>
                </a:solidFill>
                <a:latin typeface="Segoe UI" panose="020B0502040204020203" pitchFamily="34" charset="0"/>
              </a:rPr>
              <a:t>extraction model</a:t>
            </a:r>
          </a:p>
        </p:txBody>
      </p:sp>
      <p:sp>
        <p:nvSpPr>
          <p:cNvPr id="34" name="TextBox 33">
            <a:extLst>
              <a:ext uri="{FF2B5EF4-FFF2-40B4-BE49-F238E27FC236}">
                <a16:creationId xmlns:a16="http://schemas.microsoft.com/office/drawing/2014/main" id="{CE684A4C-5EFE-97D3-3A3F-A4569CC91A71}"/>
              </a:ext>
            </a:extLst>
          </p:cNvPr>
          <p:cNvSpPr txBox="1"/>
          <p:nvPr/>
        </p:nvSpPr>
        <p:spPr>
          <a:xfrm>
            <a:off x="2984500" y="4368800"/>
            <a:ext cx="5842000" cy="923330"/>
          </a:xfrm>
          <a:prstGeom prst="rect">
            <a:avLst/>
          </a:prstGeom>
          <a:noFill/>
        </p:spPr>
        <p:txBody>
          <a:bodyPr vert="horz" wrap="square" rtlCol="0">
            <a:spAutoFit/>
          </a:bodyPr>
          <a:lstStyle/>
          <a:p>
            <a:r>
              <a:rPr lang="en-US" sz="900">
                <a:solidFill>
                  <a:srgbClr val="3D3D3D"/>
                </a:solidFill>
                <a:latin typeface="Segoe UI" panose="020B0502040204020203" pitchFamily="34" charset="0"/>
              </a:rPr>
              <a:t>Expectation:
- Zero silent ABB defaults -- missing params block XML export
- Engineer reviews only flagged deviations, not every value
- Multilingual input (EN/FR/IT/DE) handled natively
- Full source traceability -- every value linked to page + path
- Live ABB Sales Configurator integration for real product matching</a:t>
            </a:r>
          </a:p>
        </p:txBody>
      </p:sp>
    </p:spTree>
    <p:extLst>
      <p:ext uri="{BB962C8B-B14F-4D97-AF65-F5344CB8AC3E}">
        <p14:creationId xmlns:p14="http://schemas.microsoft.com/office/powerpoint/2010/main" val="25188125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072E3B-1F74-7CCF-1CB3-D3559D8E7682}"/>
              </a:ext>
            </a:extLst>
          </p:cNvPr>
          <p:cNvSpPr/>
          <p:nvPr/>
        </p:nvSpPr>
        <p:spPr>
          <a:xfrm>
            <a:off x="0" y="0"/>
            <a:ext cx="9144000" cy="6858000"/>
          </a:xfrm>
          <a:prstGeom prst="rect">
            <a:avLst/>
          </a:prstGeom>
          <a:solidFill>
            <a:srgbClr val="1E1E1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9617099-EB5A-9802-F417-4F2E614BA68F}"/>
              </a:ext>
            </a:extLst>
          </p:cNvPr>
          <p:cNvSpPr/>
          <p:nvPr/>
        </p:nvSpPr>
        <p:spPr>
          <a:xfrm>
            <a:off x="0" y="0"/>
            <a:ext cx="9144000" cy="762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44765F8-E4D0-7590-0B0D-373218B1AFB4}"/>
              </a:ext>
            </a:extLst>
          </p:cNvPr>
          <p:cNvSpPr txBox="1"/>
          <p:nvPr/>
        </p:nvSpPr>
        <p:spPr>
          <a:xfrm>
            <a:off x="254000" y="177800"/>
            <a:ext cx="8636000" cy="353943"/>
          </a:xfrm>
          <a:prstGeom prst="rect">
            <a:avLst/>
          </a:prstGeom>
          <a:noFill/>
        </p:spPr>
        <p:txBody>
          <a:bodyPr vert="horz" wrap="square" rtlCol="0">
            <a:spAutoFit/>
          </a:bodyPr>
          <a:lstStyle/>
          <a:p>
            <a:r>
              <a:rPr lang="en-US" sz="1700" b="1">
                <a:solidFill>
                  <a:srgbClr val="FFFFFF"/>
                </a:solidFill>
                <a:latin typeface="Segoe UI" panose="020B0502040204020203" pitchFamily="34" charset="0"/>
              </a:rPr>
              <a:t>System Architecture -- Parallel Ensemble Extraction</a:t>
            </a:r>
          </a:p>
        </p:txBody>
      </p:sp>
      <p:sp>
        <p:nvSpPr>
          <p:cNvPr id="5" name="Rectangle 4">
            <a:extLst>
              <a:ext uri="{FF2B5EF4-FFF2-40B4-BE49-F238E27FC236}">
                <a16:creationId xmlns:a16="http://schemas.microsoft.com/office/drawing/2014/main" id="{A54FBAF6-4344-199B-CC48-ACD06670D5FD}"/>
              </a:ext>
            </a:extLst>
          </p:cNvPr>
          <p:cNvSpPr/>
          <p:nvPr/>
        </p:nvSpPr>
        <p:spPr>
          <a:xfrm>
            <a:off x="254000" y="533400"/>
            <a:ext cx="8636000" cy="12700"/>
          </a:xfrm>
          <a:prstGeom prst="rect">
            <a:avLst/>
          </a:prstGeom>
          <a:solidFill>
            <a:srgbClr val="44444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D603149E-3AD6-869C-F5D5-F5109E402703}"/>
              </a:ext>
            </a:extLst>
          </p:cNvPr>
          <p:cNvSpPr/>
          <p:nvPr/>
        </p:nvSpPr>
        <p:spPr>
          <a:xfrm>
            <a:off x="254000" y="609600"/>
            <a:ext cx="8636000" cy="431800"/>
          </a:xfrm>
          <a:prstGeom prst="rect">
            <a:avLst/>
          </a:prstGeom>
          <a:solidFill>
            <a:srgbClr val="8659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B7656F6D-5F98-A0EF-7A9B-0DACBED7E84D}"/>
              </a:ext>
            </a:extLst>
          </p:cNvPr>
          <p:cNvSpPr txBox="1"/>
          <p:nvPr/>
        </p:nvSpPr>
        <p:spPr>
          <a:xfrm>
            <a:off x="254000" y="609600"/>
            <a:ext cx="8636000" cy="246221"/>
          </a:xfrm>
          <a:prstGeom prst="rect">
            <a:avLst/>
          </a:prstGeom>
          <a:noFill/>
        </p:spPr>
        <p:txBody>
          <a:bodyPr vert="horz" wrap="square" rtlCol="0">
            <a:spAutoFit/>
          </a:bodyPr>
          <a:lstStyle/>
          <a:p>
            <a:pPr algn="ctr"/>
            <a:r>
              <a:rPr lang="en-US" sz="1000" b="1">
                <a:solidFill>
                  <a:srgbClr val="FFFFFF"/>
                </a:solidFill>
                <a:latin typeface="Segoe UI" panose="020B0502040204020203" pitchFamily="34" charset="0"/>
              </a:rPr>
              <a:t>ANGULAR FRONTEND (v17)   |   Upload &gt; Classification &gt; Parameters &gt; Products &gt; Lineup &gt; Deviations &gt; XML Export</a:t>
            </a:r>
          </a:p>
        </p:txBody>
      </p:sp>
      <p:sp>
        <p:nvSpPr>
          <p:cNvPr id="8" name="TextBox 7">
            <a:extLst>
              <a:ext uri="{FF2B5EF4-FFF2-40B4-BE49-F238E27FC236}">
                <a16:creationId xmlns:a16="http://schemas.microsoft.com/office/drawing/2014/main" id="{E62024AB-9259-023A-F781-E30A9051A83B}"/>
              </a:ext>
            </a:extLst>
          </p:cNvPr>
          <p:cNvSpPr txBox="1"/>
          <p:nvPr/>
        </p:nvSpPr>
        <p:spPr>
          <a:xfrm>
            <a:off x="4381500" y="1092200"/>
            <a:ext cx="508000" cy="276999"/>
          </a:xfrm>
          <a:prstGeom prst="rect">
            <a:avLst/>
          </a:prstGeom>
          <a:noFill/>
        </p:spPr>
        <p:txBody>
          <a:bodyPr vert="horz" wrap="square" rtlCol="0">
            <a:spAutoFit/>
          </a:bodyPr>
          <a:lstStyle/>
          <a:p>
            <a:pPr algn="ctr"/>
            <a:r>
              <a:rPr lang="en-US" sz="1200" b="1">
                <a:solidFill>
                  <a:srgbClr val="666666"/>
                </a:solidFill>
                <a:latin typeface="Segoe UI" panose="020B0502040204020203" pitchFamily="34" charset="0"/>
              </a:rPr>
              <a:t>v</a:t>
            </a:r>
          </a:p>
        </p:txBody>
      </p:sp>
      <p:sp>
        <p:nvSpPr>
          <p:cNvPr id="9" name="Rectangle 8">
            <a:extLst>
              <a:ext uri="{FF2B5EF4-FFF2-40B4-BE49-F238E27FC236}">
                <a16:creationId xmlns:a16="http://schemas.microsoft.com/office/drawing/2014/main" id="{FFAE02F4-0E68-D8D2-ADB6-B0015DDF9776}"/>
              </a:ext>
            </a:extLst>
          </p:cNvPr>
          <p:cNvSpPr/>
          <p:nvPr/>
        </p:nvSpPr>
        <p:spPr>
          <a:xfrm>
            <a:off x="254000" y="1295400"/>
            <a:ext cx="8636000" cy="431800"/>
          </a:xfrm>
          <a:prstGeom prst="rect">
            <a:avLst/>
          </a:prstGeom>
          <a:solidFill>
            <a:srgbClr val="5C3A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F576D138-2AEF-13A2-9E26-FEA558DA5DFF}"/>
              </a:ext>
            </a:extLst>
          </p:cNvPr>
          <p:cNvSpPr txBox="1"/>
          <p:nvPr/>
        </p:nvSpPr>
        <p:spPr>
          <a:xfrm>
            <a:off x="254000" y="1295400"/>
            <a:ext cx="8636000" cy="246221"/>
          </a:xfrm>
          <a:prstGeom prst="rect">
            <a:avLst/>
          </a:prstGeom>
          <a:noFill/>
        </p:spPr>
        <p:txBody>
          <a:bodyPr vert="horz" wrap="square" rtlCol="0">
            <a:spAutoFit/>
          </a:bodyPr>
          <a:lstStyle/>
          <a:p>
            <a:pPr algn="ctr"/>
            <a:r>
              <a:rPr lang="en-US" sz="1000" b="1">
                <a:solidFill>
                  <a:srgbClr val="FFFFFF"/>
                </a:solidFill>
                <a:latin typeface="Segoe UI" panose="020B0502040204020203" pitchFamily="34" charset="0"/>
              </a:rPr>
              <a:t>.NET 9 WEB API (ASP.NET Core)  --  PipelineOrchestrationService</a:t>
            </a:r>
          </a:p>
        </p:txBody>
      </p:sp>
      <p:sp>
        <p:nvSpPr>
          <p:cNvPr id="11" name="Rectangle 10">
            <a:extLst>
              <a:ext uri="{FF2B5EF4-FFF2-40B4-BE49-F238E27FC236}">
                <a16:creationId xmlns:a16="http://schemas.microsoft.com/office/drawing/2014/main" id="{F5A8DA3D-46D3-C8BD-9763-45F8822ACDE3}"/>
              </a:ext>
            </a:extLst>
          </p:cNvPr>
          <p:cNvSpPr/>
          <p:nvPr/>
        </p:nvSpPr>
        <p:spPr>
          <a:xfrm>
            <a:off x="254000" y="1778000"/>
            <a:ext cx="8636000" cy="304800"/>
          </a:xfrm>
          <a:prstGeom prst="rect">
            <a:avLst/>
          </a:prstGeom>
          <a:solidFill>
            <a:srgbClr val="2A2A2A"/>
          </a:solidFill>
          <a:ln w="12700">
            <a:solidFill>
              <a:srgbClr val="5555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B67A9284-D4B7-453F-79E0-8536AD3DD66F}"/>
              </a:ext>
            </a:extLst>
          </p:cNvPr>
          <p:cNvSpPr txBox="1"/>
          <p:nvPr/>
        </p:nvSpPr>
        <p:spPr>
          <a:xfrm>
            <a:off x="254000" y="1778000"/>
            <a:ext cx="8636000" cy="215444"/>
          </a:xfrm>
          <a:prstGeom prst="rect">
            <a:avLst/>
          </a:prstGeom>
          <a:noFill/>
        </p:spPr>
        <p:txBody>
          <a:bodyPr vert="horz" wrap="square" rtlCol="0">
            <a:spAutoFit/>
          </a:bodyPr>
          <a:lstStyle/>
          <a:p>
            <a:pPr algn="ctr"/>
            <a:r>
              <a:rPr lang="en-US" sz="800">
                <a:solidFill>
                  <a:srgbClr val="CCCCCC"/>
                </a:solidFill>
                <a:latin typeface="Segoe UI" panose="020B0502040204020203" pitchFamily="34" charset="0"/>
              </a:rPr>
              <a:t>SHARED FOUNDATION: Azure DI prebuilt-layout + PdfPig page count + iText7 fallback (coverage &lt; 30%)</a:t>
            </a:r>
          </a:p>
        </p:txBody>
      </p:sp>
      <p:sp>
        <p:nvSpPr>
          <p:cNvPr id="13" name="Rectangle 12">
            <a:extLst>
              <a:ext uri="{FF2B5EF4-FFF2-40B4-BE49-F238E27FC236}">
                <a16:creationId xmlns:a16="http://schemas.microsoft.com/office/drawing/2014/main" id="{00378312-FBDF-3C0C-6114-E5828E758782}"/>
              </a:ext>
            </a:extLst>
          </p:cNvPr>
          <p:cNvSpPr/>
          <p:nvPr/>
        </p:nvSpPr>
        <p:spPr>
          <a:xfrm>
            <a:off x="254000" y="2133600"/>
            <a:ext cx="2743200" cy="1752600"/>
          </a:xfrm>
          <a:prstGeom prst="rect">
            <a:avLst/>
          </a:prstGeom>
          <a:solidFill>
            <a:srgbClr val="1A1A5C"/>
          </a:solidFill>
          <a:ln w="12700">
            <a:solidFill>
              <a:srgbClr val="6666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52935C9-D9B9-AF82-53BC-A89F391A15B7}"/>
              </a:ext>
            </a:extLst>
          </p:cNvPr>
          <p:cNvSpPr txBox="1"/>
          <p:nvPr/>
        </p:nvSpPr>
        <p:spPr>
          <a:xfrm>
            <a:off x="330200" y="2184400"/>
            <a:ext cx="2590800" cy="215444"/>
          </a:xfrm>
          <a:prstGeom prst="rect">
            <a:avLst/>
          </a:prstGeom>
          <a:noFill/>
        </p:spPr>
        <p:txBody>
          <a:bodyPr vert="horz" wrap="square" rtlCol="0">
            <a:spAutoFit/>
          </a:bodyPr>
          <a:lstStyle/>
          <a:p>
            <a:r>
              <a:rPr lang="it-IT" sz="800" b="1">
                <a:solidFill>
                  <a:srgbClr val="FFFFFF"/>
                </a:solidFill>
                <a:latin typeface="Segoe UI" panose="020B0502040204020203" pitchFamily="34" charset="0"/>
              </a:rPr>
              <a:t>PATH A -- DI Custom Model</a:t>
            </a:r>
            <a:endParaRPr lang="en-US" sz="800" b="1">
              <a:solidFill>
                <a:srgbClr val="FFFFFF"/>
              </a:solidFill>
              <a:latin typeface="Segoe UI" panose="020B0502040204020203" pitchFamily="34" charset="0"/>
            </a:endParaRPr>
          </a:p>
        </p:txBody>
      </p:sp>
      <p:sp>
        <p:nvSpPr>
          <p:cNvPr id="15" name="Rectangle 14">
            <a:extLst>
              <a:ext uri="{FF2B5EF4-FFF2-40B4-BE49-F238E27FC236}">
                <a16:creationId xmlns:a16="http://schemas.microsoft.com/office/drawing/2014/main" id="{767D6006-3263-4E64-0E9D-BFB59C1CCED3}"/>
              </a:ext>
            </a:extLst>
          </p:cNvPr>
          <p:cNvSpPr/>
          <p:nvPr/>
        </p:nvSpPr>
        <p:spPr>
          <a:xfrm>
            <a:off x="330200" y="2362200"/>
            <a:ext cx="2590800" cy="12700"/>
          </a:xfrm>
          <a:prstGeom prst="rect">
            <a:avLst/>
          </a:prstGeom>
          <a:solidFill>
            <a:srgbClr val="5555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83C3DD08-1566-F0C1-1C5D-1B4D53BCB651}"/>
              </a:ext>
            </a:extLst>
          </p:cNvPr>
          <p:cNvSpPr txBox="1"/>
          <p:nvPr/>
        </p:nvSpPr>
        <p:spPr>
          <a:xfrm>
            <a:off x="406400" y="2413000"/>
            <a:ext cx="2514600" cy="200055"/>
          </a:xfrm>
          <a:prstGeom prst="rect">
            <a:avLst/>
          </a:prstGeom>
          <a:noFill/>
        </p:spPr>
        <p:txBody>
          <a:bodyPr vert="horz" wrap="square" rtlCol="0">
            <a:spAutoFit/>
          </a:bodyPr>
          <a:lstStyle/>
          <a:p>
            <a:r>
              <a:rPr lang="en-US" sz="700">
                <a:solidFill>
                  <a:srgbClr val="CCCCCC"/>
                </a:solidFill>
                <a:latin typeface="Segoe UI" panose="020B0502040204020203" pitchFamily="34" charset="0"/>
              </a:rPr>
              <a:t>- Known templates (50+ labelled docs)</a:t>
            </a:r>
          </a:p>
        </p:txBody>
      </p:sp>
      <p:sp>
        <p:nvSpPr>
          <p:cNvPr id="17" name="TextBox 16">
            <a:extLst>
              <a:ext uri="{FF2B5EF4-FFF2-40B4-BE49-F238E27FC236}">
                <a16:creationId xmlns:a16="http://schemas.microsoft.com/office/drawing/2014/main" id="{5287CC73-3608-38A2-DEC9-AA43E6F23386}"/>
              </a:ext>
            </a:extLst>
          </p:cNvPr>
          <p:cNvSpPr txBox="1"/>
          <p:nvPr/>
        </p:nvSpPr>
        <p:spPr>
          <a:xfrm>
            <a:off x="406400" y="2692400"/>
            <a:ext cx="2514600" cy="200055"/>
          </a:xfrm>
          <a:prstGeom prst="rect">
            <a:avLst/>
          </a:prstGeom>
          <a:noFill/>
        </p:spPr>
        <p:txBody>
          <a:bodyPr vert="horz" wrap="square" rtlCol="0">
            <a:spAutoFit/>
          </a:bodyPr>
          <a:lstStyle/>
          <a:p>
            <a:r>
              <a:rPr lang="en-US" sz="700">
                <a:solidFill>
                  <a:srgbClr val="CCCCCC"/>
                </a:solidFill>
                <a:latin typeface="Segoe UI" panose="020B0502040204020203" pitchFamily="34" charset="0"/>
              </a:rPr>
              <a:t>- Level 1: 11 system params + BB</a:t>
            </a:r>
          </a:p>
        </p:txBody>
      </p:sp>
      <p:sp>
        <p:nvSpPr>
          <p:cNvPr id="18" name="TextBox 17">
            <a:extLst>
              <a:ext uri="{FF2B5EF4-FFF2-40B4-BE49-F238E27FC236}">
                <a16:creationId xmlns:a16="http://schemas.microsoft.com/office/drawing/2014/main" id="{268D72D4-D964-DE69-C39E-B41A8F4AC55A}"/>
              </a:ext>
            </a:extLst>
          </p:cNvPr>
          <p:cNvSpPr txBox="1"/>
          <p:nvPr/>
        </p:nvSpPr>
        <p:spPr>
          <a:xfrm>
            <a:off x="406400" y="2971800"/>
            <a:ext cx="2514600" cy="200055"/>
          </a:xfrm>
          <a:prstGeom prst="rect">
            <a:avLst/>
          </a:prstGeom>
          <a:noFill/>
        </p:spPr>
        <p:txBody>
          <a:bodyPr vert="horz" wrap="square" rtlCol="0">
            <a:spAutoFit/>
          </a:bodyPr>
          <a:lstStyle/>
          <a:p>
            <a:r>
              <a:rPr lang="en-US" sz="700">
                <a:solidFill>
                  <a:srgbClr val="CCCCCC"/>
                </a:solidFill>
                <a:latin typeface="Segoe UI" panose="020B0502040204020203" pitchFamily="34" charset="0"/>
              </a:rPr>
              <a:t>- Level 2: table device fields</a:t>
            </a:r>
          </a:p>
        </p:txBody>
      </p:sp>
      <p:sp>
        <p:nvSpPr>
          <p:cNvPr id="19" name="TextBox 18">
            <a:extLst>
              <a:ext uri="{FF2B5EF4-FFF2-40B4-BE49-F238E27FC236}">
                <a16:creationId xmlns:a16="http://schemas.microsoft.com/office/drawing/2014/main" id="{ABD8CE7B-5E79-8BD2-37EC-4CFCFBB5D87B}"/>
              </a:ext>
            </a:extLst>
          </p:cNvPr>
          <p:cNvSpPr txBox="1"/>
          <p:nvPr/>
        </p:nvSpPr>
        <p:spPr>
          <a:xfrm>
            <a:off x="406400" y="3251200"/>
            <a:ext cx="2514600" cy="200055"/>
          </a:xfrm>
          <a:prstGeom prst="rect">
            <a:avLst/>
          </a:prstGeom>
          <a:noFill/>
        </p:spPr>
        <p:txBody>
          <a:bodyPr vert="horz" wrap="square" rtlCol="0">
            <a:spAutoFit/>
          </a:bodyPr>
          <a:lstStyle/>
          <a:p>
            <a:r>
              <a:rPr lang="en-US" sz="700">
                <a:solidFill>
                  <a:srgbClr val="CCCCCC"/>
                </a:solidFill>
                <a:latin typeface="Segoe UI" panose="020B0502040204020203" pitchFamily="34" charset="0"/>
              </a:rPr>
              <a:t>- Fields + bounding boxes + confidence</a:t>
            </a:r>
          </a:p>
        </p:txBody>
      </p:sp>
      <p:sp>
        <p:nvSpPr>
          <p:cNvPr id="20" name="TextBox 19">
            <a:extLst>
              <a:ext uri="{FF2B5EF4-FFF2-40B4-BE49-F238E27FC236}">
                <a16:creationId xmlns:a16="http://schemas.microsoft.com/office/drawing/2014/main" id="{0FE7D239-19D3-6306-A778-B2CF06A8821E}"/>
              </a:ext>
            </a:extLst>
          </p:cNvPr>
          <p:cNvSpPr txBox="1"/>
          <p:nvPr/>
        </p:nvSpPr>
        <p:spPr>
          <a:xfrm>
            <a:off x="406400" y="3530600"/>
            <a:ext cx="2514600" cy="200055"/>
          </a:xfrm>
          <a:prstGeom prst="rect">
            <a:avLst/>
          </a:prstGeom>
          <a:noFill/>
        </p:spPr>
        <p:txBody>
          <a:bodyPr vert="horz" wrap="square" rtlCol="0">
            <a:spAutoFit/>
          </a:bodyPr>
          <a:lstStyle/>
          <a:p>
            <a:r>
              <a:rPr lang="en-US" sz="700">
                <a:solidFill>
                  <a:srgbClr val="CCCCCC"/>
                </a:solidFill>
                <a:latin typeface="Segoe UI" panose="020B0502040204020203" pitchFamily="34" charset="0"/>
              </a:rPr>
              <a:t>- Fallback: confidence &lt; 0.60 =&gt; Path B</a:t>
            </a:r>
          </a:p>
        </p:txBody>
      </p:sp>
      <p:sp>
        <p:nvSpPr>
          <p:cNvPr id="21" name="Rectangle 20">
            <a:extLst>
              <a:ext uri="{FF2B5EF4-FFF2-40B4-BE49-F238E27FC236}">
                <a16:creationId xmlns:a16="http://schemas.microsoft.com/office/drawing/2014/main" id="{E858148F-253E-3209-5449-575DBD3D5006}"/>
              </a:ext>
            </a:extLst>
          </p:cNvPr>
          <p:cNvSpPr/>
          <p:nvPr/>
        </p:nvSpPr>
        <p:spPr>
          <a:xfrm>
            <a:off x="3048000" y="2133600"/>
            <a:ext cx="2743200" cy="1752600"/>
          </a:xfrm>
          <a:prstGeom prst="rect">
            <a:avLst/>
          </a:prstGeom>
          <a:solidFill>
            <a:srgbClr val="1A3A1A"/>
          </a:solidFill>
          <a:ln w="12700">
            <a:solidFill>
              <a:srgbClr val="6666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155E80FD-BE94-4A63-8D91-C2F7D943F071}"/>
              </a:ext>
            </a:extLst>
          </p:cNvPr>
          <p:cNvSpPr txBox="1"/>
          <p:nvPr/>
        </p:nvSpPr>
        <p:spPr>
          <a:xfrm>
            <a:off x="3124200" y="2184400"/>
            <a:ext cx="2590800" cy="215444"/>
          </a:xfrm>
          <a:prstGeom prst="rect">
            <a:avLst/>
          </a:prstGeom>
          <a:noFill/>
        </p:spPr>
        <p:txBody>
          <a:bodyPr vert="horz" wrap="square" rtlCol="0">
            <a:spAutoFit/>
          </a:bodyPr>
          <a:lstStyle/>
          <a:p>
            <a:r>
              <a:rPr lang="en-US" sz="800" b="1">
                <a:solidFill>
                  <a:srgbClr val="FFFFFF"/>
                </a:solidFill>
                <a:latin typeface="Segoe UI" panose="020B0502040204020203" pitchFamily="34" charset="0"/>
              </a:rPr>
              <a:t>PATH B -- RAG Pipeline</a:t>
            </a:r>
          </a:p>
        </p:txBody>
      </p:sp>
      <p:sp>
        <p:nvSpPr>
          <p:cNvPr id="23" name="Rectangle 22">
            <a:extLst>
              <a:ext uri="{FF2B5EF4-FFF2-40B4-BE49-F238E27FC236}">
                <a16:creationId xmlns:a16="http://schemas.microsoft.com/office/drawing/2014/main" id="{02ED5C8C-6831-40A2-FD61-255C4F0115B5}"/>
              </a:ext>
            </a:extLst>
          </p:cNvPr>
          <p:cNvSpPr/>
          <p:nvPr/>
        </p:nvSpPr>
        <p:spPr>
          <a:xfrm>
            <a:off x="3124200" y="2362200"/>
            <a:ext cx="2590800" cy="12700"/>
          </a:xfrm>
          <a:prstGeom prst="rect">
            <a:avLst/>
          </a:prstGeom>
          <a:solidFill>
            <a:srgbClr val="5555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7EE55898-E232-5811-E50C-3A759B7DD525}"/>
              </a:ext>
            </a:extLst>
          </p:cNvPr>
          <p:cNvSpPr txBox="1"/>
          <p:nvPr/>
        </p:nvSpPr>
        <p:spPr>
          <a:xfrm>
            <a:off x="3200400" y="2413000"/>
            <a:ext cx="2514600" cy="200055"/>
          </a:xfrm>
          <a:prstGeom prst="rect">
            <a:avLst/>
          </a:prstGeom>
          <a:noFill/>
        </p:spPr>
        <p:txBody>
          <a:bodyPr vert="horz" wrap="square" rtlCol="0">
            <a:spAutoFit/>
          </a:bodyPr>
          <a:lstStyle/>
          <a:p>
            <a:r>
              <a:rPr lang="en-US" sz="700">
                <a:solidFill>
                  <a:srgbClr val="CCCCCC"/>
                </a:solidFill>
                <a:latin typeface="Segoe UI" panose="020B0502040204020203" pitchFamily="34" charset="0"/>
              </a:rPr>
              <a:t>- Azure AI Search: chunk&gt;embed&gt;retrieve</a:t>
            </a:r>
          </a:p>
        </p:txBody>
      </p:sp>
      <p:sp>
        <p:nvSpPr>
          <p:cNvPr id="25" name="TextBox 24">
            <a:extLst>
              <a:ext uri="{FF2B5EF4-FFF2-40B4-BE49-F238E27FC236}">
                <a16:creationId xmlns:a16="http://schemas.microsoft.com/office/drawing/2014/main" id="{1999756D-4C72-D06D-FB38-7D2CAEF7A755}"/>
              </a:ext>
            </a:extLst>
          </p:cNvPr>
          <p:cNvSpPr txBox="1"/>
          <p:nvPr/>
        </p:nvSpPr>
        <p:spPr>
          <a:xfrm>
            <a:off x="3200400" y="2692400"/>
            <a:ext cx="2514600" cy="200055"/>
          </a:xfrm>
          <a:prstGeom prst="rect">
            <a:avLst/>
          </a:prstGeom>
          <a:noFill/>
        </p:spPr>
        <p:txBody>
          <a:bodyPr vert="horz" wrap="square" rtlCol="0">
            <a:spAutoFit/>
          </a:bodyPr>
          <a:lstStyle/>
          <a:p>
            <a:r>
              <a:rPr lang="pt-BR" sz="700">
                <a:solidFill>
                  <a:srgbClr val="CCCCCC"/>
                </a:solidFill>
                <a:latin typeface="Segoe UI" panose="020B0502040204020203" pitchFamily="34" charset="0"/>
              </a:rPr>
              <a:t>- Level 1: 11 parallel param queries</a:t>
            </a:r>
            <a:endParaRPr lang="en-US" sz="700">
              <a:solidFill>
                <a:srgbClr val="CCCCCC"/>
              </a:solidFill>
              <a:latin typeface="Segoe UI" panose="020B0502040204020203" pitchFamily="34" charset="0"/>
            </a:endParaRPr>
          </a:p>
        </p:txBody>
      </p:sp>
      <p:sp>
        <p:nvSpPr>
          <p:cNvPr id="26" name="TextBox 25">
            <a:extLst>
              <a:ext uri="{FF2B5EF4-FFF2-40B4-BE49-F238E27FC236}">
                <a16:creationId xmlns:a16="http://schemas.microsoft.com/office/drawing/2014/main" id="{D9E88485-651C-A349-2C74-E22820FFB65B}"/>
              </a:ext>
            </a:extLst>
          </p:cNvPr>
          <p:cNvSpPr txBox="1"/>
          <p:nvPr/>
        </p:nvSpPr>
        <p:spPr>
          <a:xfrm>
            <a:off x="3200400" y="2971800"/>
            <a:ext cx="2514600" cy="200055"/>
          </a:xfrm>
          <a:prstGeom prst="rect">
            <a:avLst/>
          </a:prstGeom>
          <a:noFill/>
        </p:spPr>
        <p:txBody>
          <a:bodyPr vert="horz" wrap="square" rtlCol="0">
            <a:spAutoFit/>
          </a:bodyPr>
          <a:lstStyle/>
          <a:p>
            <a:r>
              <a:rPr lang="en-US" sz="700">
                <a:solidFill>
                  <a:srgbClr val="CCCCCC"/>
                </a:solidFill>
                <a:latin typeface="Segoe UI" panose="020B0502040204020203" pitchFamily="34" charset="0"/>
              </a:rPr>
              <a:t>- Level 2: cubicle schedule detection</a:t>
            </a:r>
          </a:p>
        </p:txBody>
      </p:sp>
      <p:sp>
        <p:nvSpPr>
          <p:cNvPr id="27" name="TextBox 26">
            <a:extLst>
              <a:ext uri="{FF2B5EF4-FFF2-40B4-BE49-F238E27FC236}">
                <a16:creationId xmlns:a16="http://schemas.microsoft.com/office/drawing/2014/main" id="{D1F8DE23-01C5-9FA4-15C8-085C47F0CD28}"/>
              </a:ext>
            </a:extLst>
          </p:cNvPr>
          <p:cNvSpPr txBox="1"/>
          <p:nvPr/>
        </p:nvSpPr>
        <p:spPr>
          <a:xfrm>
            <a:off x="3200400" y="3251200"/>
            <a:ext cx="2514600" cy="200055"/>
          </a:xfrm>
          <a:prstGeom prst="rect">
            <a:avLst/>
          </a:prstGeom>
          <a:noFill/>
        </p:spPr>
        <p:txBody>
          <a:bodyPr vert="horz" wrap="square" rtlCol="0">
            <a:spAutoFit/>
          </a:bodyPr>
          <a:lstStyle/>
          <a:p>
            <a:r>
              <a:rPr lang="en-US" sz="700">
                <a:solidFill>
                  <a:srgbClr val="CCCCCC"/>
                </a:solidFill>
                <a:latin typeface="Segoe UI" panose="020B0502040204020203" pitchFamily="34" charset="0"/>
              </a:rPr>
              <a:t>- GPT-4o-mini + JSON Schema enforce</a:t>
            </a:r>
          </a:p>
        </p:txBody>
      </p:sp>
      <p:sp>
        <p:nvSpPr>
          <p:cNvPr id="28" name="TextBox 27">
            <a:extLst>
              <a:ext uri="{FF2B5EF4-FFF2-40B4-BE49-F238E27FC236}">
                <a16:creationId xmlns:a16="http://schemas.microsoft.com/office/drawing/2014/main" id="{02733D43-E8C9-1811-1549-E52637960E83}"/>
              </a:ext>
            </a:extLst>
          </p:cNvPr>
          <p:cNvSpPr txBox="1"/>
          <p:nvPr/>
        </p:nvSpPr>
        <p:spPr>
          <a:xfrm>
            <a:off x="3200400" y="3530600"/>
            <a:ext cx="2514600" cy="200055"/>
          </a:xfrm>
          <a:prstGeom prst="rect">
            <a:avLst/>
          </a:prstGeom>
          <a:noFill/>
        </p:spPr>
        <p:txBody>
          <a:bodyPr vert="horz" wrap="square" rtlCol="0">
            <a:spAutoFit/>
          </a:bodyPr>
          <a:lstStyle/>
          <a:p>
            <a:r>
              <a:rPr lang="en-US" sz="700">
                <a:solidFill>
                  <a:srgbClr val="CCCCCC"/>
                </a:solidFill>
                <a:latin typeface="Segoe UI" panose="020B0502040204020203" pitchFamily="34" charset="0"/>
              </a:rPr>
              <a:t>- Multilingual via embedding similarity</a:t>
            </a:r>
          </a:p>
        </p:txBody>
      </p:sp>
      <p:sp>
        <p:nvSpPr>
          <p:cNvPr id="29" name="Rectangle 28">
            <a:extLst>
              <a:ext uri="{FF2B5EF4-FFF2-40B4-BE49-F238E27FC236}">
                <a16:creationId xmlns:a16="http://schemas.microsoft.com/office/drawing/2014/main" id="{A3A8BD6E-0505-A114-EF1B-D556BB0E0563}"/>
              </a:ext>
            </a:extLst>
          </p:cNvPr>
          <p:cNvSpPr/>
          <p:nvPr/>
        </p:nvSpPr>
        <p:spPr>
          <a:xfrm>
            <a:off x="5842000" y="2133600"/>
            <a:ext cx="2743200" cy="1752600"/>
          </a:xfrm>
          <a:prstGeom prst="rect">
            <a:avLst/>
          </a:prstGeom>
          <a:solidFill>
            <a:srgbClr val="5C1A1A"/>
          </a:solidFill>
          <a:ln w="12700">
            <a:solidFill>
              <a:srgbClr val="6666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C604C2BA-09C5-CEA5-9FB2-8FFEBCAAAB58}"/>
              </a:ext>
            </a:extLst>
          </p:cNvPr>
          <p:cNvSpPr txBox="1"/>
          <p:nvPr/>
        </p:nvSpPr>
        <p:spPr>
          <a:xfrm>
            <a:off x="5918200" y="2184400"/>
            <a:ext cx="2590800" cy="215444"/>
          </a:xfrm>
          <a:prstGeom prst="rect">
            <a:avLst/>
          </a:prstGeom>
          <a:noFill/>
        </p:spPr>
        <p:txBody>
          <a:bodyPr vert="horz" wrap="square" rtlCol="0">
            <a:spAutoFit/>
          </a:bodyPr>
          <a:lstStyle/>
          <a:p>
            <a:r>
              <a:rPr lang="en-US" sz="800" b="1">
                <a:solidFill>
                  <a:srgbClr val="FFFFFF"/>
                </a:solidFill>
                <a:latin typeface="Segoe UI" panose="020B0502040204020203" pitchFamily="34" charset="0"/>
              </a:rPr>
              <a:t>PATH C -- Grounded Vision</a:t>
            </a:r>
          </a:p>
        </p:txBody>
      </p:sp>
      <p:sp>
        <p:nvSpPr>
          <p:cNvPr id="31" name="Rectangle 30">
            <a:extLst>
              <a:ext uri="{FF2B5EF4-FFF2-40B4-BE49-F238E27FC236}">
                <a16:creationId xmlns:a16="http://schemas.microsoft.com/office/drawing/2014/main" id="{BBDF21DE-39E2-FB54-84C7-C93D0592CD87}"/>
              </a:ext>
            </a:extLst>
          </p:cNvPr>
          <p:cNvSpPr/>
          <p:nvPr/>
        </p:nvSpPr>
        <p:spPr>
          <a:xfrm>
            <a:off x="5918200" y="2362200"/>
            <a:ext cx="2590800" cy="12700"/>
          </a:xfrm>
          <a:prstGeom prst="rect">
            <a:avLst/>
          </a:prstGeom>
          <a:solidFill>
            <a:srgbClr val="5555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22FFB6F0-B6CA-D041-B4B4-C7F819AFBF47}"/>
              </a:ext>
            </a:extLst>
          </p:cNvPr>
          <p:cNvSpPr txBox="1"/>
          <p:nvPr/>
        </p:nvSpPr>
        <p:spPr>
          <a:xfrm>
            <a:off x="5994400" y="2413000"/>
            <a:ext cx="2514600" cy="200055"/>
          </a:xfrm>
          <a:prstGeom prst="rect">
            <a:avLst/>
          </a:prstGeom>
          <a:noFill/>
        </p:spPr>
        <p:txBody>
          <a:bodyPr vert="horz" wrap="square" rtlCol="0">
            <a:spAutoFit/>
          </a:bodyPr>
          <a:lstStyle/>
          <a:p>
            <a:r>
              <a:rPr lang="fr-FR" sz="700">
                <a:solidFill>
                  <a:srgbClr val="CCCCCC"/>
                </a:solidFill>
                <a:latin typeface="Segoe UI" panose="020B0502040204020203" pitchFamily="34" charset="0"/>
              </a:rPr>
              <a:t>- SLD pages &gt; PDFtoImage 300 DPI</a:t>
            </a:r>
            <a:endParaRPr lang="en-US" sz="700">
              <a:solidFill>
                <a:srgbClr val="CCCCCC"/>
              </a:solidFill>
              <a:latin typeface="Segoe UI" panose="020B0502040204020203" pitchFamily="34" charset="0"/>
            </a:endParaRPr>
          </a:p>
        </p:txBody>
      </p:sp>
      <p:sp>
        <p:nvSpPr>
          <p:cNvPr id="33" name="TextBox 32">
            <a:extLst>
              <a:ext uri="{FF2B5EF4-FFF2-40B4-BE49-F238E27FC236}">
                <a16:creationId xmlns:a16="http://schemas.microsoft.com/office/drawing/2014/main" id="{86E80E67-1491-4FFA-7B2A-13E14B1F5934}"/>
              </a:ext>
            </a:extLst>
          </p:cNvPr>
          <p:cNvSpPr txBox="1"/>
          <p:nvPr/>
        </p:nvSpPr>
        <p:spPr>
          <a:xfrm>
            <a:off x="5994400" y="2692400"/>
            <a:ext cx="2514600" cy="200055"/>
          </a:xfrm>
          <a:prstGeom prst="rect">
            <a:avLst/>
          </a:prstGeom>
          <a:noFill/>
        </p:spPr>
        <p:txBody>
          <a:bodyPr vert="horz" wrap="square" rtlCol="0">
            <a:spAutoFit/>
          </a:bodyPr>
          <a:lstStyle/>
          <a:p>
            <a:r>
              <a:rPr lang="it-IT" sz="700">
                <a:solidFill>
                  <a:srgbClr val="CCCCCC"/>
                </a:solidFill>
                <a:latin typeface="Segoe UI" panose="020B0502040204020203" pitchFamily="34" charset="0"/>
              </a:rPr>
              <a:t>- Azure AI Vision Read API (OCR)</a:t>
            </a:r>
            <a:endParaRPr lang="en-US" sz="700">
              <a:solidFill>
                <a:srgbClr val="CCCCCC"/>
              </a:solidFill>
              <a:latin typeface="Segoe UI" panose="020B0502040204020203" pitchFamily="34" charset="0"/>
            </a:endParaRPr>
          </a:p>
        </p:txBody>
      </p:sp>
      <p:sp>
        <p:nvSpPr>
          <p:cNvPr id="34" name="TextBox 33">
            <a:extLst>
              <a:ext uri="{FF2B5EF4-FFF2-40B4-BE49-F238E27FC236}">
                <a16:creationId xmlns:a16="http://schemas.microsoft.com/office/drawing/2014/main" id="{A0166617-5013-8FC5-03B3-32123910D7ED}"/>
              </a:ext>
            </a:extLst>
          </p:cNvPr>
          <p:cNvSpPr txBox="1"/>
          <p:nvPr/>
        </p:nvSpPr>
        <p:spPr>
          <a:xfrm>
            <a:off x="5994400" y="2971800"/>
            <a:ext cx="2514600" cy="200055"/>
          </a:xfrm>
          <a:prstGeom prst="rect">
            <a:avLst/>
          </a:prstGeom>
          <a:noFill/>
        </p:spPr>
        <p:txBody>
          <a:bodyPr vert="horz" wrap="square" rtlCol="0">
            <a:spAutoFit/>
          </a:bodyPr>
          <a:lstStyle/>
          <a:p>
            <a:r>
              <a:rPr lang="en-US" sz="700">
                <a:solidFill>
                  <a:srgbClr val="CCCCCC"/>
                </a:solidFill>
                <a:latin typeface="Segoe UI" panose="020B0502040204020203" pitchFamily="34" charset="0"/>
              </a:rPr>
              <a:t>- Sub-flow 1: system params (title block)</a:t>
            </a:r>
          </a:p>
        </p:txBody>
      </p:sp>
      <p:sp>
        <p:nvSpPr>
          <p:cNvPr id="35" name="TextBox 34">
            <a:extLst>
              <a:ext uri="{FF2B5EF4-FFF2-40B4-BE49-F238E27FC236}">
                <a16:creationId xmlns:a16="http://schemas.microsoft.com/office/drawing/2014/main" id="{62CED47E-BD36-8417-8CD7-A6ED3A0EBD58}"/>
              </a:ext>
            </a:extLst>
          </p:cNvPr>
          <p:cNvSpPr txBox="1"/>
          <p:nvPr/>
        </p:nvSpPr>
        <p:spPr>
          <a:xfrm>
            <a:off x="5994400" y="3251200"/>
            <a:ext cx="2514600" cy="200055"/>
          </a:xfrm>
          <a:prstGeom prst="rect">
            <a:avLst/>
          </a:prstGeom>
          <a:noFill/>
        </p:spPr>
        <p:txBody>
          <a:bodyPr vert="horz" wrap="square" rtlCol="0">
            <a:spAutoFit/>
          </a:bodyPr>
          <a:lstStyle/>
          <a:p>
            <a:r>
              <a:rPr lang="en-US" sz="700">
                <a:solidFill>
                  <a:srgbClr val="CCCCCC"/>
                </a:solidFill>
                <a:latin typeface="Segoe UI" panose="020B0502040204020203" pitchFamily="34" charset="0"/>
              </a:rPr>
              <a:t>- Sub-flow 2: per-panel CB/CT/relay</a:t>
            </a:r>
          </a:p>
        </p:txBody>
      </p:sp>
      <p:sp>
        <p:nvSpPr>
          <p:cNvPr id="36" name="TextBox 35">
            <a:extLst>
              <a:ext uri="{FF2B5EF4-FFF2-40B4-BE49-F238E27FC236}">
                <a16:creationId xmlns:a16="http://schemas.microsoft.com/office/drawing/2014/main" id="{F2FCB677-BFF8-0F91-25D2-6E71587566A1}"/>
              </a:ext>
            </a:extLst>
          </p:cNvPr>
          <p:cNvSpPr txBox="1"/>
          <p:nvPr/>
        </p:nvSpPr>
        <p:spPr>
          <a:xfrm>
            <a:off x="5994400" y="3530600"/>
            <a:ext cx="2514600" cy="200055"/>
          </a:xfrm>
          <a:prstGeom prst="rect">
            <a:avLst/>
          </a:prstGeom>
          <a:noFill/>
        </p:spPr>
        <p:txBody>
          <a:bodyPr vert="horz" wrap="square" rtlCol="0">
            <a:spAutoFit/>
          </a:bodyPr>
          <a:lstStyle/>
          <a:p>
            <a:r>
              <a:rPr lang="en-US" sz="700">
                <a:solidFill>
                  <a:srgbClr val="CCCCCC"/>
                </a:solidFill>
                <a:latin typeface="Segoe UI" panose="020B0502040204020203" pitchFamily="34" charset="0"/>
              </a:rPr>
              <a:t>- Sub-flow 3: topology classification</a:t>
            </a:r>
          </a:p>
        </p:txBody>
      </p:sp>
      <p:sp>
        <p:nvSpPr>
          <p:cNvPr id="37" name="Rectangle 36">
            <a:extLst>
              <a:ext uri="{FF2B5EF4-FFF2-40B4-BE49-F238E27FC236}">
                <a16:creationId xmlns:a16="http://schemas.microsoft.com/office/drawing/2014/main" id="{38104B05-7515-B13D-96B9-5EC9347BCD92}"/>
              </a:ext>
            </a:extLst>
          </p:cNvPr>
          <p:cNvSpPr/>
          <p:nvPr/>
        </p:nvSpPr>
        <p:spPr>
          <a:xfrm>
            <a:off x="254000" y="3962400"/>
            <a:ext cx="8636000" cy="558800"/>
          </a:xfrm>
          <a:prstGeom prst="rect">
            <a:avLst/>
          </a:prstGeom>
          <a:solidFill>
            <a:srgbClr val="001A3A"/>
          </a:solidFill>
          <a:ln w="12700">
            <a:solidFill>
              <a:srgbClr val="0066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75589351-94D9-8CD4-BE87-878080C82864}"/>
              </a:ext>
            </a:extLst>
          </p:cNvPr>
          <p:cNvSpPr txBox="1"/>
          <p:nvPr/>
        </p:nvSpPr>
        <p:spPr>
          <a:xfrm>
            <a:off x="254000" y="3962400"/>
            <a:ext cx="8636000" cy="230832"/>
          </a:xfrm>
          <a:prstGeom prst="rect">
            <a:avLst/>
          </a:prstGeom>
          <a:noFill/>
        </p:spPr>
        <p:txBody>
          <a:bodyPr vert="horz" wrap="square" rtlCol="0">
            <a:spAutoFit/>
          </a:bodyPr>
          <a:lstStyle/>
          <a:p>
            <a:pPr algn="ctr"/>
            <a:r>
              <a:rPr lang="en-US" sz="900" b="1">
                <a:solidFill>
                  <a:srgbClr val="FF8000"/>
                </a:solidFill>
                <a:latin typeface="Segoe UI" panose="020B0502040204020203" pitchFamily="34" charset="0"/>
              </a:rPr>
              <a:t>LEVEL 1 ENSEMBLE VOTING</a:t>
            </a:r>
          </a:p>
        </p:txBody>
      </p:sp>
      <p:sp>
        <p:nvSpPr>
          <p:cNvPr id="39" name="TextBox 38">
            <a:extLst>
              <a:ext uri="{FF2B5EF4-FFF2-40B4-BE49-F238E27FC236}">
                <a16:creationId xmlns:a16="http://schemas.microsoft.com/office/drawing/2014/main" id="{17BC5700-AAD3-9CDB-D1BB-BED9141AC501}"/>
              </a:ext>
            </a:extLst>
          </p:cNvPr>
          <p:cNvSpPr txBox="1"/>
          <p:nvPr/>
        </p:nvSpPr>
        <p:spPr>
          <a:xfrm>
            <a:off x="254000" y="4165600"/>
            <a:ext cx="8636000" cy="230832"/>
          </a:xfrm>
          <a:prstGeom prst="rect">
            <a:avLst/>
          </a:prstGeom>
          <a:noFill/>
        </p:spPr>
        <p:txBody>
          <a:bodyPr vert="horz" wrap="square" rtlCol="0">
            <a:spAutoFit/>
          </a:bodyPr>
          <a:lstStyle/>
          <a:p>
            <a:pPr algn="ctr"/>
            <a:r>
              <a:rPr lang="en-US" sz="900">
                <a:solidFill>
                  <a:srgbClr val="AADDFF"/>
                </a:solidFill>
                <a:latin typeface="Segoe UI" panose="020B0502040204020203" pitchFamily="34" charset="0"/>
              </a:rPr>
              <a:t>3/3 agree =&gt; Auto-accept (&gt;=0.97)     2/3 agree =&gt; Flag deviation (0.85)     1/3 found =&gt; Mandatory review (0.65)     0/3 =&gt; BLOCK export (MissingData)</a:t>
            </a:r>
          </a:p>
        </p:txBody>
      </p:sp>
      <p:sp>
        <p:nvSpPr>
          <p:cNvPr id="40" name="Rectangle 39">
            <a:extLst>
              <a:ext uri="{FF2B5EF4-FFF2-40B4-BE49-F238E27FC236}">
                <a16:creationId xmlns:a16="http://schemas.microsoft.com/office/drawing/2014/main" id="{D0B7FFCF-1567-12A0-916C-F66208409C2E}"/>
              </a:ext>
            </a:extLst>
          </p:cNvPr>
          <p:cNvSpPr/>
          <p:nvPr/>
        </p:nvSpPr>
        <p:spPr>
          <a:xfrm>
            <a:off x="254000" y="4597400"/>
            <a:ext cx="4216400" cy="609600"/>
          </a:xfrm>
          <a:prstGeom prst="rect">
            <a:avLst/>
          </a:prstGeom>
          <a:solidFill>
            <a:srgbClr val="1A2A1A"/>
          </a:solidFill>
          <a:ln w="12700">
            <a:solidFill>
              <a:srgbClr val="3366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75B9346E-5328-DAF4-79BC-411CEF3E9AF8}"/>
              </a:ext>
            </a:extLst>
          </p:cNvPr>
          <p:cNvSpPr txBox="1"/>
          <p:nvPr/>
        </p:nvSpPr>
        <p:spPr>
          <a:xfrm>
            <a:off x="330200" y="4622800"/>
            <a:ext cx="4064000" cy="215444"/>
          </a:xfrm>
          <a:prstGeom prst="rect">
            <a:avLst/>
          </a:prstGeom>
          <a:noFill/>
        </p:spPr>
        <p:txBody>
          <a:bodyPr vert="horz" wrap="square" rtlCol="0">
            <a:spAutoFit/>
          </a:bodyPr>
          <a:lstStyle/>
          <a:p>
            <a:r>
              <a:rPr lang="en-US" sz="800" b="1">
                <a:solidFill>
                  <a:srgbClr val="1E7A1E"/>
                </a:solidFill>
                <a:latin typeface="Segoe UI" panose="020B0502040204020203" pitchFamily="34" charset="0"/>
              </a:rPr>
              <a:t>DOMAIN VALIDATION</a:t>
            </a:r>
          </a:p>
        </p:txBody>
      </p:sp>
      <p:sp>
        <p:nvSpPr>
          <p:cNvPr id="42" name="TextBox 41">
            <a:extLst>
              <a:ext uri="{FF2B5EF4-FFF2-40B4-BE49-F238E27FC236}">
                <a16:creationId xmlns:a16="http://schemas.microsoft.com/office/drawing/2014/main" id="{920DE44B-5153-DA8C-54C5-7D3FFEC873B6}"/>
              </a:ext>
            </a:extLst>
          </p:cNvPr>
          <p:cNvSpPr txBox="1"/>
          <p:nvPr/>
        </p:nvSpPr>
        <p:spPr>
          <a:xfrm>
            <a:off x="330200" y="4800600"/>
            <a:ext cx="4064000" cy="200055"/>
          </a:xfrm>
          <a:prstGeom prst="rect">
            <a:avLst/>
          </a:prstGeom>
          <a:noFill/>
        </p:spPr>
        <p:txBody>
          <a:bodyPr vert="horz" wrap="square" rtlCol="0">
            <a:spAutoFit/>
          </a:bodyPr>
          <a:lstStyle/>
          <a:p>
            <a:r>
              <a:rPr lang="en-US" sz="700">
                <a:solidFill>
                  <a:srgbClr val="AAFFAA"/>
                </a:solidFill>
                <a:latin typeface="Segoe UI" panose="020B0502040204020203" pitchFamily="34" charset="0"/>
              </a:rPr>
              <a:t>ParameterAllowedValues.cs  |  IEC standard checks  |  IP/IAC format  |  Cross-param consistency</a:t>
            </a:r>
          </a:p>
        </p:txBody>
      </p:sp>
      <p:sp>
        <p:nvSpPr>
          <p:cNvPr id="43" name="Rectangle 42">
            <a:extLst>
              <a:ext uri="{FF2B5EF4-FFF2-40B4-BE49-F238E27FC236}">
                <a16:creationId xmlns:a16="http://schemas.microsoft.com/office/drawing/2014/main" id="{27FF676F-4E90-EB48-76C4-D9BE1308911D}"/>
              </a:ext>
            </a:extLst>
          </p:cNvPr>
          <p:cNvSpPr/>
          <p:nvPr/>
        </p:nvSpPr>
        <p:spPr>
          <a:xfrm>
            <a:off x="4521200" y="4597400"/>
            <a:ext cx="4368800" cy="609600"/>
          </a:xfrm>
          <a:prstGeom prst="rect">
            <a:avLst/>
          </a:prstGeom>
          <a:solidFill>
            <a:srgbClr val="3A1A1A"/>
          </a:solidFill>
          <a:ln w="12700">
            <a:solidFill>
              <a:srgbClr val="AA4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B635BD28-1207-95C1-E9D6-EC7760E524CC}"/>
              </a:ext>
            </a:extLst>
          </p:cNvPr>
          <p:cNvSpPr txBox="1"/>
          <p:nvPr/>
        </p:nvSpPr>
        <p:spPr>
          <a:xfrm>
            <a:off x="4597400" y="4622800"/>
            <a:ext cx="4216400" cy="215444"/>
          </a:xfrm>
          <a:prstGeom prst="rect">
            <a:avLst/>
          </a:prstGeom>
          <a:noFill/>
        </p:spPr>
        <p:txBody>
          <a:bodyPr vert="horz" wrap="square" rtlCol="0">
            <a:spAutoFit/>
          </a:bodyPr>
          <a:lstStyle/>
          <a:p>
            <a:r>
              <a:rPr lang="en-US" sz="800" b="1">
                <a:solidFill>
                  <a:srgbClr val="0078C8"/>
                </a:solidFill>
                <a:latin typeface="Segoe UI" panose="020B0502040204020203" pitchFamily="34" charset="0"/>
              </a:rPr>
              <a:t>SQL SERVER (EF Core 9)</a:t>
            </a:r>
          </a:p>
        </p:txBody>
      </p:sp>
      <p:sp>
        <p:nvSpPr>
          <p:cNvPr id="45" name="TextBox 44">
            <a:extLst>
              <a:ext uri="{FF2B5EF4-FFF2-40B4-BE49-F238E27FC236}">
                <a16:creationId xmlns:a16="http://schemas.microsoft.com/office/drawing/2014/main" id="{3BE85E31-E8F6-3517-6E70-6AC7EC12B0A8}"/>
              </a:ext>
            </a:extLst>
          </p:cNvPr>
          <p:cNvSpPr txBox="1"/>
          <p:nvPr/>
        </p:nvSpPr>
        <p:spPr>
          <a:xfrm>
            <a:off x="4597400" y="4800600"/>
            <a:ext cx="4216400" cy="307777"/>
          </a:xfrm>
          <a:prstGeom prst="rect">
            <a:avLst/>
          </a:prstGeom>
          <a:noFill/>
        </p:spPr>
        <p:txBody>
          <a:bodyPr vert="horz" wrap="square" rtlCol="0">
            <a:spAutoFit/>
          </a:bodyPr>
          <a:lstStyle/>
          <a:p>
            <a:r>
              <a:rPr lang="en-US" sz="700">
                <a:solidFill>
                  <a:srgbClr val="FFBBAA"/>
                </a:solidFill>
                <a:latin typeface="Segoe UI" panose="020B0502040204020203" pitchFamily="34" charset="0"/>
              </a:rPr>
              <a:t>DocumentPackages | ExtractedParameters | CubicleDeviceExtractions | SwitchgearInstances | DeviationItems</a:t>
            </a:r>
          </a:p>
        </p:txBody>
      </p:sp>
      <p:sp>
        <p:nvSpPr>
          <p:cNvPr id="46" name="Rectangle 45">
            <a:extLst>
              <a:ext uri="{FF2B5EF4-FFF2-40B4-BE49-F238E27FC236}">
                <a16:creationId xmlns:a16="http://schemas.microsoft.com/office/drawing/2014/main" id="{8E9FB1B0-47B2-102C-EC75-DFB80FDDFCE1}"/>
              </a:ext>
            </a:extLst>
          </p:cNvPr>
          <p:cNvSpPr/>
          <p:nvPr/>
        </p:nvSpPr>
        <p:spPr>
          <a:xfrm>
            <a:off x="254000" y="5283200"/>
            <a:ext cx="8636000" cy="406400"/>
          </a:xfrm>
          <a:prstGeom prst="rect">
            <a:avLst/>
          </a:prstGeom>
          <a:solidFill>
            <a:srgbClr val="0D0D0D"/>
          </a:solidFill>
          <a:ln w="12700">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FC61D6B2-A4BB-CF40-AFE5-239731FF2B04}"/>
              </a:ext>
            </a:extLst>
          </p:cNvPr>
          <p:cNvSpPr txBox="1"/>
          <p:nvPr/>
        </p:nvSpPr>
        <p:spPr>
          <a:xfrm>
            <a:off x="254000" y="5308600"/>
            <a:ext cx="8636000" cy="200055"/>
          </a:xfrm>
          <a:prstGeom prst="rect">
            <a:avLst/>
          </a:prstGeom>
          <a:noFill/>
        </p:spPr>
        <p:txBody>
          <a:bodyPr vert="horz" wrap="square" rtlCol="0">
            <a:spAutoFit/>
          </a:bodyPr>
          <a:lstStyle/>
          <a:p>
            <a:pPr algn="ctr"/>
            <a:r>
              <a:rPr lang="en-US" sz="700" b="1">
                <a:solidFill>
                  <a:srgbClr val="888888"/>
                </a:solidFill>
                <a:latin typeface="Segoe UI" panose="020B0502040204020203" pitchFamily="34" charset="0"/>
              </a:rPr>
              <a:t>AZURE SERVICES</a:t>
            </a:r>
          </a:p>
        </p:txBody>
      </p:sp>
      <p:sp>
        <p:nvSpPr>
          <p:cNvPr id="48" name="TextBox 47">
            <a:extLst>
              <a:ext uri="{FF2B5EF4-FFF2-40B4-BE49-F238E27FC236}">
                <a16:creationId xmlns:a16="http://schemas.microsoft.com/office/drawing/2014/main" id="{F8106A1A-D766-519F-9B1E-473E0AEBAA86}"/>
              </a:ext>
            </a:extLst>
          </p:cNvPr>
          <p:cNvSpPr txBox="1"/>
          <p:nvPr/>
        </p:nvSpPr>
        <p:spPr>
          <a:xfrm>
            <a:off x="254000" y="5486400"/>
            <a:ext cx="8636000" cy="200055"/>
          </a:xfrm>
          <a:prstGeom prst="rect">
            <a:avLst/>
          </a:prstGeom>
          <a:noFill/>
        </p:spPr>
        <p:txBody>
          <a:bodyPr vert="horz" wrap="square" rtlCol="0">
            <a:spAutoFit/>
          </a:bodyPr>
          <a:lstStyle/>
          <a:p>
            <a:pPr algn="ctr"/>
            <a:r>
              <a:rPr lang="en-US" sz="700">
                <a:solidFill>
                  <a:srgbClr val="666666"/>
                </a:solidFill>
                <a:latin typeface="Segoe UI" panose="020B0502040204020203" pitchFamily="34" charset="0"/>
              </a:rPr>
              <a:t>Document Intelligence  |  OpenAI gpt-4o-mini + gpt-4o  |  AI Vision Read API  |  AI Search (vector + BM25)  |  OpenAI Embeddings</a:t>
            </a:r>
          </a:p>
        </p:txBody>
      </p:sp>
      <p:sp>
        <p:nvSpPr>
          <p:cNvPr id="49" name="Rectangle 48">
            <a:extLst>
              <a:ext uri="{FF2B5EF4-FFF2-40B4-BE49-F238E27FC236}">
                <a16:creationId xmlns:a16="http://schemas.microsoft.com/office/drawing/2014/main" id="{362FBC2F-4D34-6369-2E42-5576589BC50E}"/>
              </a:ext>
            </a:extLst>
          </p:cNvPr>
          <p:cNvSpPr/>
          <p:nvPr/>
        </p:nvSpPr>
        <p:spPr>
          <a:xfrm>
            <a:off x="254000" y="5740400"/>
            <a:ext cx="8636000" cy="406400"/>
          </a:xfrm>
          <a:prstGeom prst="rect">
            <a:avLst/>
          </a:prstGeom>
          <a:solidFill>
            <a:srgbClr val="1A1A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AC6D2EAE-FE2E-30E1-5609-A37C30E57E03}"/>
              </a:ext>
            </a:extLst>
          </p:cNvPr>
          <p:cNvSpPr txBox="1"/>
          <p:nvPr/>
        </p:nvSpPr>
        <p:spPr>
          <a:xfrm>
            <a:off x="254000" y="5740400"/>
            <a:ext cx="8636000" cy="215444"/>
          </a:xfrm>
          <a:prstGeom prst="rect">
            <a:avLst/>
          </a:prstGeom>
          <a:noFill/>
        </p:spPr>
        <p:txBody>
          <a:bodyPr vert="horz" wrap="square" rtlCol="0">
            <a:spAutoFit/>
          </a:bodyPr>
          <a:lstStyle/>
          <a:p>
            <a:pPr algn="ctr"/>
            <a:r>
              <a:rPr lang="en-US" sz="800">
                <a:solidFill>
                  <a:srgbClr val="666666"/>
                </a:solidFill>
                <a:latin typeface="Segoe UI" panose="020B0502040204020203" pitchFamily="34" charset="0"/>
              </a:rPr>
              <a:t>Python FastAPI microservice (port 8001) = Path B + Path C implementation | Degrades gracefully when offline</a:t>
            </a:r>
          </a:p>
        </p:txBody>
      </p:sp>
    </p:spTree>
    <p:extLst>
      <p:ext uri="{BB962C8B-B14F-4D97-AF65-F5344CB8AC3E}">
        <p14:creationId xmlns:p14="http://schemas.microsoft.com/office/powerpoint/2010/main" val="8716421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9F5801-7AB9-EB41-35DD-8B0F8C607EFD}"/>
              </a:ext>
            </a:extLst>
          </p:cNvPr>
          <p:cNvSpPr/>
          <p:nvPr/>
        </p:nvSpPr>
        <p:spPr>
          <a:xfrm>
            <a:off x="0" y="0"/>
            <a:ext cx="9144000" cy="6858000"/>
          </a:xfrm>
          <a:prstGeom prst="rect">
            <a:avLst/>
          </a:prstGeom>
          <a:solidFill>
            <a:srgbClr val="F0F0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AFABCC8A-E76B-C4DD-C9D5-2F45E9CCF43D}"/>
              </a:ext>
            </a:extLst>
          </p:cNvPr>
          <p:cNvSpPr/>
          <p:nvPr/>
        </p:nvSpPr>
        <p:spPr>
          <a:xfrm>
            <a:off x="0" y="0"/>
            <a:ext cx="9144000" cy="762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614C426-FE7B-0255-A985-5D8A9BCA9694}"/>
              </a:ext>
            </a:extLst>
          </p:cNvPr>
          <p:cNvSpPr txBox="1"/>
          <p:nvPr/>
        </p:nvSpPr>
        <p:spPr>
          <a:xfrm>
            <a:off x="254000" y="177800"/>
            <a:ext cx="8636000" cy="400110"/>
          </a:xfrm>
          <a:prstGeom prst="rect">
            <a:avLst/>
          </a:prstGeom>
          <a:noFill/>
        </p:spPr>
        <p:txBody>
          <a:bodyPr vert="horz" wrap="square" rtlCol="0">
            <a:spAutoFit/>
          </a:bodyPr>
          <a:lstStyle/>
          <a:p>
            <a:r>
              <a:rPr lang="en-US" sz="2000" b="1">
                <a:solidFill>
                  <a:srgbClr val="1E1E1E"/>
                </a:solidFill>
                <a:latin typeface="Segoe UI" panose="020B0502040204020203" pitchFamily="34" charset="0"/>
              </a:rPr>
              <a:t>Two-Level Extraction Model</a:t>
            </a:r>
          </a:p>
        </p:txBody>
      </p:sp>
      <p:sp>
        <p:nvSpPr>
          <p:cNvPr id="5" name="Rectangle 4">
            <a:extLst>
              <a:ext uri="{FF2B5EF4-FFF2-40B4-BE49-F238E27FC236}">
                <a16:creationId xmlns:a16="http://schemas.microsoft.com/office/drawing/2014/main" id="{09B1788E-4ABB-DF9D-1FFB-42D47F83C089}"/>
              </a:ext>
            </a:extLst>
          </p:cNvPr>
          <p:cNvSpPr/>
          <p:nvPr/>
        </p:nvSpPr>
        <p:spPr>
          <a:xfrm>
            <a:off x="254000" y="533400"/>
            <a:ext cx="8636000" cy="254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6B3897AC-3064-28C9-8F37-21159BB96CC2}"/>
              </a:ext>
            </a:extLst>
          </p:cNvPr>
          <p:cNvSpPr/>
          <p:nvPr/>
        </p:nvSpPr>
        <p:spPr>
          <a:xfrm>
            <a:off x="254000" y="635000"/>
            <a:ext cx="4292600" cy="2768600"/>
          </a:xfrm>
          <a:prstGeom prst="rect">
            <a:avLst/>
          </a:prstGeom>
          <a:solidFill>
            <a:srgbClr val="FFFFFF"/>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F0B63265-C5AB-08A5-6BB5-14B7F7F97F13}"/>
              </a:ext>
            </a:extLst>
          </p:cNvPr>
          <p:cNvSpPr/>
          <p:nvPr/>
        </p:nvSpPr>
        <p:spPr>
          <a:xfrm>
            <a:off x="254000" y="635000"/>
            <a:ext cx="4292600" cy="3302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0972800-9718-030F-CBC0-DD9D91193FAC}"/>
              </a:ext>
            </a:extLst>
          </p:cNvPr>
          <p:cNvSpPr txBox="1"/>
          <p:nvPr/>
        </p:nvSpPr>
        <p:spPr>
          <a:xfrm>
            <a:off x="254000" y="635000"/>
            <a:ext cx="4292600" cy="246221"/>
          </a:xfrm>
          <a:prstGeom prst="rect">
            <a:avLst/>
          </a:prstGeom>
          <a:noFill/>
        </p:spPr>
        <p:txBody>
          <a:bodyPr vert="horz" wrap="square" rtlCol="0">
            <a:spAutoFit/>
          </a:bodyPr>
          <a:lstStyle/>
          <a:p>
            <a:pPr algn="ctr"/>
            <a:r>
              <a:rPr lang="en-US" sz="1000" b="1">
                <a:solidFill>
                  <a:srgbClr val="FFFFFF"/>
                </a:solidFill>
                <a:latin typeface="Segoe UI" panose="020B0502040204020203" pitchFamily="34" charset="0"/>
              </a:rPr>
              <a:t>LEVEL 1 -- System Parameters (one per installation)</a:t>
            </a:r>
          </a:p>
        </p:txBody>
      </p:sp>
      <p:sp>
        <p:nvSpPr>
          <p:cNvPr id="9" name="Rectangle 8">
            <a:extLst>
              <a:ext uri="{FF2B5EF4-FFF2-40B4-BE49-F238E27FC236}">
                <a16:creationId xmlns:a16="http://schemas.microsoft.com/office/drawing/2014/main" id="{F2D2E746-1274-F176-336A-C85EC1A7F817}"/>
              </a:ext>
            </a:extLst>
          </p:cNvPr>
          <p:cNvSpPr/>
          <p:nvPr/>
        </p:nvSpPr>
        <p:spPr>
          <a:xfrm>
            <a:off x="355600" y="1016000"/>
            <a:ext cx="63500" cy="635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F363CEE4-5431-5E0E-98CA-52E8E242B29F}"/>
              </a:ext>
            </a:extLst>
          </p:cNvPr>
          <p:cNvSpPr txBox="1"/>
          <p:nvPr/>
        </p:nvSpPr>
        <p:spPr>
          <a:xfrm>
            <a:off x="482600" y="990600"/>
            <a:ext cx="995785" cy="215444"/>
          </a:xfrm>
          <a:prstGeom prst="rect">
            <a:avLst/>
          </a:prstGeom>
          <a:noFill/>
        </p:spPr>
        <p:txBody>
          <a:bodyPr vert="horz" wrap="none" rtlCol="0">
            <a:spAutoFit/>
          </a:bodyPr>
          <a:lstStyle/>
          <a:p>
            <a:r>
              <a:rPr lang="en-US" sz="800">
                <a:solidFill>
                  <a:srgbClr val="3D3D3D"/>
                </a:solidFill>
                <a:latin typeface="Segoe UI" panose="020B0502040204020203" pitchFamily="34" charset="0"/>
              </a:rPr>
              <a:t>OperatingVoltage</a:t>
            </a:r>
          </a:p>
        </p:txBody>
      </p:sp>
      <p:sp>
        <p:nvSpPr>
          <p:cNvPr id="11" name="Rectangle 10">
            <a:extLst>
              <a:ext uri="{FF2B5EF4-FFF2-40B4-BE49-F238E27FC236}">
                <a16:creationId xmlns:a16="http://schemas.microsoft.com/office/drawing/2014/main" id="{197F938A-4DF2-0AA9-85BF-63509F545489}"/>
              </a:ext>
            </a:extLst>
          </p:cNvPr>
          <p:cNvSpPr/>
          <p:nvPr/>
        </p:nvSpPr>
        <p:spPr>
          <a:xfrm>
            <a:off x="355600" y="1219200"/>
            <a:ext cx="63500" cy="635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F51CB790-376A-2426-F55E-EF0D83A11EE7}"/>
              </a:ext>
            </a:extLst>
          </p:cNvPr>
          <p:cNvSpPr txBox="1"/>
          <p:nvPr/>
        </p:nvSpPr>
        <p:spPr>
          <a:xfrm>
            <a:off x="482600" y="1193800"/>
            <a:ext cx="954107" cy="215444"/>
          </a:xfrm>
          <a:prstGeom prst="rect">
            <a:avLst/>
          </a:prstGeom>
          <a:noFill/>
        </p:spPr>
        <p:txBody>
          <a:bodyPr vert="horz" wrap="none" rtlCol="0">
            <a:spAutoFit/>
          </a:bodyPr>
          <a:lstStyle/>
          <a:p>
            <a:r>
              <a:rPr lang="en-US" sz="800">
                <a:solidFill>
                  <a:srgbClr val="3D3D3D"/>
                </a:solidFill>
                <a:latin typeface="Segoe UI" panose="020B0502040204020203" pitchFamily="34" charset="0"/>
              </a:rPr>
              <a:t>ShortCircuitLevel</a:t>
            </a:r>
          </a:p>
        </p:txBody>
      </p:sp>
      <p:sp>
        <p:nvSpPr>
          <p:cNvPr id="13" name="Rectangle 12">
            <a:extLst>
              <a:ext uri="{FF2B5EF4-FFF2-40B4-BE49-F238E27FC236}">
                <a16:creationId xmlns:a16="http://schemas.microsoft.com/office/drawing/2014/main" id="{6B0183DA-2EE3-82EF-36EB-6CBF52A40F3A}"/>
              </a:ext>
            </a:extLst>
          </p:cNvPr>
          <p:cNvSpPr/>
          <p:nvPr/>
        </p:nvSpPr>
        <p:spPr>
          <a:xfrm>
            <a:off x="355600" y="1422400"/>
            <a:ext cx="63500" cy="635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95C7659B-00EE-F8EA-92A0-9606319057D1}"/>
              </a:ext>
            </a:extLst>
          </p:cNvPr>
          <p:cNvSpPr txBox="1"/>
          <p:nvPr/>
        </p:nvSpPr>
        <p:spPr>
          <a:xfrm>
            <a:off x="482600" y="1397000"/>
            <a:ext cx="1103187" cy="215444"/>
          </a:xfrm>
          <a:prstGeom prst="rect">
            <a:avLst/>
          </a:prstGeom>
          <a:noFill/>
        </p:spPr>
        <p:txBody>
          <a:bodyPr vert="horz" wrap="none" rtlCol="0">
            <a:spAutoFit/>
          </a:bodyPr>
          <a:lstStyle/>
          <a:p>
            <a:r>
              <a:rPr lang="en-US" sz="800">
                <a:solidFill>
                  <a:srgbClr val="3D3D3D"/>
                </a:solidFill>
                <a:latin typeface="Segoe UI" panose="020B0502040204020203" pitchFamily="34" charset="0"/>
              </a:rPr>
              <a:t>RatedBusbarCurrent</a:t>
            </a:r>
          </a:p>
        </p:txBody>
      </p:sp>
      <p:sp>
        <p:nvSpPr>
          <p:cNvPr id="15" name="Rectangle 14">
            <a:extLst>
              <a:ext uri="{FF2B5EF4-FFF2-40B4-BE49-F238E27FC236}">
                <a16:creationId xmlns:a16="http://schemas.microsoft.com/office/drawing/2014/main" id="{9177C15C-79F6-1F18-4BEA-4CAAC85902CF}"/>
              </a:ext>
            </a:extLst>
          </p:cNvPr>
          <p:cNvSpPr/>
          <p:nvPr/>
        </p:nvSpPr>
        <p:spPr>
          <a:xfrm>
            <a:off x="355600" y="1625600"/>
            <a:ext cx="63500" cy="635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673742BD-2C1A-873C-52BA-F698FE14F484}"/>
              </a:ext>
            </a:extLst>
          </p:cNvPr>
          <p:cNvSpPr txBox="1"/>
          <p:nvPr/>
        </p:nvSpPr>
        <p:spPr>
          <a:xfrm>
            <a:off x="482600" y="1600200"/>
            <a:ext cx="1039067" cy="215444"/>
          </a:xfrm>
          <a:prstGeom prst="rect">
            <a:avLst/>
          </a:prstGeom>
          <a:noFill/>
        </p:spPr>
        <p:txBody>
          <a:bodyPr vert="horz" wrap="none" rtlCol="0">
            <a:spAutoFit/>
          </a:bodyPr>
          <a:lstStyle/>
          <a:p>
            <a:r>
              <a:rPr lang="en-US" sz="800">
                <a:solidFill>
                  <a:srgbClr val="3D3D3D"/>
                </a:solidFill>
                <a:latin typeface="Segoe UI" panose="020B0502040204020203" pitchFamily="34" charset="0"/>
              </a:rPr>
              <a:t>PanelRatedCurrent</a:t>
            </a:r>
          </a:p>
        </p:txBody>
      </p:sp>
      <p:sp>
        <p:nvSpPr>
          <p:cNvPr id="17" name="Rectangle 16">
            <a:extLst>
              <a:ext uri="{FF2B5EF4-FFF2-40B4-BE49-F238E27FC236}">
                <a16:creationId xmlns:a16="http://schemas.microsoft.com/office/drawing/2014/main" id="{737AD64A-FAA9-E927-552A-62028F0DBFD1}"/>
              </a:ext>
            </a:extLst>
          </p:cNvPr>
          <p:cNvSpPr/>
          <p:nvPr/>
        </p:nvSpPr>
        <p:spPr>
          <a:xfrm>
            <a:off x="355600" y="1828800"/>
            <a:ext cx="63500" cy="635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29D10D5A-65F5-B019-3107-7DA7AD0B7BE7}"/>
              </a:ext>
            </a:extLst>
          </p:cNvPr>
          <p:cNvSpPr txBox="1"/>
          <p:nvPr/>
        </p:nvSpPr>
        <p:spPr>
          <a:xfrm>
            <a:off x="482600" y="1803400"/>
            <a:ext cx="654346" cy="215444"/>
          </a:xfrm>
          <a:prstGeom prst="rect">
            <a:avLst/>
          </a:prstGeom>
          <a:noFill/>
        </p:spPr>
        <p:txBody>
          <a:bodyPr vert="horz" wrap="none" rtlCol="0">
            <a:spAutoFit/>
          </a:bodyPr>
          <a:lstStyle/>
          <a:p>
            <a:r>
              <a:rPr lang="en-US" sz="800">
                <a:solidFill>
                  <a:srgbClr val="3D3D3D"/>
                </a:solidFill>
                <a:latin typeface="Segoe UI" panose="020B0502040204020203" pitchFamily="34" charset="0"/>
              </a:rPr>
              <a:t>Frequency</a:t>
            </a:r>
          </a:p>
        </p:txBody>
      </p:sp>
      <p:sp>
        <p:nvSpPr>
          <p:cNvPr id="19" name="Rectangle 18">
            <a:extLst>
              <a:ext uri="{FF2B5EF4-FFF2-40B4-BE49-F238E27FC236}">
                <a16:creationId xmlns:a16="http://schemas.microsoft.com/office/drawing/2014/main" id="{CC03B2A5-2E8E-EF22-1FFB-C00F5B2E60BF}"/>
              </a:ext>
            </a:extLst>
          </p:cNvPr>
          <p:cNvSpPr/>
          <p:nvPr/>
        </p:nvSpPr>
        <p:spPr>
          <a:xfrm>
            <a:off x="355600" y="2032000"/>
            <a:ext cx="63500" cy="635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16951D7C-9308-34DB-32C2-DA4910132BC3}"/>
              </a:ext>
            </a:extLst>
          </p:cNvPr>
          <p:cNvSpPr txBox="1"/>
          <p:nvPr/>
        </p:nvSpPr>
        <p:spPr>
          <a:xfrm>
            <a:off x="482600" y="2006600"/>
            <a:ext cx="503664" cy="215444"/>
          </a:xfrm>
          <a:prstGeom prst="rect">
            <a:avLst/>
          </a:prstGeom>
          <a:noFill/>
        </p:spPr>
        <p:txBody>
          <a:bodyPr vert="horz" wrap="none" rtlCol="0">
            <a:spAutoFit/>
          </a:bodyPr>
          <a:lstStyle/>
          <a:p>
            <a:r>
              <a:rPr lang="en-US" sz="800">
                <a:solidFill>
                  <a:srgbClr val="3D3D3D"/>
                </a:solidFill>
                <a:latin typeface="Segoe UI" panose="020B0502040204020203" pitchFamily="34" charset="0"/>
              </a:rPr>
              <a:t>Market</a:t>
            </a:r>
          </a:p>
        </p:txBody>
      </p:sp>
      <p:sp>
        <p:nvSpPr>
          <p:cNvPr id="21" name="Rectangle 20">
            <a:extLst>
              <a:ext uri="{FF2B5EF4-FFF2-40B4-BE49-F238E27FC236}">
                <a16:creationId xmlns:a16="http://schemas.microsoft.com/office/drawing/2014/main" id="{EC8F82B0-8200-6844-720C-C4D7E4B5E211}"/>
              </a:ext>
            </a:extLst>
          </p:cNvPr>
          <p:cNvSpPr/>
          <p:nvPr/>
        </p:nvSpPr>
        <p:spPr>
          <a:xfrm>
            <a:off x="2489200" y="1016000"/>
            <a:ext cx="63500" cy="635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0DE78F36-E999-A65F-6D6B-2AD038795E00}"/>
              </a:ext>
            </a:extLst>
          </p:cNvPr>
          <p:cNvSpPr txBox="1"/>
          <p:nvPr/>
        </p:nvSpPr>
        <p:spPr>
          <a:xfrm>
            <a:off x="2616200" y="990600"/>
            <a:ext cx="1088760" cy="215444"/>
          </a:xfrm>
          <a:prstGeom prst="rect">
            <a:avLst/>
          </a:prstGeom>
          <a:noFill/>
        </p:spPr>
        <p:txBody>
          <a:bodyPr vert="horz" wrap="none" rtlCol="0">
            <a:spAutoFit/>
          </a:bodyPr>
          <a:lstStyle/>
          <a:p>
            <a:r>
              <a:rPr lang="en-US" sz="800">
                <a:solidFill>
                  <a:srgbClr val="3D3D3D"/>
                </a:solidFill>
                <a:latin typeface="Segoe UI" panose="020B0502040204020203" pitchFamily="34" charset="0"/>
              </a:rPr>
              <a:t>BusbarArrangement</a:t>
            </a:r>
          </a:p>
        </p:txBody>
      </p:sp>
      <p:sp>
        <p:nvSpPr>
          <p:cNvPr id="23" name="Rectangle 22">
            <a:extLst>
              <a:ext uri="{FF2B5EF4-FFF2-40B4-BE49-F238E27FC236}">
                <a16:creationId xmlns:a16="http://schemas.microsoft.com/office/drawing/2014/main" id="{0681A7F5-BB2A-7314-DA36-8DF8F0D13A65}"/>
              </a:ext>
            </a:extLst>
          </p:cNvPr>
          <p:cNvSpPr/>
          <p:nvPr/>
        </p:nvSpPr>
        <p:spPr>
          <a:xfrm>
            <a:off x="2489200" y="1219200"/>
            <a:ext cx="63500" cy="635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BEC7BB1E-B377-5F5C-739E-F6D28D6F6AF1}"/>
              </a:ext>
            </a:extLst>
          </p:cNvPr>
          <p:cNvSpPr txBox="1"/>
          <p:nvPr/>
        </p:nvSpPr>
        <p:spPr>
          <a:xfrm>
            <a:off x="2616200" y="1193800"/>
            <a:ext cx="627095" cy="215444"/>
          </a:xfrm>
          <a:prstGeom prst="rect">
            <a:avLst/>
          </a:prstGeom>
          <a:noFill/>
        </p:spPr>
        <p:txBody>
          <a:bodyPr vert="horz" wrap="none" rtlCol="0">
            <a:spAutoFit/>
          </a:bodyPr>
          <a:lstStyle/>
          <a:p>
            <a:r>
              <a:rPr lang="en-US" sz="800">
                <a:solidFill>
                  <a:srgbClr val="3D3D3D"/>
                </a:solidFill>
                <a:latin typeface="Segoe UI" panose="020B0502040204020203" pitchFamily="34" charset="0"/>
              </a:rPr>
              <a:t>Insulation</a:t>
            </a:r>
          </a:p>
        </p:txBody>
      </p:sp>
      <p:sp>
        <p:nvSpPr>
          <p:cNvPr id="25" name="Rectangle 24">
            <a:extLst>
              <a:ext uri="{FF2B5EF4-FFF2-40B4-BE49-F238E27FC236}">
                <a16:creationId xmlns:a16="http://schemas.microsoft.com/office/drawing/2014/main" id="{0E10D5A9-F89B-F465-0B19-96A5C99D66B2}"/>
              </a:ext>
            </a:extLst>
          </p:cNvPr>
          <p:cNvSpPr/>
          <p:nvPr/>
        </p:nvSpPr>
        <p:spPr>
          <a:xfrm>
            <a:off x="2489200" y="1422400"/>
            <a:ext cx="63500" cy="635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F9DBAA9F-0D52-0314-5029-036BFF7C4D87}"/>
              </a:ext>
            </a:extLst>
          </p:cNvPr>
          <p:cNvSpPr txBox="1"/>
          <p:nvPr/>
        </p:nvSpPr>
        <p:spPr>
          <a:xfrm>
            <a:off x="2616200" y="1397000"/>
            <a:ext cx="720069" cy="215444"/>
          </a:xfrm>
          <a:prstGeom prst="rect">
            <a:avLst/>
          </a:prstGeom>
          <a:noFill/>
        </p:spPr>
        <p:txBody>
          <a:bodyPr vert="horz" wrap="none" rtlCol="0">
            <a:spAutoFit/>
          </a:bodyPr>
          <a:lstStyle/>
          <a:p>
            <a:r>
              <a:rPr lang="en-US" sz="800">
                <a:solidFill>
                  <a:srgbClr val="3D3D3D"/>
                </a:solidFill>
                <a:latin typeface="Segoe UI" panose="020B0502040204020203" pitchFamily="34" charset="0"/>
              </a:rPr>
              <a:t>Distribution</a:t>
            </a:r>
          </a:p>
        </p:txBody>
      </p:sp>
      <p:sp>
        <p:nvSpPr>
          <p:cNvPr id="27" name="Rectangle 26">
            <a:extLst>
              <a:ext uri="{FF2B5EF4-FFF2-40B4-BE49-F238E27FC236}">
                <a16:creationId xmlns:a16="http://schemas.microsoft.com/office/drawing/2014/main" id="{5F708BB5-66C7-1DB3-2D65-D67986B02756}"/>
              </a:ext>
            </a:extLst>
          </p:cNvPr>
          <p:cNvSpPr/>
          <p:nvPr/>
        </p:nvSpPr>
        <p:spPr>
          <a:xfrm>
            <a:off x="2489200" y="1625600"/>
            <a:ext cx="63500" cy="635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2D25D8A5-FB2C-0A88-D226-B4979A4ADE50}"/>
              </a:ext>
            </a:extLst>
          </p:cNvPr>
          <p:cNvSpPr txBox="1"/>
          <p:nvPr/>
        </p:nvSpPr>
        <p:spPr>
          <a:xfrm>
            <a:off x="2616200" y="1600200"/>
            <a:ext cx="966931" cy="215444"/>
          </a:xfrm>
          <a:prstGeom prst="rect">
            <a:avLst/>
          </a:prstGeom>
          <a:noFill/>
        </p:spPr>
        <p:txBody>
          <a:bodyPr vert="horz" wrap="none" rtlCol="0">
            <a:spAutoFit/>
          </a:bodyPr>
          <a:lstStyle/>
          <a:p>
            <a:r>
              <a:rPr lang="en-US" sz="800">
                <a:solidFill>
                  <a:srgbClr val="3D3D3D"/>
                </a:solidFill>
                <a:latin typeface="Segoe UI" panose="020B0502040204020203" pitchFamily="34" charset="0"/>
              </a:rPr>
              <a:t>IngressProtection</a:t>
            </a:r>
          </a:p>
        </p:txBody>
      </p:sp>
      <p:sp>
        <p:nvSpPr>
          <p:cNvPr id="29" name="Rectangle 28">
            <a:extLst>
              <a:ext uri="{FF2B5EF4-FFF2-40B4-BE49-F238E27FC236}">
                <a16:creationId xmlns:a16="http://schemas.microsoft.com/office/drawing/2014/main" id="{0EBEC1F3-4DCA-2BBD-A41B-33AEAFDD9698}"/>
              </a:ext>
            </a:extLst>
          </p:cNvPr>
          <p:cNvSpPr/>
          <p:nvPr/>
        </p:nvSpPr>
        <p:spPr>
          <a:xfrm>
            <a:off x="2489200" y="1828800"/>
            <a:ext cx="63500" cy="635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D36D291F-12AD-6E79-B43F-2BDAD7F42E1B}"/>
              </a:ext>
            </a:extLst>
          </p:cNvPr>
          <p:cNvSpPr txBox="1"/>
          <p:nvPr/>
        </p:nvSpPr>
        <p:spPr>
          <a:xfrm>
            <a:off x="2616200" y="1803400"/>
            <a:ext cx="1285929" cy="215444"/>
          </a:xfrm>
          <a:prstGeom prst="rect">
            <a:avLst/>
          </a:prstGeom>
          <a:noFill/>
        </p:spPr>
        <p:txBody>
          <a:bodyPr vert="horz" wrap="none" rtlCol="0">
            <a:spAutoFit/>
          </a:bodyPr>
          <a:lstStyle/>
          <a:p>
            <a:r>
              <a:rPr lang="en-US" sz="800">
                <a:solidFill>
                  <a:srgbClr val="3D3D3D"/>
                </a:solidFill>
                <a:latin typeface="Segoe UI" panose="020B0502040204020203" pitchFamily="34" charset="0"/>
              </a:rPr>
              <a:t>InternalArcClassification</a:t>
            </a:r>
          </a:p>
        </p:txBody>
      </p:sp>
      <p:sp>
        <p:nvSpPr>
          <p:cNvPr id="31" name="Rectangle 30">
            <a:extLst>
              <a:ext uri="{FF2B5EF4-FFF2-40B4-BE49-F238E27FC236}">
                <a16:creationId xmlns:a16="http://schemas.microsoft.com/office/drawing/2014/main" id="{253CAA17-A14F-187A-A146-24B154F8B734}"/>
              </a:ext>
            </a:extLst>
          </p:cNvPr>
          <p:cNvSpPr/>
          <p:nvPr/>
        </p:nvSpPr>
        <p:spPr>
          <a:xfrm>
            <a:off x="254000" y="3175000"/>
            <a:ext cx="4292600" cy="203200"/>
          </a:xfrm>
          <a:prstGeom prst="rect">
            <a:avLst/>
          </a:prstGeom>
          <a:solidFill>
            <a:srgbClr val="F0F0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00D3FA0B-C397-1B5F-180F-B613609AAD92}"/>
              </a:ext>
            </a:extLst>
          </p:cNvPr>
          <p:cNvSpPr txBox="1"/>
          <p:nvPr/>
        </p:nvSpPr>
        <p:spPr>
          <a:xfrm>
            <a:off x="254000" y="3175000"/>
            <a:ext cx="4292600" cy="200055"/>
          </a:xfrm>
          <a:prstGeom prst="rect">
            <a:avLst/>
          </a:prstGeom>
          <a:noFill/>
        </p:spPr>
        <p:txBody>
          <a:bodyPr vert="horz" wrap="square" rtlCol="0">
            <a:spAutoFit/>
          </a:bodyPr>
          <a:lstStyle/>
          <a:p>
            <a:pPr algn="ctr"/>
            <a:r>
              <a:rPr lang="en-US" sz="700">
                <a:solidFill>
                  <a:srgbClr val="000088"/>
                </a:solidFill>
                <a:latin typeface="Segoe UI" panose="020B0502040204020203" pitchFamily="34" charset="0"/>
              </a:rPr>
              <a:t>Stored: ExtractedParameters  |  Used: ABB matching, XML header</a:t>
            </a:r>
          </a:p>
        </p:txBody>
      </p:sp>
      <p:sp>
        <p:nvSpPr>
          <p:cNvPr id="33" name="Rectangle 32">
            <a:extLst>
              <a:ext uri="{FF2B5EF4-FFF2-40B4-BE49-F238E27FC236}">
                <a16:creationId xmlns:a16="http://schemas.microsoft.com/office/drawing/2014/main" id="{68E3EC0D-B3ED-2354-3A12-7AA365048C1B}"/>
              </a:ext>
            </a:extLst>
          </p:cNvPr>
          <p:cNvSpPr/>
          <p:nvPr/>
        </p:nvSpPr>
        <p:spPr>
          <a:xfrm>
            <a:off x="4597400" y="635000"/>
            <a:ext cx="4292600" cy="2768600"/>
          </a:xfrm>
          <a:prstGeom prst="rect">
            <a:avLst/>
          </a:prstGeom>
          <a:solidFill>
            <a:srgbClr val="FFFFFF"/>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74CF4A7D-563D-B0AC-069F-0D0DC54F9B81}"/>
              </a:ext>
            </a:extLst>
          </p:cNvPr>
          <p:cNvSpPr/>
          <p:nvPr/>
        </p:nvSpPr>
        <p:spPr>
          <a:xfrm>
            <a:off x="4597400" y="635000"/>
            <a:ext cx="4292600" cy="330200"/>
          </a:xfrm>
          <a:prstGeom prst="rect">
            <a:avLst/>
          </a:prstGeom>
          <a:solidFill>
            <a:srgbClr val="0078C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0D40EB2C-0DE5-4930-9649-5EB25DDB9611}"/>
              </a:ext>
            </a:extLst>
          </p:cNvPr>
          <p:cNvSpPr txBox="1"/>
          <p:nvPr/>
        </p:nvSpPr>
        <p:spPr>
          <a:xfrm>
            <a:off x="4597400" y="635000"/>
            <a:ext cx="4292600" cy="246221"/>
          </a:xfrm>
          <a:prstGeom prst="rect">
            <a:avLst/>
          </a:prstGeom>
          <a:noFill/>
        </p:spPr>
        <p:txBody>
          <a:bodyPr vert="horz" wrap="square" rtlCol="0">
            <a:spAutoFit/>
          </a:bodyPr>
          <a:lstStyle/>
          <a:p>
            <a:pPr algn="ctr"/>
            <a:r>
              <a:rPr lang="en-US" sz="1000" b="1">
                <a:solidFill>
                  <a:srgbClr val="FFFFFF"/>
                </a:solidFill>
                <a:latin typeface="Segoe UI" panose="020B0502040204020203" pitchFamily="34" charset="0"/>
              </a:rPr>
              <a:t>LEVEL 2 -- Device Parameters (one per cubicle)</a:t>
            </a:r>
          </a:p>
        </p:txBody>
      </p:sp>
      <p:sp>
        <p:nvSpPr>
          <p:cNvPr id="36" name="TextBox 35">
            <a:extLst>
              <a:ext uri="{FF2B5EF4-FFF2-40B4-BE49-F238E27FC236}">
                <a16:creationId xmlns:a16="http://schemas.microsoft.com/office/drawing/2014/main" id="{2B108A8C-DDA7-389C-3646-29E62CCCA263}"/>
              </a:ext>
            </a:extLst>
          </p:cNvPr>
          <p:cNvSpPr txBox="1"/>
          <p:nvPr/>
        </p:nvSpPr>
        <p:spPr>
          <a:xfrm>
            <a:off x="4699000" y="1016000"/>
            <a:ext cx="1082348" cy="215444"/>
          </a:xfrm>
          <a:prstGeom prst="rect">
            <a:avLst/>
          </a:prstGeom>
          <a:noFill/>
        </p:spPr>
        <p:txBody>
          <a:bodyPr vert="horz" wrap="none" rtlCol="0">
            <a:spAutoFit/>
          </a:bodyPr>
          <a:lstStyle/>
          <a:p>
            <a:r>
              <a:rPr lang="en-US" sz="800" b="1">
                <a:solidFill>
                  <a:srgbClr val="663300"/>
                </a:solidFill>
                <a:latin typeface="Segoe UI" panose="020B0502040204020203" pitchFamily="34" charset="0"/>
              </a:rPr>
              <a:t>FunctionalPosition</a:t>
            </a:r>
          </a:p>
        </p:txBody>
      </p:sp>
      <p:sp>
        <p:nvSpPr>
          <p:cNvPr id="37" name="TextBox 36">
            <a:extLst>
              <a:ext uri="{FF2B5EF4-FFF2-40B4-BE49-F238E27FC236}">
                <a16:creationId xmlns:a16="http://schemas.microsoft.com/office/drawing/2014/main" id="{9BFFCACF-30ED-F6C2-CD03-4B47106F3804}"/>
              </a:ext>
            </a:extLst>
          </p:cNvPr>
          <p:cNvSpPr txBox="1"/>
          <p:nvPr/>
        </p:nvSpPr>
        <p:spPr>
          <a:xfrm>
            <a:off x="6731000" y="1016000"/>
            <a:ext cx="878767" cy="200055"/>
          </a:xfrm>
          <a:prstGeom prst="rect">
            <a:avLst/>
          </a:prstGeom>
          <a:noFill/>
        </p:spPr>
        <p:txBody>
          <a:bodyPr vert="horz" wrap="none" rtlCol="0">
            <a:spAutoFit/>
          </a:bodyPr>
          <a:lstStyle/>
          <a:p>
            <a:r>
              <a:rPr lang="en-US" sz="700">
                <a:solidFill>
                  <a:srgbClr val="3D3D3D"/>
                </a:solidFill>
                <a:latin typeface="Segoe UI" panose="020B0502040204020203" pitchFamily="34" charset="0"/>
              </a:rPr>
              <a:t>BB1, A1, Feeder-3</a:t>
            </a:r>
          </a:p>
        </p:txBody>
      </p:sp>
      <p:sp>
        <p:nvSpPr>
          <p:cNvPr id="38" name="TextBox 37">
            <a:extLst>
              <a:ext uri="{FF2B5EF4-FFF2-40B4-BE49-F238E27FC236}">
                <a16:creationId xmlns:a16="http://schemas.microsoft.com/office/drawing/2014/main" id="{67262AD8-D35A-7F3A-5EE9-C6EEAE9BD731}"/>
              </a:ext>
            </a:extLst>
          </p:cNvPr>
          <p:cNvSpPr txBox="1"/>
          <p:nvPr/>
        </p:nvSpPr>
        <p:spPr>
          <a:xfrm>
            <a:off x="4699000" y="1270000"/>
            <a:ext cx="684803" cy="215444"/>
          </a:xfrm>
          <a:prstGeom prst="rect">
            <a:avLst/>
          </a:prstGeom>
          <a:noFill/>
        </p:spPr>
        <p:txBody>
          <a:bodyPr vert="horz" wrap="none" rtlCol="0">
            <a:spAutoFit/>
          </a:bodyPr>
          <a:lstStyle/>
          <a:p>
            <a:r>
              <a:rPr lang="en-US" sz="800" b="1">
                <a:solidFill>
                  <a:srgbClr val="663300"/>
                </a:solidFill>
                <a:latin typeface="Segoe UI" panose="020B0502040204020203" pitchFamily="34" charset="0"/>
              </a:rPr>
              <a:t>PanelType</a:t>
            </a:r>
          </a:p>
        </p:txBody>
      </p:sp>
      <p:sp>
        <p:nvSpPr>
          <p:cNvPr id="39" name="TextBox 38">
            <a:extLst>
              <a:ext uri="{FF2B5EF4-FFF2-40B4-BE49-F238E27FC236}">
                <a16:creationId xmlns:a16="http://schemas.microsoft.com/office/drawing/2014/main" id="{F66E819E-802C-FD0D-CCB5-11D2F7386FD1}"/>
              </a:ext>
            </a:extLst>
          </p:cNvPr>
          <p:cNvSpPr txBox="1"/>
          <p:nvPr/>
        </p:nvSpPr>
        <p:spPr>
          <a:xfrm>
            <a:off x="6731000" y="1270000"/>
            <a:ext cx="1253869" cy="200055"/>
          </a:xfrm>
          <a:prstGeom prst="rect">
            <a:avLst/>
          </a:prstGeom>
          <a:noFill/>
        </p:spPr>
        <p:txBody>
          <a:bodyPr vert="horz" wrap="none" rtlCol="0">
            <a:spAutoFit/>
          </a:bodyPr>
          <a:lstStyle/>
          <a:p>
            <a:r>
              <a:rPr lang="en-US" sz="700">
                <a:solidFill>
                  <a:srgbClr val="3D3D3D"/>
                </a:solidFill>
                <a:latin typeface="Segoe UI" panose="020B0502040204020203" pitchFamily="34" charset="0"/>
              </a:rPr>
              <a:t>Incomer / Feeder / Coupler</a:t>
            </a:r>
          </a:p>
        </p:txBody>
      </p:sp>
      <p:sp>
        <p:nvSpPr>
          <p:cNvPr id="40" name="TextBox 39">
            <a:extLst>
              <a:ext uri="{FF2B5EF4-FFF2-40B4-BE49-F238E27FC236}">
                <a16:creationId xmlns:a16="http://schemas.microsoft.com/office/drawing/2014/main" id="{A2522FE4-514A-BFC0-4B4A-D970CDDC9AE3}"/>
              </a:ext>
            </a:extLst>
          </p:cNvPr>
          <p:cNvSpPr txBox="1"/>
          <p:nvPr/>
        </p:nvSpPr>
        <p:spPr>
          <a:xfrm>
            <a:off x="4699000" y="1524000"/>
            <a:ext cx="623889" cy="215444"/>
          </a:xfrm>
          <a:prstGeom prst="rect">
            <a:avLst/>
          </a:prstGeom>
          <a:noFill/>
        </p:spPr>
        <p:txBody>
          <a:bodyPr vert="horz" wrap="none" rtlCol="0">
            <a:spAutoFit/>
          </a:bodyPr>
          <a:lstStyle/>
          <a:p>
            <a:r>
              <a:rPr lang="en-US" sz="800" b="1">
                <a:solidFill>
                  <a:srgbClr val="663300"/>
                </a:solidFill>
                <a:latin typeface="Segoe UI" panose="020B0502040204020203" pitchFamily="34" charset="0"/>
              </a:rPr>
              <a:t>CBModel</a:t>
            </a:r>
          </a:p>
        </p:txBody>
      </p:sp>
      <p:sp>
        <p:nvSpPr>
          <p:cNvPr id="41" name="TextBox 40">
            <a:extLst>
              <a:ext uri="{FF2B5EF4-FFF2-40B4-BE49-F238E27FC236}">
                <a16:creationId xmlns:a16="http://schemas.microsoft.com/office/drawing/2014/main" id="{C14B4427-09D2-18F4-64A6-4628A876C54C}"/>
              </a:ext>
            </a:extLst>
          </p:cNvPr>
          <p:cNvSpPr txBox="1"/>
          <p:nvPr/>
        </p:nvSpPr>
        <p:spPr>
          <a:xfrm>
            <a:off x="6731000" y="1524000"/>
            <a:ext cx="954107" cy="200055"/>
          </a:xfrm>
          <a:prstGeom prst="rect">
            <a:avLst/>
          </a:prstGeom>
          <a:noFill/>
        </p:spPr>
        <p:txBody>
          <a:bodyPr vert="horz" wrap="none" rtlCol="0">
            <a:spAutoFit/>
          </a:bodyPr>
          <a:lstStyle/>
          <a:p>
            <a:r>
              <a:rPr lang="en-US" sz="700">
                <a:solidFill>
                  <a:srgbClr val="3D3D3D"/>
                </a:solidFill>
                <a:latin typeface="Segoe UI" panose="020B0502040204020203" pitchFamily="34" charset="0"/>
              </a:rPr>
              <a:t>VD4 1250, HD4 630</a:t>
            </a:r>
          </a:p>
        </p:txBody>
      </p:sp>
      <p:sp>
        <p:nvSpPr>
          <p:cNvPr id="42" name="TextBox 41">
            <a:extLst>
              <a:ext uri="{FF2B5EF4-FFF2-40B4-BE49-F238E27FC236}">
                <a16:creationId xmlns:a16="http://schemas.microsoft.com/office/drawing/2014/main" id="{0D43E80C-265E-74C9-056D-7F7B7DE1F873}"/>
              </a:ext>
            </a:extLst>
          </p:cNvPr>
          <p:cNvSpPr txBox="1"/>
          <p:nvPr/>
        </p:nvSpPr>
        <p:spPr>
          <a:xfrm>
            <a:off x="4699000" y="1778000"/>
            <a:ext cx="631904" cy="215444"/>
          </a:xfrm>
          <a:prstGeom prst="rect">
            <a:avLst/>
          </a:prstGeom>
          <a:noFill/>
        </p:spPr>
        <p:txBody>
          <a:bodyPr vert="horz" wrap="none" rtlCol="0">
            <a:spAutoFit/>
          </a:bodyPr>
          <a:lstStyle/>
          <a:p>
            <a:r>
              <a:rPr lang="en-US" sz="800" b="1">
                <a:solidFill>
                  <a:srgbClr val="663300"/>
                </a:solidFill>
                <a:latin typeface="Segoe UI" panose="020B0502040204020203" pitchFamily="34" charset="0"/>
              </a:rPr>
              <a:t>CBRating</a:t>
            </a:r>
          </a:p>
        </p:txBody>
      </p:sp>
      <p:sp>
        <p:nvSpPr>
          <p:cNvPr id="43" name="TextBox 42">
            <a:extLst>
              <a:ext uri="{FF2B5EF4-FFF2-40B4-BE49-F238E27FC236}">
                <a16:creationId xmlns:a16="http://schemas.microsoft.com/office/drawing/2014/main" id="{BB19D081-143A-2684-8446-27A123A4E25A}"/>
              </a:ext>
            </a:extLst>
          </p:cNvPr>
          <p:cNvSpPr txBox="1"/>
          <p:nvPr/>
        </p:nvSpPr>
        <p:spPr>
          <a:xfrm>
            <a:off x="6731000" y="1778000"/>
            <a:ext cx="679994" cy="200055"/>
          </a:xfrm>
          <a:prstGeom prst="rect">
            <a:avLst/>
          </a:prstGeom>
          <a:noFill/>
        </p:spPr>
        <p:txBody>
          <a:bodyPr vert="horz" wrap="none" rtlCol="0">
            <a:spAutoFit/>
          </a:bodyPr>
          <a:lstStyle/>
          <a:p>
            <a:r>
              <a:rPr lang="en-US" sz="700">
                <a:solidFill>
                  <a:srgbClr val="3D3D3D"/>
                </a:solidFill>
                <a:latin typeface="Segoe UI" panose="020B0502040204020203" pitchFamily="34" charset="0"/>
              </a:rPr>
              <a:t>1250A, 630A</a:t>
            </a:r>
          </a:p>
        </p:txBody>
      </p:sp>
      <p:sp>
        <p:nvSpPr>
          <p:cNvPr id="44" name="TextBox 43">
            <a:extLst>
              <a:ext uri="{FF2B5EF4-FFF2-40B4-BE49-F238E27FC236}">
                <a16:creationId xmlns:a16="http://schemas.microsoft.com/office/drawing/2014/main" id="{9A6D20E8-32B2-25F3-C019-FFCF77CB0AE8}"/>
              </a:ext>
            </a:extLst>
          </p:cNvPr>
          <p:cNvSpPr txBox="1"/>
          <p:nvPr/>
        </p:nvSpPr>
        <p:spPr>
          <a:xfrm>
            <a:off x="4699000" y="2032000"/>
            <a:ext cx="562975" cy="215444"/>
          </a:xfrm>
          <a:prstGeom prst="rect">
            <a:avLst/>
          </a:prstGeom>
          <a:noFill/>
        </p:spPr>
        <p:txBody>
          <a:bodyPr vert="horz" wrap="none" rtlCol="0">
            <a:spAutoFit/>
          </a:bodyPr>
          <a:lstStyle/>
          <a:p>
            <a:r>
              <a:rPr lang="en-US" sz="800" b="1">
                <a:solidFill>
                  <a:srgbClr val="663300"/>
                </a:solidFill>
                <a:latin typeface="Segoe UI" panose="020B0502040204020203" pitchFamily="34" charset="0"/>
              </a:rPr>
              <a:t>CTRatio</a:t>
            </a:r>
          </a:p>
        </p:txBody>
      </p:sp>
      <p:sp>
        <p:nvSpPr>
          <p:cNvPr id="45" name="TextBox 44">
            <a:extLst>
              <a:ext uri="{FF2B5EF4-FFF2-40B4-BE49-F238E27FC236}">
                <a16:creationId xmlns:a16="http://schemas.microsoft.com/office/drawing/2014/main" id="{E25212AF-70A7-3094-F65D-FA8C476EE514}"/>
              </a:ext>
            </a:extLst>
          </p:cNvPr>
          <p:cNvSpPr txBox="1"/>
          <p:nvPr/>
        </p:nvSpPr>
        <p:spPr>
          <a:xfrm>
            <a:off x="6731000" y="2032000"/>
            <a:ext cx="798617" cy="200055"/>
          </a:xfrm>
          <a:prstGeom prst="rect">
            <a:avLst/>
          </a:prstGeom>
          <a:noFill/>
        </p:spPr>
        <p:txBody>
          <a:bodyPr vert="horz" wrap="none" rtlCol="0">
            <a:spAutoFit/>
          </a:bodyPr>
          <a:lstStyle/>
          <a:p>
            <a:r>
              <a:rPr lang="en-US" sz="700">
                <a:solidFill>
                  <a:srgbClr val="3D3D3D"/>
                </a:solidFill>
                <a:latin typeface="Segoe UI" panose="020B0502040204020203" pitchFamily="34" charset="0"/>
              </a:rPr>
              <a:t>600/1A, 200/5A</a:t>
            </a:r>
          </a:p>
        </p:txBody>
      </p:sp>
      <p:sp>
        <p:nvSpPr>
          <p:cNvPr id="46" name="TextBox 45">
            <a:extLst>
              <a:ext uri="{FF2B5EF4-FFF2-40B4-BE49-F238E27FC236}">
                <a16:creationId xmlns:a16="http://schemas.microsoft.com/office/drawing/2014/main" id="{E851A07D-4CED-227A-E56D-07EF712F9392}"/>
              </a:ext>
            </a:extLst>
          </p:cNvPr>
          <p:cNvSpPr txBox="1"/>
          <p:nvPr/>
        </p:nvSpPr>
        <p:spPr>
          <a:xfrm>
            <a:off x="4699000" y="2286000"/>
            <a:ext cx="567784" cy="215444"/>
          </a:xfrm>
          <a:prstGeom prst="rect">
            <a:avLst/>
          </a:prstGeom>
          <a:noFill/>
        </p:spPr>
        <p:txBody>
          <a:bodyPr vert="horz" wrap="none" rtlCol="0">
            <a:spAutoFit/>
          </a:bodyPr>
          <a:lstStyle/>
          <a:p>
            <a:r>
              <a:rPr lang="en-US" sz="800" b="1">
                <a:solidFill>
                  <a:srgbClr val="663300"/>
                </a:solidFill>
                <a:latin typeface="Segoe UI" panose="020B0502040204020203" pitchFamily="34" charset="0"/>
              </a:rPr>
              <a:t>VTRatio</a:t>
            </a:r>
          </a:p>
        </p:txBody>
      </p:sp>
      <p:sp>
        <p:nvSpPr>
          <p:cNvPr id="47" name="TextBox 46">
            <a:extLst>
              <a:ext uri="{FF2B5EF4-FFF2-40B4-BE49-F238E27FC236}">
                <a16:creationId xmlns:a16="http://schemas.microsoft.com/office/drawing/2014/main" id="{0DC056EA-A204-95C0-A1B6-A9FA143B26E1}"/>
              </a:ext>
            </a:extLst>
          </p:cNvPr>
          <p:cNvSpPr txBox="1"/>
          <p:nvPr/>
        </p:nvSpPr>
        <p:spPr>
          <a:xfrm>
            <a:off x="6731000" y="2286000"/>
            <a:ext cx="660758" cy="200055"/>
          </a:xfrm>
          <a:prstGeom prst="rect">
            <a:avLst/>
          </a:prstGeom>
          <a:noFill/>
        </p:spPr>
        <p:txBody>
          <a:bodyPr vert="horz" wrap="none" rtlCol="0">
            <a:spAutoFit/>
          </a:bodyPr>
          <a:lstStyle/>
          <a:p>
            <a:r>
              <a:rPr lang="en-US" sz="700">
                <a:solidFill>
                  <a:srgbClr val="3D3D3D"/>
                </a:solidFill>
                <a:latin typeface="Segoe UI" panose="020B0502040204020203" pitchFamily="34" charset="0"/>
              </a:rPr>
              <a:t>20000/100V</a:t>
            </a:r>
          </a:p>
        </p:txBody>
      </p:sp>
      <p:sp>
        <p:nvSpPr>
          <p:cNvPr id="48" name="TextBox 47">
            <a:extLst>
              <a:ext uri="{FF2B5EF4-FFF2-40B4-BE49-F238E27FC236}">
                <a16:creationId xmlns:a16="http://schemas.microsoft.com/office/drawing/2014/main" id="{5C174583-13D7-4E41-21D6-AB47C2BD584A}"/>
              </a:ext>
            </a:extLst>
          </p:cNvPr>
          <p:cNvSpPr txBox="1"/>
          <p:nvPr/>
        </p:nvSpPr>
        <p:spPr>
          <a:xfrm>
            <a:off x="4699000" y="2540000"/>
            <a:ext cx="755335" cy="215444"/>
          </a:xfrm>
          <a:prstGeom prst="rect">
            <a:avLst/>
          </a:prstGeom>
          <a:noFill/>
        </p:spPr>
        <p:txBody>
          <a:bodyPr vert="horz" wrap="none" rtlCol="0">
            <a:spAutoFit/>
          </a:bodyPr>
          <a:lstStyle/>
          <a:p>
            <a:r>
              <a:rPr lang="en-US" sz="800" b="1">
                <a:solidFill>
                  <a:srgbClr val="663300"/>
                </a:solidFill>
                <a:latin typeface="Segoe UI" panose="020B0502040204020203" pitchFamily="34" charset="0"/>
              </a:rPr>
              <a:t>RelayModel</a:t>
            </a:r>
          </a:p>
        </p:txBody>
      </p:sp>
      <p:sp>
        <p:nvSpPr>
          <p:cNvPr id="49" name="TextBox 48">
            <a:extLst>
              <a:ext uri="{FF2B5EF4-FFF2-40B4-BE49-F238E27FC236}">
                <a16:creationId xmlns:a16="http://schemas.microsoft.com/office/drawing/2014/main" id="{E3826C43-DB7B-31E8-3969-8B26807A6A32}"/>
              </a:ext>
            </a:extLst>
          </p:cNvPr>
          <p:cNvSpPr txBox="1"/>
          <p:nvPr/>
        </p:nvSpPr>
        <p:spPr>
          <a:xfrm>
            <a:off x="6731000" y="2540000"/>
            <a:ext cx="1265090" cy="200055"/>
          </a:xfrm>
          <a:prstGeom prst="rect">
            <a:avLst/>
          </a:prstGeom>
          <a:noFill/>
        </p:spPr>
        <p:txBody>
          <a:bodyPr vert="horz" wrap="none" rtlCol="0">
            <a:spAutoFit/>
          </a:bodyPr>
          <a:lstStyle/>
          <a:p>
            <a:r>
              <a:rPr lang="en-US" sz="700">
                <a:solidFill>
                  <a:srgbClr val="3D3D3D"/>
                </a:solidFill>
                <a:latin typeface="Segoe UI" panose="020B0502040204020203" pitchFamily="34" charset="0"/>
              </a:rPr>
              <a:t>REF615, P141, MiCOM P443</a:t>
            </a:r>
          </a:p>
        </p:txBody>
      </p:sp>
      <p:sp>
        <p:nvSpPr>
          <p:cNvPr id="50" name="TextBox 49">
            <a:extLst>
              <a:ext uri="{FF2B5EF4-FFF2-40B4-BE49-F238E27FC236}">
                <a16:creationId xmlns:a16="http://schemas.microsoft.com/office/drawing/2014/main" id="{BCAC6D1A-C364-9261-F221-40D74E7D7D9A}"/>
              </a:ext>
            </a:extLst>
          </p:cNvPr>
          <p:cNvSpPr txBox="1"/>
          <p:nvPr/>
        </p:nvSpPr>
        <p:spPr>
          <a:xfrm>
            <a:off x="4699000" y="2794000"/>
            <a:ext cx="1156086" cy="215444"/>
          </a:xfrm>
          <a:prstGeom prst="rect">
            <a:avLst/>
          </a:prstGeom>
          <a:noFill/>
        </p:spPr>
        <p:txBody>
          <a:bodyPr vert="horz" wrap="none" rtlCol="0">
            <a:spAutoFit/>
          </a:bodyPr>
          <a:lstStyle/>
          <a:p>
            <a:r>
              <a:rPr lang="en-US" sz="800" b="1">
                <a:solidFill>
                  <a:srgbClr val="663300"/>
                </a:solidFill>
                <a:latin typeface="Segoe UI" panose="020B0502040204020203" pitchFamily="34" charset="0"/>
              </a:rPr>
              <a:t>ProtectionFunctions</a:t>
            </a:r>
          </a:p>
        </p:txBody>
      </p:sp>
      <p:sp>
        <p:nvSpPr>
          <p:cNvPr id="51" name="TextBox 50">
            <a:extLst>
              <a:ext uri="{FF2B5EF4-FFF2-40B4-BE49-F238E27FC236}">
                <a16:creationId xmlns:a16="http://schemas.microsoft.com/office/drawing/2014/main" id="{47B88436-6BBB-AD3A-0B6E-3C6958CC40A9}"/>
              </a:ext>
            </a:extLst>
          </p:cNvPr>
          <p:cNvSpPr txBox="1"/>
          <p:nvPr/>
        </p:nvSpPr>
        <p:spPr>
          <a:xfrm>
            <a:off x="6731000" y="2794000"/>
            <a:ext cx="869149" cy="200055"/>
          </a:xfrm>
          <a:prstGeom prst="rect">
            <a:avLst/>
          </a:prstGeom>
          <a:noFill/>
        </p:spPr>
        <p:txBody>
          <a:bodyPr vert="horz" wrap="none" rtlCol="0">
            <a:spAutoFit/>
          </a:bodyPr>
          <a:lstStyle/>
          <a:p>
            <a:r>
              <a:rPr lang="en-US" sz="700">
                <a:solidFill>
                  <a:srgbClr val="3D3D3D"/>
                </a:solidFill>
                <a:latin typeface="Segoe UI" panose="020B0502040204020203" pitchFamily="34" charset="0"/>
              </a:rPr>
              <a:t>50/51, 27, 59, 87T</a:t>
            </a:r>
          </a:p>
        </p:txBody>
      </p:sp>
      <p:sp>
        <p:nvSpPr>
          <p:cNvPr id="52" name="Rectangle 51">
            <a:extLst>
              <a:ext uri="{FF2B5EF4-FFF2-40B4-BE49-F238E27FC236}">
                <a16:creationId xmlns:a16="http://schemas.microsoft.com/office/drawing/2014/main" id="{4DB53D11-75DE-52C6-AB0A-1C1A76A45E10}"/>
              </a:ext>
            </a:extLst>
          </p:cNvPr>
          <p:cNvSpPr/>
          <p:nvPr/>
        </p:nvSpPr>
        <p:spPr>
          <a:xfrm>
            <a:off x="4597400" y="3175000"/>
            <a:ext cx="4292600" cy="203200"/>
          </a:xfrm>
          <a:prstGeom prst="rect">
            <a:avLst/>
          </a:prstGeom>
          <a:solidFill>
            <a:srgbClr val="FFF8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E487D633-BCA2-3186-DA8E-E45CF4C8C414}"/>
              </a:ext>
            </a:extLst>
          </p:cNvPr>
          <p:cNvSpPr txBox="1"/>
          <p:nvPr/>
        </p:nvSpPr>
        <p:spPr>
          <a:xfrm>
            <a:off x="4597400" y="3175000"/>
            <a:ext cx="4292600" cy="200055"/>
          </a:xfrm>
          <a:prstGeom prst="rect">
            <a:avLst/>
          </a:prstGeom>
          <a:noFill/>
        </p:spPr>
        <p:txBody>
          <a:bodyPr vert="horz" wrap="square" rtlCol="0">
            <a:spAutoFit/>
          </a:bodyPr>
          <a:lstStyle/>
          <a:p>
            <a:pPr algn="ctr"/>
            <a:r>
              <a:rPr lang="en-US" sz="700">
                <a:solidFill>
                  <a:srgbClr val="883300"/>
                </a:solidFill>
                <a:latin typeface="Segoe UI" panose="020B0502040204020203" pitchFamily="34" charset="0"/>
              </a:rPr>
              <a:t>Stored: CubicleDeviceExtractions  |  Used: Lineup, XML cubicles</a:t>
            </a:r>
          </a:p>
        </p:txBody>
      </p:sp>
      <p:sp>
        <p:nvSpPr>
          <p:cNvPr id="54" name="Rectangle 53">
            <a:extLst>
              <a:ext uri="{FF2B5EF4-FFF2-40B4-BE49-F238E27FC236}">
                <a16:creationId xmlns:a16="http://schemas.microsoft.com/office/drawing/2014/main" id="{44E75EEC-E417-B353-B734-FC73CB0BE1EE}"/>
              </a:ext>
            </a:extLst>
          </p:cNvPr>
          <p:cNvSpPr/>
          <p:nvPr/>
        </p:nvSpPr>
        <p:spPr>
          <a:xfrm>
            <a:off x="254000" y="3479800"/>
            <a:ext cx="8636000" cy="660400"/>
          </a:xfrm>
          <a:prstGeom prst="rect">
            <a:avLst/>
          </a:prstGeom>
          <a:solidFill>
            <a:srgbClr val="FFFFFF"/>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F0302D15-5B67-5FDA-6941-D7B8F0E4D1F8}"/>
              </a:ext>
            </a:extLst>
          </p:cNvPr>
          <p:cNvSpPr/>
          <p:nvPr/>
        </p:nvSpPr>
        <p:spPr>
          <a:xfrm>
            <a:off x="254000" y="3479800"/>
            <a:ext cx="8636000" cy="228600"/>
          </a:xfrm>
          <a:prstGeom prst="rect">
            <a:avLst/>
          </a:prstGeom>
          <a:solidFill>
            <a:srgbClr val="3D3D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a:extLst>
              <a:ext uri="{FF2B5EF4-FFF2-40B4-BE49-F238E27FC236}">
                <a16:creationId xmlns:a16="http://schemas.microsoft.com/office/drawing/2014/main" id="{9871DDC0-5725-3764-23D1-637746526AEF}"/>
              </a:ext>
            </a:extLst>
          </p:cNvPr>
          <p:cNvSpPr txBox="1"/>
          <p:nvPr/>
        </p:nvSpPr>
        <p:spPr>
          <a:xfrm>
            <a:off x="254000" y="3479800"/>
            <a:ext cx="8636000" cy="246221"/>
          </a:xfrm>
          <a:prstGeom prst="rect">
            <a:avLst/>
          </a:prstGeom>
          <a:noFill/>
        </p:spPr>
        <p:txBody>
          <a:bodyPr vert="horz" wrap="square" rtlCol="0">
            <a:spAutoFit/>
          </a:bodyPr>
          <a:lstStyle/>
          <a:p>
            <a:pPr algn="ctr"/>
            <a:r>
              <a:rPr lang="en-US" sz="1000" b="1">
                <a:solidFill>
                  <a:srgbClr val="FFFFFF"/>
                </a:solidFill>
                <a:latin typeface="Segoe UI" panose="020B0502040204020203" pitchFamily="34" charset="0"/>
              </a:rPr>
              <a:t>TOPOLOGY -- Lineup Summary (derived from Level 2)</a:t>
            </a:r>
          </a:p>
        </p:txBody>
      </p:sp>
      <p:sp>
        <p:nvSpPr>
          <p:cNvPr id="57" name="TextBox 56">
            <a:extLst>
              <a:ext uri="{FF2B5EF4-FFF2-40B4-BE49-F238E27FC236}">
                <a16:creationId xmlns:a16="http://schemas.microsoft.com/office/drawing/2014/main" id="{AAB5819F-82F2-1316-D115-942A71DDBE64}"/>
              </a:ext>
            </a:extLst>
          </p:cNvPr>
          <p:cNvSpPr txBox="1"/>
          <p:nvPr/>
        </p:nvSpPr>
        <p:spPr>
          <a:xfrm>
            <a:off x="355600" y="3733800"/>
            <a:ext cx="8432800" cy="215444"/>
          </a:xfrm>
          <a:prstGeom prst="rect">
            <a:avLst/>
          </a:prstGeom>
          <a:noFill/>
        </p:spPr>
        <p:txBody>
          <a:bodyPr vert="horz" wrap="square" rtlCol="0">
            <a:spAutoFit/>
          </a:bodyPr>
          <a:lstStyle/>
          <a:p>
            <a:r>
              <a:rPr lang="en-US" sz="800">
                <a:solidFill>
                  <a:srgbClr val="3D3D3D"/>
                </a:solidFill>
                <a:latin typeface="Segoe UI" panose="020B0502040204020203" pitchFamily="34" charset="0"/>
              </a:rPr>
              <a:t>TotalPanels | IncomersCount | FeedersCount | CouplersCount | MeteringCount | BusbarSections =&gt; Stored in SwitchgearInstance.TopologySummary (JSON)</a:t>
            </a:r>
          </a:p>
        </p:txBody>
      </p:sp>
      <p:sp>
        <p:nvSpPr>
          <p:cNvPr id="58" name="TextBox 57">
            <a:extLst>
              <a:ext uri="{FF2B5EF4-FFF2-40B4-BE49-F238E27FC236}">
                <a16:creationId xmlns:a16="http://schemas.microsoft.com/office/drawing/2014/main" id="{3182468A-017B-6D10-84D9-5D7B909D8E3F}"/>
              </a:ext>
            </a:extLst>
          </p:cNvPr>
          <p:cNvSpPr txBox="1"/>
          <p:nvPr/>
        </p:nvSpPr>
        <p:spPr>
          <a:xfrm>
            <a:off x="254000" y="4241800"/>
            <a:ext cx="8636000" cy="261610"/>
          </a:xfrm>
          <a:prstGeom prst="rect">
            <a:avLst/>
          </a:prstGeom>
          <a:noFill/>
        </p:spPr>
        <p:txBody>
          <a:bodyPr vert="horz" wrap="square" rtlCol="0">
            <a:spAutoFit/>
          </a:bodyPr>
          <a:lstStyle/>
          <a:p>
            <a:r>
              <a:rPr lang="en-US" sz="1100" b="1">
                <a:solidFill>
                  <a:srgbClr val="1E1E1E"/>
                </a:solidFill>
                <a:latin typeface="Segoe UI" panose="020B0502040204020203" pitchFamily="34" charset="0"/>
              </a:rPr>
              <a:t>Extraction Sources per Level</a:t>
            </a:r>
          </a:p>
        </p:txBody>
      </p:sp>
      <p:sp>
        <p:nvSpPr>
          <p:cNvPr id="59" name="Rectangle 58">
            <a:extLst>
              <a:ext uri="{FF2B5EF4-FFF2-40B4-BE49-F238E27FC236}">
                <a16:creationId xmlns:a16="http://schemas.microsoft.com/office/drawing/2014/main" id="{59DF483F-297A-32AF-E594-E05526AD6D2B}"/>
              </a:ext>
            </a:extLst>
          </p:cNvPr>
          <p:cNvSpPr/>
          <p:nvPr/>
        </p:nvSpPr>
        <p:spPr>
          <a:xfrm>
            <a:off x="254000" y="4495800"/>
            <a:ext cx="2133600" cy="254000"/>
          </a:xfrm>
          <a:prstGeom prst="rect">
            <a:avLst/>
          </a:prstGeom>
          <a:solidFill>
            <a:srgbClr val="3D3D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extBox 59">
            <a:extLst>
              <a:ext uri="{FF2B5EF4-FFF2-40B4-BE49-F238E27FC236}">
                <a16:creationId xmlns:a16="http://schemas.microsoft.com/office/drawing/2014/main" id="{B1385CA3-FD12-EDDC-9AF1-B4EE337EC8B9}"/>
              </a:ext>
            </a:extLst>
          </p:cNvPr>
          <p:cNvSpPr txBox="1"/>
          <p:nvPr/>
        </p:nvSpPr>
        <p:spPr>
          <a:xfrm>
            <a:off x="254000" y="4495800"/>
            <a:ext cx="2133600" cy="215444"/>
          </a:xfrm>
          <a:prstGeom prst="rect">
            <a:avLst/>
          </a:prstGeom>
          <a:noFill/>
        </p:spPr>
        <p:txBody>
          <a:bodyPr vert="horz" wrap="square" rtlCol="0">
            <a:spAutoFit/>
          </a:bodyPr>
          <a:lstStyle/>
          <a:p>
            <a:pPr algn="ctr"/>
            <a:r>
              <a:rPr lang="en-US" sz="800" b="1">
                <a:solidFill>
                  <a:srgbClr val="FFFFFF"/>
                </a:solidFill>
                <a:latin typeface="Segoe UI" panose="020B0502040204020203" pitchFamily="34" charset="0"/>
              </a:rPr>
              <a:t>Level</a:t>
            </a:r>
          </a:p>
        </p:txBody>
      </p:sp>
      <p:sp>
        <p:nvSpPr>
          <p:cNvPr id="61" name="Rectangle 60">
            <a:extLst>
              <a:ext uri="{FF2B5EF4-FFF2-40B4-BE49-F238E27FC236}">
                <a16:creationId xmlns:a16="http://schemas.microsoft.com/office/drawing/2014/main" id="{F7F888CD-D6E0-5BEE-141D-14004AFB97D4}"/>
              </a:ext>
            </a:extLst>
          </p:cNvPr>
          <p:cNvSpPr/>
          <p:nvPr/>
        </p:nvSpPr>
        <p:spPr>
          <a:xfrm>
            <a:off x="2413000" y="4495800"/>
            <a:ext cx="2133600" cy="254000"/>
          </a:xfrm>
          <a:prstGeom prst="rect">
            <a:avLst/>
          </a:prstGeom>
          <a:solidFill>
            <a:srgbClr val="3D3D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TextBox 61">
            <a:extLst>
              <a:ext uri="{FF2B5EF4-FFF2-40B4-BE49-F238E27FC236}">
                <a16:creationId xmlns:a16="http://schemas.microsoft.com/office/drawing/2014/main" id="{C5EED90A-3A11-C603-EE16-9F8B50EA66B2}"/>
              </a:ext>
            </a:extLst>
          </p:cNvPr>
          <p:cNvSpPr txBox="1"/>
          <p:nvPr/>
        </p:nvSpPr>
        <p:spPr>
          <a:xfrm>
            <a:off x="2413000" y="4495800"/>
            <a:ext cx="2133600" cy="215444"/>
          </a:xfrm>
          <a:prstGeom prst="rect">
            <a:avLst/>
          </a:prstGeom>
          <a:noFill/>
        </p:spPr>
        <p:txBody>
          <a:bodyPr vert="horz" wrap="square" rtlCol="0">
            <a:spAutoFit/>
          </a:bodyPr>
          <a:lstStyle/>
          <a:p>
            <a:pPr algn="ctr"/>
            <a:r>
              <a:rPr lang="en-US" sz="800" b="1">
                <a:solidFill>
                  <a:srgbClr val="FFFFFF"/>
                </a:solidFill>
                <a:latin typeface="Segoe UI" panose="020B0502040204020203" pitchFamily="34" charset="0"/>
              </a:rPr>
              <a:t>Path A</a:t>
            </a:r>
          </a:p>
        </p:txBody>
      </p:sp>
      <p:sp>
        <p:nvSpPr>
          <p:cNvPr id="63" name="Rectangle 62">
            <a:extLst>
              <a:ext uri="{FF2B5EF4-FFF2-40B4-BE49-F238E27FC236}">
                <a16:creationId xmlns:a16="http://schemas.microsoft.com/office/drawing/2014/main" id="{1CB2688E-3B99-F710-0393-AF1CDB128B59}"/>
              </a:ext>
            </a:extLst>
          </p:cNvPr>
          <p:cNvSpPr/>
          <p:nvPr/>
        </p:nvSpPr>
        <p:spPr>
          <a:xfrm>
            <a:off x="4572000" y="4495800"/>
            <a:ext cx="2133600" cy="254000"/>
          </a:xfrm>
          <a:prstGeom prst="rect">
            <a:avLst/>
          </a:prstGeom>
          <a:solidFill>
            <a:srgbClr val="3D3D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extBox 63">
            <a:extLst>
              <a:ext uri="{FF2B5EF4-FFF2-40B4-BE49-F238E27FC236}">
                <a16:creationId xmlns:a16="http://schemas.microsoft.com/office/drawing/2014/main" id="{B9D5879A-D5CA-35ED-5B40-541C513BB2DD}"/>
              </a:ext>
            </a:extLst>
          </p:cNvPr>
          <p:cNvSpPr txBox="1"/>
          <p:nvPr/>
        </p:nvSpPr>
        <p:spPr>
          <a:xfrm>
            <a:off x="4572000" y="4495800"/>
            <a:ext cx="2133600" cy="215444"/>
          </a:xfrm>
          <a:prstGeom prst="rect">
            <a:avLst/>
          </a:prstGeom>
          <a:noFill/>
        </p:spPr>
        <p:txBody>
          <a:bodyPr vert="horz" wrap="square" rtlCol="0">
            <a:spAutoFit/>
          </a:bodyPr>
          <a:lstStyle/>
          <a:p>
            <a:pPr algn="ctr"/>
            <a:r>
              <a:rPr lang="en-US" sz="800" b="1">
                <a:solidFill>
                  <a:srgbClr val="FFFFFF"/>
                </a:solidFill>
                <a:latin typeface="Segoe UI" panose="020B0502040204020203" pitchFamily="34" charset="0"/>
              </a:rPr>
              <a:t>Path B</a:t>
            </a:r>
          </a:p>
        </p:txBody>
      </p:sp>
      <p:sp>
        <p:nvSpPr>
          <p:cNvPr id="65" name="Rectangle 64">
            <a:extLst>
              <a:ext uri="{FF2B5EF4-FFF2-40B4-BE49-F238E27FC236}">
                <a16:creationId xmlns:a16="http://schemas.microsoft.com/office/drawing/2014/main" id="{5F90D306-E5FE-237B-D5E8-A722E0605A28}"/>
              </a:ext>
            </a:extLst>
          </p:cNvPr>
          <p:cNvSpPr/>
          <p:nvPr/>
        </p:nvSpPr>
        <p:spPr>
          <a:xfrm>
            <a:off x="6731000" y="4495800"/>
            <a:ext cx="2133600" cy="254000"/>
          </a:xfrm>
          <a:prstGeom prst="rect">
            <a:avLst/>
          </a:prstGeom>
          <a:solidFill>
            <a:srgbClr val="3D3D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TextBox 65">
            <a:extLst>
              <a:ext uri="{FF2B5EF4-FFF2-40B4-BE49-F238E27FC236}">
                <a16:creationId xmlns:a16="http://schemas.microsoft.com/office/drawing/2014/main" id="{B6870E02-90EC-F165-0889-D513DE555DEF}"/>
              </a:ext>
            </a:extLst>
          </p:cNvPr>
          <p:cNvSpPr txBox="1"/>
          <p:nvPr/>
        </p:nvSpPr>
        <p:spPr>
          <a:xfrm>
            <a:off x="6731000" y="4495800"/>
            <a:ext cx="2133600" cy="215444"/>
          </a:xfrm>
          <a:prstGeom prst="rect">
            <a:avLst/>
          </a:prstGeom>
          <a:noFill/>
        </p:spPr>
        <p:txBody>
          <a:bodyPr vert="horz" wrap="square" rtlCol="0">
            <a:spAutoFit/>
          </a:bodyPr>
          <a:lstStyle/>
          <a:p>
            <a:pPr algn="ctr"/>
            <a:r>
              <a:rPr lang="en-US" sz="800" b="1">
                <a:solidFill>
                  <a:srgbClr val="FFFFFF"/>
                </a:solidFill>
                <a:latin typeface="Segoe UI" panose="020B0502040204020203" pitchFamily="34" charset="0"/>
              </a:rPr>
              <a:t>Path C</a:t>
            </a:r>
          </a:p>
        </p:txBody>
      </p:sp>
      <p:sp>
        <p:nvSpPr>
          <p:cNvPr id="67" name="Rectangle 66">
            <a:extLst>
              <a:ext uri="{FF2B5EF4-FFF2-40B4-BE49-F238E27FC236}">
                <a16:creationId xmlns:a16="http://schemas.microsoft.com/office/drawing/2014/main" id="{943F73C4-E66E-DAD2-688B-D7FDC0EB5101}"/>
              </a:ext>
            </a:extLst>
          </p:cNvPr>
          <p:cNvSpPr/>
          <p:nvPr/>
        </p:nvSpPr>
        <p:spPr>
          <a:xfrm>
            <a:off x="254000" y="4775200"/>
            <a:ext cx="2133600" cy="330200"/>
          </a:xfrm>
          <a:prstGeom prst="rect">
            <a:avLst/>
          </a:prstGeom>
          <a:solidFill>
            <a:srgbClr val="FFFFFF"/>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TextBox 67">
            <a:extLst>
              <a:ext uri="{FF2B5EF4-FFF2-40B4-BE49-F238E27FC236}">
                <a16:creationId xmlns:a16="http://schemas.microsoft.com/office/drawing/2014/main" id="{2A40DC37-7B13-3B5B-4925-F3B3ABB919F7}"/>
              </a:ext>
            </a:extLst>
          </p:cNvPr>
          <p:cNvSpPr txBox="1"/>
          <p:nvPr/>
        </p:nvSpPr>
        <p:spPr>
          <a:xfrm>
            <a:off x="304800" y="4775200"/>
            <a:ext cx="2032000" cy="215444"/>
          </a:xfrm>
          <a:prstGeom prst="rect">
            <a:avLst/>
          </a:prstGeom>
          <a:noFill/>
        </p:spPr>
        <p:txBody>
          <a:bodyPr vert="horz" wrap="square" rtlCol="0">
            <a:spAutoFit/>
          </a:bodyPr>
          <a:lstStyle/>
          <a:p>
            <a:r>
              <a:rPr lang="en-US" sz="800">
                <a:solidFill>
                  <a:srgbClr val="3D3D3D"/>
                </a:solidFill>
                <a:latin typeface="Segoe UI" panose="020B0502040204020203" pitchFamily="34" charset="0"/>
              </a:rPr>
              <a:t>Level 1</a:t>
            </a:r>
          </a:p>
        </p:txBody>
      </p:sp>
      <p:sp>
        <p:nvSpPr>
          <p:cNvPr id="69" name="Rectangle 68">
            <a:extLst>
              <a:ext uri="{FF2B5EF4-FFF2-40B4-BE49-F238E27FC236}">
                <a16:creationId xmlns:a16="http://schemas.microsoft.com/office/drawing/2014/main" id="{B691423F-9911-A654-43D3-7EAB404A95C7}"/>
              </a:ext>
            </a:extLst>
          </p:cNvPr>
          <p:cNvSpPr/>
          <p:nvPr/>
        </p:nvSpPr>
        <p:spPr>
          <a:xfrm>
            <a:off x="2413000" y="4775200"/>
            <a:ext cx="2133600" cy="330200"/>
          </a:xfrm>
          <a:prstGeom prst="rect">
            <a:avLst/>
          </a:prstGeom>
          <a:solidFill>
            <a:srgbClr val="FFFFFF"/>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TextBox 69">
            <a:extLst>
              <a:ext uri="{FF2B5EF4-FFF2-40B4-BE49-F238E27FC236}">
                <a16:creationId xmlns:a16="http://schemas.microsoft.com/office/drawing/2014/main" id="{C8F9E429-69F0-06C3-766D-518A90718750}"/>
              </a:ext>
            </a:extLst>
          </p:cNvPr>
          <p:cNvSpPr txBox="1"/>
          <p:nvPr/>
        </p:nvSpPr>
        <p:spPr>
          <a:xfrm>
            <a:off x="2463800" y="4775200"/>
            <a:ext cx="2032000" cy="215444"/>
          </a:xfrm>
          <a:prstGeom prst="rect">
            <a:avLst/>
          </a:prstGeom>
          <a:noFill/>
        </p:spPr>
        <p:txBody>
          <a:bodyPr vert="horz" wrap="square" rtlCol="0">
            <a:spAutoFit/>
          </a:bodyPr>
          <a:lstStyle/>
          <a:p>
            <a:r>
              <a:rPr lang="en-US" sz="800">
                <a:solidFill>
                  <a:srgbClr val="3D3D3D"/>
                </a:solidFill>
                <a:latin typeface="Segoe UI" panose="020B0502040204020203" pitchFamily="34" charset="0"/>
              </a:rPr>
              <a:t>Named fields + bounding boxes</a:t>
            </a:r>
          </a:p>
        </p:txBody>
      </p:sp>
      <p:sp>
        <p:nvSpPr>
          <p:cNvPr id="71" name="Rectangle 70">
            <a:extLst>
              <a:ext uri="{FF2B5EF4-FFF2-40B4-BE49-F238E27FC236}">
                <a16:creationId xmlns:a16="http://schemas.microsoft.com/office/drawing/2014/main" id="{8BC3ACD2-399A-5932-E6C6-E0E6C276396A}"/>
              </a:ext>
            </a:extLst>
          </p:cNvPr>
          <p:cNvSpPr/>
          <p:nvPr/>
        </p:nvSpPr>
        <p:spPr>
          <a:xfrm>
            <a:off x="4572000" y="4775200"/>
            <a:ext cx="2133600" cy="330200"/>
          </a:xfrm>
          <a:prstGeom prst="rect">
            <a:avLst/>
          </a:prstGeom>
          <a:solidFill>
            <a:srgbClr val="FFFFFF"/>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71">
            <a:extLst>
              <a:ext uri="{FF2B5EF4-FFF2-40B4-BE49-F238E27FC236}">
                <a16:creationId xmlns:a16="http://schemas.microsoft.com/office/drawing/2014/main" id="{8F47838F-3A36-79EB-9209-1F77696F192E}"/>
              </a:ext>
            </a:extLst>
          </p:cNvPr>
          <p:cNvSpPr txBox="1"/>
          <p:nvPr/>
        </p:nvSpPr>
        <p:spPr>
          <a:xfrm>
            <a:off x="4622800" y="4775200"/>
            <a:ext cx="2032000" cy="215444"/>
          </a:xfrm>
          <a:prstGeom prst="rect">
            <a:avLst/>
          </a:prstGeom>
          <a:noFill/>
        </p:spPr>
        <p:txBody>
          <a:bodyPr vert="horz" wrap="square" rtlCol="0">
            <a:spAutoFit/>
          </a:bodyPr>
          <a:lstStyle/>
          <a:p>
            <a:r>
              <a:rPr lang="en-US" sz="800">
                <a:solidFill>
                  <a:srgbClr val="3D3D3D"/>
                </a:solidFill>
                <a:latin typeface="Segoe UI" panose="020B0502040204020203" pitchFamily="34" charset="0"/>
              </a:rPr>
              <a:t>11-param RAG queries</a:t>
            </a:r>
          </a:p>
        </p:txBody>
      </p:sp>
      <p:sp>
        <p:nvSpPr>
          <p:cNvPr id="73" name="Rectangle 72">
            <a:extLst>
              <a:ext uri="{FF2B5EF4-FFF2-40B4-BE49-F238E27FC236}">
                <a16:creationId xmlns:a16="http://schemas.microsoft.com/office/drawing/2014/main" id="{BF7BC686-7B5E-869A-8353-48CB052C3407}"/>
              </a:ext>
            </a:extLst>
          </p:cNvPr>
          <p:cNvSpPr/>
          <p:nvPr/>
        </p:nvSpPr>
        <p:spPr>
          <a:xfrm>
            <a:off x="6731000" y="4775200"/>
            <a:ext cx="2133600" cy="330200"/>
          </a:xfrm>
          <a:prstGeom prst="rect">
            <a:avLst/>
          </a:prstGeom>
          <a:solidFill>
            <a:srgbClr val="FFFFFF"/>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TextBox 73">
            <a:extLst>
              <a:ext uri="{FF2B5EF4-FFF2-40B4-BE49-F238E27FC236}">
                <a16:creationId xmlns:a16="http://schemas.microsoft.com/office/drawing/2014/main" id="{0303BE34-E796-9E5F-CED0-20956A264E11}"/>
              </a:ext>
            </a:extLst>
          </p:cNvPr>
          <p:cNvSpPr txBox="1"/>
          <p:nvPr/>
        </p:nvSpPr>
        <p:spPr>
          <a:xfrm>
            <a:off x="6781800" y="4775200"/>
            <a:ext cx="2032000" cy="215444"/>
          </a:xfrm>
          <a:prstGeom prst="rect">
            <a:avLst/>
          </a:prstGeom>
          <a:noFill/>
        </p:spPr>
        <p:txBody>
          <a:bodyPr vert="horz" wrap="square" rtlCol="0">
            <a:spAutoFit/>
          </a:bodyPr>
          <a:lstStyle/>
          <a:p>
            <a:r>
              <a:rPr lang="en-US" sz="800">
                <a:solidFill>
                  <a:srgbClr val="3D3D3D"/>
                </a:solidFill>
                <a:latin typeface="Segoe UI" panose="020B0502040204020203" pitchFamily="34" charset="0"/>
              </a:rPr>
              <a:t>Title block + SLD text</a:t>
            </a:r>
          </a:p>
        </p:txBody>
      </p:sp>
      <p:sp>
        <p:nvSpPr>
          <p:cNvPr id="75" name="Rectangle 74">
            <a:extLst>
              <a:ext uri="{FF2B5EF4-FFF2-40B4-BE49-F238E27FC236}">
                <a16:creationId xmlns:a16="http://schemas.microsoft.com/office/drawing/2014/main" id="{5815B1FD-70FE-03A3-0C67-A875B276662D}"/>
              </a:ext>
            </a:extLst>
          </p:cNvPr>
          <p:cNvSpPr/>
          <p:nvPr/>
        </p:nvSpPr>
        <p:spPr>
          <a:xfrm>
            <a:off x="254000" y="5130800"/>
            <a:ext cx="2133600" cy="330200"/>
          </a:xfrm>
          <a:prstGeom prst="rect">
            <a:avLst/>
          </a:prstGeom>
          <a:solidFill>
            <a:srgbClr val="FFFFFF"/>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TextBox 75">
            <a:extLst>
              <a:ext uri="{FF2B5EF4-FFF2-40B4-BE49-F238E27FC236}">
                <a16:creationId xmlns:a16="http://schemas.microsoft.com/office/drawing/2014/main" id="{F344A4CE-EB2C-A85A-3804-4C36F469A556}"/>
              </a:ext>
            </a:extLst>
          </p:cNvPr>
          <p:cNvSpPr txBox="1"/>
          <p:nvPr/>
        </p:nvSpPr>
        <p:spPr>
          <a:xfrm>
            <a:off x="304800" y="5130800"/>
            <a:ext cx="2032000" cy="215444"/>
          </a:xfrm>
          <a:prstGeom prst="rect">
            <a:avLst/>
          </a:prstGeom>
          <a:noFill/>
        </p:spPr>
        <p:txBody>
          <a:bodyPr vert="horz" wrap="square" rtlCol="0">
            <a:spAutoFit/>
          </a:bodyPr>
          <a:lstStyle/>
          <a:p>
            <a:r>
              <a:rPr lang="en-US" sz="800">
                <a:solidFill>
                  <a:srgbClr val="3D3D3D"/>
                </a:solidFill>
                <a:latin typeface="Segoe UI" panose="020B0502040204020203" pitchFamily="34" charset="0"/>
              </a:rPr>
              <a:t>Level 2</a:t>
            </a:r>
          </a:p>
        </p:txBody>
      </p:sp>
      <p:sp>
        <p:nvSpPr>
          <p:cNvPr id="77" name="Rectangle 76">
            <a:extLst>
              <a:ext uri="{FF2B5EF4-FFF2-40B4-BE49-F238E27FC236}">
                <a16:creationId xmlns:a16="http://schemas.microsoft.com/office/drawing/2014/main" id="{48732EA9-0657-CD0A-CE01-6F59CB1ADE5E}"/>
              </a:ext>
            </a:extLst>
          </p:cNvPr>
          <p:cNvSpPr/>
          <p:nvPr/>
        </p:nvSpPr>
        <p:spPr>
          <a:xfrm>
            <a:off x="2413000" y="5130800"/>
            <a:ext cx="2133600" cy="330200"/>
          </a:xfrm>
          <a:prstGeom prst="rect">
            <a:avLst/>
          </a:prstGeom>
          <a:solidFill>
            <a:srgbClr val="FFFFFF"/>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TextBox 77">
            <a:extLst>
              <a:ext uri="{FF2B5EF4-FFF2-40B4-BE49-F238E27FC236}">
                <a16:creationId xmlns:a16="http://schemas.microsoft.com/office/drawing/2014/main" id="{1B0A921E-1750-A93C-B246-48608EBDBF81}"/>
              </a:ext>
            </a:extLst>
          </p:cNvPr>
          <p:cNvSpPr txBox="1"/>
          <p:nvPr/>
        </p:nvSpPr>
        <p:spPr>
          <a:xfrm>
            <a:off x="2463800" y="5130800"/>
            <a:ext cx="2032000" cy="215444"/>
          </a:xfrm>
          <a:prstGeom prst="rect">
            <a:avLst/>
          </a:prstGeom>
          <a:noFill/>
        </p:spPr>
        <p:txBody>
          <a:bodyPr vert="horz" wrap="square" rtlCol="0">
            <a:spAutoFit/>
          </a:bodyPr>
          <a:lstStyle/>
          <a:p>
            <a:r>
              <a:rPr lang="en-US" sz="800">
                <a:solidFill>
                  <a:srgbClr val="3D3D3D"/>
                </a:solidFill>
                <a:latin typeface="Segoe UI" panose="020B0502040204020203" pitchFamily="34" charset="0"/>
              </a:rPr>
              <a:t>Table rows from trained fields</a:t>
            </a:r>
          </a:p>
        </p:txBody>
      </p:sp>
      <p:sp>
        <p:nvSpPr>
          <p:cNvPr id="79" name="Rectangle 78">
            <a:extLst>
              <a:ext uri="{FF2B5EF4-FFF2-40B4-BE49-F238E27FC236}">
                <a16:creationId xmlns:a16="http://schemas.microsoft.com/office/drawing/2014/main" id="{9543353A-1742-A13D-CEE1-A2D214373B6A}"/>
              </a:ext>
            </a:extLst>
          </p:cNvPr>
          <p:cNvSpPr/>
          <p:nvPr/>
        </p:nvSpPr>
        <p:spPr>
          <a:xfrm>
            <a:off x="4572000" y="5130800"/>
            <a:ext cx="2133600" cy="330200"/>
          </a:xfrm>
          <a:prstGeom prst="rect">
            <a:avLst/>
          </a:prstGeom>
          <a:solidFill>
            <a:srgbClr val="FFFFFF"/>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TextBox 79">
            <a:extLst>
              <a:ext uri="{FF2B5EF4-FFF2-40B4-BE49-F238E27FC236}">
                <a16:creationId xmlns:a16="http://schemas.microsoft.com/office/drawing/2014/main" id="{331954C0-2378-2F17-3308-49448012EA68}"/>
              </a:ext>
            </a:extLst>
          </p:cNvPr>
          <p:cNvSpPr txBox="1"/>
          <p:nvPr/>
        </p:nvSpPr>
        <p:spPr>
          <a:xfrm>
            <a:off x="4622800" y="5130800"/>
            <a:ext cx="2032000" cy="215444"/>
          </a:xfrm>
          <a:prstGeom prst="rect">
            <a:avLst/>
          </a:prstGeom>
          <a:noFill/>
        </p:spPr>
        <p:txBody>
          <a:bodyPr vert="horz" wrap="square" rtlCol="0">
            <a:spAutoFit/>
          </a:bodyPr>
          <a:lstStyle/>
          <a:p>
            <a:r>
              <a:rPr lang="en-US" sz="800">
                <a:solidFill>
                  <a:srgbClr val="3D3D3D"/>
                </a:solidFill>
                <a:latin typeface="Segoe UI" panose="020B0502040204020203" pitchFamily="34" charset="0"/>
              </a:rPr>
              <a:t>Schedule table detection</a:t>
            </a:r>
          </a:p>
        </p:txBody>
      </p:sp>
      <p:sp>
        <p:nvSpPr>
          <p:cNvPr id="81" name="Rectangle 80">
            <a:extLst>
              <a:ext uri="{FF2B5EF4-FFF2-40B4-BE49-F238E27FC236}">
                <a16:creationId xmlns:a16="http://schemas.microsoft.com/office/drawing/2014/main" id="{AE41B419-6A53-7B37-F014-F2229AEB0C94}"/>
              </a:ext>
            </a:extLst>
          </p:cNvPr>
          <p:cNvSpPr/>
          <p:nvPr/>
        </p:nvSpPr>
        <p:spPr>
          <a:xfrm>
            <a:off x="6731000" y="5130800"/>
            <a:ext cx="2133600" cy="330200"/>
          </a:xfrm>
          <a:prstGeom prst="rect">
            <a:avLst/>
          </a:prstGeom>
          <a:solidFill>
            <a:srgbClr val="FFFFFF"/>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TextBox 81">
            <a:extLst>
              <a:ext uri="{FF2B5EF4-FFF2-40B4-BE49-F238E27FC236}">
                <a16:creationId xmlns:a16="http://schemas.microsoft.com/office/drawing/2014/main" id="{1929BAAF-FB16-DEEE-B48E-E3EAD865FF39}"/>
              </a:ext>
            </a:extLst>
          </p:cNvPr>
          <p:cNvSpPr txBox="1"/>
          <p:nvPr/>
        </p:nvSpPr>
        <p:spPr>
          <a:xfrm>
            <a:off x="6781800" y="5130800"/>
            <a:ext cx="2032000" cy="215444"/>
          </a:xfrm>
          <a:prstGeom prst="rect">
            <a:avLst/>
          </a:prstGeom>
          <a:noFill/>
        </p:spPr>
        <p:txBody>
          <a:bodyPr vert="horz" wrap="square" rtlCol="0">
            <a:spAutoFit/>
          </a:bodyPr>
          <a:lstStyle/>
          <a:p>
            <a:r>
              <a:rPr lang="en-US" sz="800">
                <a:solidFill>
                  <a:srgbClr val="3D3D3D"/>
                </a:solidFill>
                <a:latin typeface="Segoe UI" panose="020B0502040204020203" pitchFamily="34" charset="0"/>
              </a:rPr>
              <a:t>Panel column segmentation</a:t>
            </a:r>
          </a:p>
        </p:txBody>
      </p:sp>
    </p:spTree>
    <p:extLst>
      <p:ext uri="{BB962C8B-B14F-4D97-AF65-F5344CB8AC3E}">
        <p14:creationId xmlns:p14="http://schemas.microsoft.com/office/powerpoint/2010/main" val="42854094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D99ABEF-4E79-82D3-7475-E80BA0ED269D}"/>
              </a:ext>
            </a:extLst>
          </p:cNvPr>
          <p:cNvSpPr/>
          <p:nvPr/>
        </p:nvSpPr>
        <p:spPr>
          <a:xfrm>
            <a:off x="0" y="0"/>
            <a:ext cx="9144000" cy="6858000"/>
          </a:xfrm>
          <a:prstGeom prst="rect">
            <a:avLst/>
          </a:prstGeom>
          <a:solidFill>
            <a:srgbClr val="1E1E1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532201DA-31B0-2ED0-C33C-5EB706D70066}"/>
              </a:ext>
            </a:extLst>
          </p:cNvPr>
          <p:cNvSpPr/>
          <p:nvPr/>
        </p:nvSpPr>
        <p:spPr>
          <a:xfrm>
            <a:off x="0" y="0"/>
            <a:ext cx="9144000" cy="762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F3FEEC4-FB00-B349-3CD2-87AEC71C96F9}"/>
              </a:ext>
            </a:extLst>
          </p:cNvPr>
          <p:cNvSpPr txBox="1"/>
          <p:nvPr/>
        </p:nvSpPr>
        <p:spPr>
          <a:xfrm>
            <a:off x="254000" y="177800"/>
            <a:ext cx="8636000" cy="400110"/>
          </a:xfrm>
          <a:prstGeom prst="rect">
            <a:avLst/>
          </a:prstGeom>
          <a:noFill/>
        </p:spPr>
        <p:txBody>
          <a:bodyPr vert="horz" wrap="square" rtlCol="0">
            <a:spAutoFit/>
          </a:bodyPr>
          <a:lstStyle/>
          <a:p>
            <a:r>
              <a:rPr lang="en-US" sz="2000" b="1">
                <a:solidFill>
                  <a:srgbClr val="FFFFFF"/>
                </a:solidFill>
                <a:latin typeface="Segoe UI" panose="020B0502040204020203" pitchFamily="34" charset="0"/>
              </a:rPr>
              <a:t>Azure Services Used</a:t>
            </a:r>
          </a:p>
        </p:txBody>
      </p:sp>
      <p:sp>
        <p:nvSpPr>
          <p:cNvPr id="5" name="Rectangle 4">
            <a:extLst>
              <a:ext uri="{FF2B5EF4-FFF2-40B4-BE49-F238E27FC236}">
                <a16:creationId xmlns:a16="http://schemas.microsoft.com/office/drawing/2014/main" id="{D3F01E81-7EEB-409F-6253-8F553ACE81B4}"/>
              </a:ext>
            </a:extLst>
          </p:cNvPr>
          <p:cNvSpPr/>
          <p:nvPr/>
        </p:nvSpPr>
        <p:spPr>
          <a:xfrm>
            <a:off x="254000" y="533400"/>
            <a:ext cx="8636000" cy="12700"/>
          </a:xfrm>
          <a:prstGeom prst="rect">
            <a:avLst/>
          </a:prstGeom>
          <a:solidFill>
            <a:srgbClr val="44444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557765C-0686-9446-E54C-77A8B0E1C764}"/>
              </a:ext>
            </a:extLst>
          </p:cNvPr>
          <p:cNvSpPr/>
          <p:nvPr/>
        </p:nvSpPr>
        <p:spPr>
          <a:xfrm>
            <a:off x="254000" y="660400"/>
            <a:ext cx="2946400" cy="1803400"/>
          </a:xfrm>
          <a:prstGeom prst="rect">
            <a:avLst/>
          </a:prstGeom>
          <a:solidFill>
            <a:srgbClr val="1A1A1A"/>
          </a:solidFill>
          <a:ln w="12700">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94B8580-8BC8-5ABB-6C91-2074E39DC97C}"/>
              </a:ext>
            </a:extLst>
          </p:cNvPr>
          <p:cNvSpPr/>
          <p:nvPr/>
        </p:nvSpPr>
        <p:spPr>
          <a:xfrm>
            <a:off x="254000" y="660400"/>
            <a:ext cx="2946400" cy="254000"/>
          </a:xfrm>
          <a:prstGeom prst="rect">
            <a:avLst/>
          </a:prstGeom>
          <a:solidFill>
            <a:srgbClr val="8659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CC6E651-7A7B-8AC9-E4A6-18CE06A96B5C}"/>
              </a:ext>
            </a:extLst>
          </p:cNvPr>
          <p:cNvSpPr txBox="1"/>
          <p:nvPr/>
        </p:nvSpPr>
        <p:spPr>
          <a:xfrm>
            <a:off x="330200" y="660400"/>
            <a:ext cx="2794000" cy="215444"/>
          </a:xfrm>
          <a:prstGeom prst="rect">
            <a:avLst/>
          </a:prstGeom>
          <a:noFill/>
        </p:spPr>
        <p:txBody>
          <a:bodyPr vert="horz" wrap="square" rtlCol="0">
            <a:spAutoFit/>
          </a:bodyPr>
          <a:lstStyle/>
          <a:p>
            <a:r>
              <a:rPr lang="en-US" sz="800" b="1">
                <a:solidFill>
                  <a:srgbClr val="FFFFFF"/>
                </a:solidFill>
                <a:latin typeface="Segoe UI" panose="020B0502040204020203" pitchFamily="34" charset="0"/>
              </a:rPr>
              <a:t>Azure Document Intelligence</a:t>
            </a:r>
          </a:p>
        </p:txBody>
      </p:sp>
      <p:sp>
        <p:nvSpPr>
          <p:cNvPr id="9" name="TextBox 8">
            <a:extLst>
              <a:ext uri="{FF2B5EF4-FFF2-40B4-BE49-F238E27FC236}">
                <a16:creationId xmlns:a16="http://schemas.microsoft.com/office/drawing/2014/main" id="{F110E9E1-882B-5D8E-53FF-42800E38A23B}"/>
              </a:ext>
            </a:extLst>
          </p:cNvPr>
          <p:cNvSpPr txBox="1"/>
          <p:nvPr/>
        </p:nvSpPr>
        <p:spPr>
          <a:xfrm>
            <a:off x="330200" y="939800"/>
            <a:ext cx="2794000" cy="215444"/>
          </a:xfrm>
          <a:prstGeom prst="rect">
            <a:avLst/>
          </a:prstGeom>
          <a:noFill/>
        </p:spPr>
        <p:txBody>
          <a:bodyPr vert="horz" wrap="square" rtlCol="0">
            <a:spAutoFit/>
          </a:bodyPr>
          <a:lstStyle/>
          <a:p>
            <a:r>
              <a:rPr lang="en-US" sz="800" b="1">
                <a:solidFill>
                  <a:srgbClr val="FF8000"/>
                </a:solidFill>
                <a:latin typeface="Segoe UI" panose="020B0502040204020203" pitchFamily="34" charset="0"/>
              </a:rPr>
              <a:t>Primary OCR -- prebuilt-layout model</a:t>
            </a:r>
          </a:p>
        </p:txBody>
      </p:sp>
      <p:sp>
        <p:nvSpPr>
          <p:cNvPr id="10" name="TextBox 9">
            <a:extLst>
              <a:ext uri="{FF2B5EF4-FFF2-40B4-BE49-F238E27FC236}">
                <a16:creationId xmlns:a16="http://schemas.microsoft.com/office/drawing/2014/main" id="{D4AE4F0D-4ABC-BCEF-0691-D761EED13AB8}"/>
              </a:ext>
            </a:extLst>
          </p:cNvPr>
          <p:cNvSpPr txBox="1"/>
          <p:nvPr/>
        </p:nvSpPr>
        <p:spPr>
          <a:xfrm>
            <a:off x="330200" y="1143000"/>
            <a:ext cx="2794000" cy="307777"/>
          </a:xfrm>
          <a:prstGeom prst="rect">
            <a:avLst/>
          </a:prstGeom>
          <a:noFill/>
        </p:spPr>
        <p:txBody>
          <a:bodyPr vert="horz" wrap="square" rtlCol="0">
            <a:spAutoFit/>
          </a:bodyPr>
          <a:lstStyle/>
          <a:p>
            <a:r>
              <a:rPr lang="en-US" sz="700">
                <a:solidFill>
                  <a:srgbClr val="CCCCCC"/>
                </a:solidFill>
                <a:latin typeface="Segoe UI" panose="020B0502040204020203" pitchFamily="34" charset="0"/>
              </a:rPr>
              <a:t>Extracts text, tables, and figures with bounding boxes. PdfPig for true page count. iText7 fallback when coverage &lt; 30% (CAD PDFs).</a:t>
            </a:r>
          </a:p>
        </p:txBody>
      </p:sp>
      <p:sp>
        <p:nvSpPr>
          <p:cNvPr id="11" name="Rectangle 10">
            <a:extLst>
              <a:ext uri="{FF2B5EF4-FFF2-40B4-BE49-F238E27FC236}">
                <a16:creationId xmlns:a16="http://schemas.microsoft.com/office/drawing/2014/main" id="{A664F602-8DAE-39C8-2EE1-575B372DBE5C}"/>
              </a:ext>
            </a:extLst>
          </p:cNvPr>
          <p:cNvSpPr/>
          <p:nvPr/>
        </p:nvSpPr>
        <p:spPr>
          <a:xfrm>
            <a:off x="254000" y="1905000"/>
            <a:ext cx="2946400" cy="12700"/>
          </a:xfrm>
          <a:prstGeom prst="rect">
            <a:avLst/>
          </a:prstGeom>
          <a:solidFill>
            <a:srgbClr val="44444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D19A577-AC4E-5424-FD4F-0220727B832C}"/>
              </a:ext>
            </a:extLst>
          </p:cNvPr>
          <p:cNvSpPr txBox="1"/>
          <p:nvPr/>
        </p:nvSpPr>
        <p:spPr>
          <a:xfrm>
            <a:off x="330200" y="1955800"/>
            <a:ext cx="2794000" cy="184666"/>
          </a:xfrm>
          <a:prstGeom prst="rect">
            <a:avLst/>
          </a:prstGeom>
          <a:noFill/>
        </p:spPr>
        <p:txBody>
          <a:bodyPr vert="horz" wrap="square" rtlCol="0">
            <a:spAutoFit/>
          </a:bodyPr>
          <a:lstStyle/>
          <a:p>
            <a:r>
              <a:rPr lang="en-US" sz="600">
                <a:solidFill>
                  <a:srgbClr val="888888"/>
                </a:solidFill>
                <a:latin typeface="Segoe UI" panose="020B0502040204020203" pitchFamily="34" charset="0"/>
              </a:rPr>
              <a:t>Used: Path A custom neural model (Level 1 + Level 2 fields)</a:t>
            </a:r>
          </a:p>
        </p:txBody>
      </p:sp>
      <p:sp>
        <p:nvSpPr>
          <p:cNvPr id="13" name="Rectangle 12">
            <a:extLst>
              <a:ext uri="{FF2B5EF4-FFF2-40B4-BE49-F238E27FC236}">
                <a16:creationId xmlns:a16="http://schemas.microsoft.com/office/drawing/2014/main" id="{969BC8E5-63B9-F799-E9A3-AF94AC2F1633}"/>
              </a:ext>
            </a:extLst>
          </p:cNvPr>
          <p:cNvSpPr/>
          <p:nvPr/>
        </p:nvSpPr>
        <p:spPr>
          <a:xfrm>
            <a:off x="3276600" y="660400"/>
            <a:ext cx="2946400" cy="1803400"/>
          </a:xfrm>
          <a:prstGeom prst="rect">
            <a:avLst/>
          </a:prstGeom>
          <a:solidFill>
            <a:srgbClr val="1A1A1A"/>
          </a:solidFill>
          <a:ln w="12700">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7C7C950-7B2E-B616-0F99-B4A0E46E106F}"/>
              </a:ext>
            </a:extLst>
          </p:cNvPr>
          <p:cNvSpPr/>
          <p:nvPr/>
        </p:nvSpPr>
        <p:spPr>
          <a:xfrm>
            <a:off x="3276600" y="660400"/>
            <a:ext cx="2946400" cy="254000"/>
          </a:xfrm>
          <a:prstGeom prst="rect">
            <a:avLst/>
          </a:prstGeom>
          <a:solidFill>
            <a:srgbClr val="1A3A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1F1A883D-D8E8-AFE7-8D71-77B30BD1C8BF}"/>
              </a:ext>
            </a:extLst>
          </p:cNvPr>
          <p:cNvSpPr txBox="1"/>
          <p:nvPr/>
        </p:nvSpPr>
        <p:spPr>
          <a:xfrm>
            <a:off x="3352800" y="660400"/>
            <a:ext cx="2794000" cy="215444"/>
          </a:xfrm>
          <a:prstGeom prst="rect">
            <a:avLst/>
          </a:prstGeom>
          <a:noFill/>
        </p:spPr>
        <p:txBody>
          <a:bodyPr vert="horz" wrap="square" rtlCol="0">
            <a:spAutoFit/>
          </a:bodyPr>
          <a:lstStyle/>
          <a:p>
            <a:r>
              <a:rPr lang="en-US" sz="800" b="1">
                <a:solidFill>
                  <a:srgbClr val="FFFFFF"/>
                </a:solidFill>
                <a:latin typeface="Segoe UI" panose="020B0502040204020203" pitchFamily="34" charset="0"/>
              </a:rPr>
              <a:t>Azure OpenAI -- gpt-4o-mini</a:t>
            </a:r>
          </a:p>
        </p:txBody>
      </p:sp>
      <p:sp>
        <p:nvSpPr>
          <p:cNvPr id="16" name="TextBox 15">
            <a:extLst>
              <a:ext uri="{FF2B5EF4-FFF2-40B4-BE49-F238E27FC236}">
                <a16:creationId xmlns:a16="http://schemas.microsoft.com/office/drawing/2014/main" id="{3D0475AC-E79B-723E-645C-958A4E078153}"/>
              </a:ext>
            </a:extLst>
          </p:cNvPr>
          <p:cNvSpPr txBox="1"/>
          <p:nvPr/>
        </p:nvSpPr>
        <p:spPr>
          <a:xfrm>
            <a:off x="3352800" y="939800"/>
            <a:ext cx="2794000" cy="215444"/>
          </a:xfrm>
          <a:prstGeom prst="rect">
            <a:avLst/>
          </a:prstGeom>
          <a:noFill/>
        </p:spPr>
        <p:txBody>
          <a:bodyPr vert="horz" wrap="square" rtlCol="0">
            <a:spAutoFit/>
          </a:bodyPr>
          <a:lstStyle/>
          <a:p>
            <a:r>
              <a:rPr lang="en-US" sz="800" b="1">
                <a:solidFill>
                  <a:srgbClr val="FF8000"/>
                </a:solidFill>
                <a:latin typeface="Segoe UI" panose="020B0502040204020203" pitchFamily="34" charset="0"/>
              </a:rPr>
              <a:t>Text extraction LLM (Path B)</a:t>
            </a:r>
          </a:p>
        </p:txBody>
      </p:sp>
      <p:sp>
        <p:nvSpPr>
          <p:cNvPr id="17" name="TextBox 16">
            <a:extLst>
              <a:ext uri="{FF2B5EF4-FFF2-40B4-BE49-F238E27FC236}">
                <a16:creationId xmlns:a16="http://schemas.microsoft.com/office/drawing/2014/main" id="{333A6F9E-1485-B8F0-BA47-0918F9FD1C58}"/>
              </a:ext>
            </a:extLst>
          </p:cNvPr>
          <p:cNvSpPr txBox="1"/>
          <p:nvPr/>
        </p:nvSpPr>
        <p:spPr>
          <a:xfrm>
            <a:off x="3352800" y="1143000"/>
            <a:ext cx="2794000" cy="415498"/>
          </a:xfrm>
          <a:prstGeom prst="rect">
            <a:avLst/>
          </a:prstGeom>
          <a:noFill/>
        </p:spPr>
        <p:txBody>
          <a:bodyPr vert="horz" wrap="square" rtlCol="0">
            <a:spAutoFit/>
          </a:bodyPr>
          <a:lstStyle/>
          <a:p>
            <a:r>
              <a:rPr lang="en-US" sz="700">
                <a:solidFill>
                  <a:srgbClr val="CCCCCC"/>
                </a:solidFill>
                <a:latin typeface="Segoe UI" panose="020B0502040204020203" pitchFamily="34" charset="0"/>
              </a:rPr>
              <a:t>11 parallel parameter queries via RAG. JSON Schema enforcement. 8K token hard cap + IsSpecPage() pre-filter. Cubicle schedule table extraction.</a:t>
            </a:r>
          </a:p>
        </p:txBody>
      </p:sp>
      <p:sp>
        <p:nvSpPr>
          <p:cNvPr id="18" name="Rectangle 17">
            <a:extLst>
              <a:ext uri="{FF2B5EF4-FFF2-40B4-BE49-F238E27FC236}">
                <a16:creationId xmlns:a16="http://schemas.microsoft.com/office/drawing/2014/main" id="{BC198C32-08D1-A78C-E476-243C247B34DF}"/>
              </a:ext>
            </a:extLst>
          </p:cNvPr>
          <p:cNvSpPr/>
          <p:nvPr/>
        </p:nvSpPr>
        <p:spPr>
          <a:xfrm>
            <a:off x="3276600" y="1905000"/>
            <a:ext cx="2946400" cy="12700"/>
          </a:xfrm>
          <a:prstGeom prst="rect">
            <a:avLst/>
          </a:prstGeom>
          <a:solidFill>
            <a:srgbClr val="44444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F6240822-81E3-99FA-A212-2B4626AFE788}"/>
              </a:ext>
            </a:extLst>
          </p:cNvPr>
          <p:cNvSpPr txBox="1"/>
          <p:nvPr/>
        </p:nvSpPr>
        <p:spPr>
          <a:xfrm>
            <a:off x="3352800" y="1955800"/>
            <a:ext cx="2794000" cy="184666"/>
          </a:xfrm>
          <a:prstGeom prst="rect">
            <a:avLst/>
          </a:prstGeom>
          <a:noFill/>
        </p:spPr>
        <p:txBody>
          <a:bodyPr vert="horz" wrap="square" rtlCol="0">
            <a:spAutoFit/>
          </a:bodyPr>
          <a:lstStyle/>
          <a:p>
            <a:r>
              <a:rPr lang="en-US" sz="600">
                <a:solidFill>
                  <a:srgbClr val="888888"/>
                </a:solidFill>
                <a:latin typeface="Segoe UI" panose="020B0502040204020203" pitchFamily="34" charset="0"/>
              </a:rPr>
              <a:t>Used: Path B Level 1 + Level 2; Multi-instance detection</a:t>
            </a:r>
          </a:p>
        </p:txBody>
      </p:sp>
      <p:sp>
        <p:nvSpPr>
          <p:cNvPr id="20" name="Rectangle 19">
            <a:extLst>
              <a:ext uri="{FF2B5EF4-FFF2-40B4-BE49-F238E27FC236}">
                <a16:creationId xmlns:a16="http://schemas.microsoft.com/office/drawing/2014/main" id="{ACEDBBC2-6903-EE09-2747-D4D5B1089D3A}"/>
              </a:ext>
            </a:extLst>
          </p:cNvPr>
          <p:cNvSpPr/>
          <p:nvPr/>
        </p:nvSpPr>
        <p:spPr>
          <a:xfrm>
            <a:off x="6299200" y="660400"/>
            <a:ext cx="2946400" cy="1803400"/>
          </a:xfrm>
          <a:prstGeom prst="rect">
            <a:avLst/>
          </a:prstGeom>
          <a:solidFill>
            <a:srgbClr val="1A1A1A"/>
          </a:solidFill>
          <a:ln w="12700">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BE399C6-A8CA-051C-6E8E-CE4DC3E48229}"/>
              </a:ext>
            </a:extLst>
          </p:cNvPr>
          <p:cNvSpPr/>
          <p:nvPr/>
        </p:nvSpPr>
        <p:spPr>
          <a:xfrm>
            <a:off x="6299200" y="660400"/>
            <a:ext cx="2946400" cy="254000"/>
          </a:xfrm>
          <a:prstGeom prst="rect">
            <a:avLst/>
          </a:prstGeom>
          <a:solidFill>
            <a:srgbClr val="3A1A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9FB9BC35-8126-345C-0475-E0B0F0347066}"/>
              </a:ext>
            </a:extLst>
          </p:cNvPr>
          <p:cNvSpPr txBox="1"/>
          <p:nvPr/>
        </p:nvSpPr>
        <p:spPr>
          <a:xfrm>
            <a:off x="6375400" y="660400"/>
            <a:ext cx="2794000" cy="215444"/>
          </a:xfrm>
          <a:prstGeom prst="rect">
            <a:avLst/>
          </a:prstGeom>
          <a:noFill/>
        </p:spPr>
        <p:txBody>
          <a:bodyPr vert="horz" wrap="square" rtlCol="0">
            <a:spAutoFit/>
          </a:bodyPr>
          <a:lstStyle/>
          <a:p>
            <a:r>
              <a:rPr lang="en-US" sz="800" b="1">
                <a:solidFill>
                  <a:srgbClr val="FFFFFF"/>
                </a:solidFill>
                <a:latin typeface="Segoe UI" panose="020B0502040204020203" pitchFamily="34" charset="0"/>
              </a:rPr>
              <a:t>Azure OpenAI -- gpt-4o</a:t>
            </a:r>
          </a:p>
        </p:txBody>
      </p:sp>
      <p:sp>
        <p:nvSpPr>
          <p:cNvPr id="23" name="TextBox 22">
            <a:extLst>
              <a:ext uri="{FF2B5EF4-FFF2-40B4-BE49-F238E27FC236}">
                <a16:creationId xmlns:a16="http://schemas.microsoft.com/office/drawing/2014/main" id="{9912DEDD-045B-29FF-084E-28051B109597}"/>
              </a:ext>
            </a:extLst>
          </p:cNvPr>
          <p:cNvSpPr txBox="1"/>
          <p:nvPr/>
        </p:nvSpPr>
        <p:spPr>
          <a:xfrm>
            <a:off x="6375400" y="939800"/>
            <a:ext cx="2794000" cy="215444"/>
          </a:xfrm>
          <a:prstGeom prst="rect">
            <a:avLst/>
          </a:prstGeom>
          <a:noFill/>
        </p:spPr>
        <p:txBody>
          <a:bodyPr vert="horz" wrap="square" rtlCol="0">
            <a:spAutoFit/>
          </a:bodyPr>
          <a:lstStyle/>
          <a:p>
            <a:r>
              <a:rPr lang="en-US" sz="800" b="1">
                <a:solidFill>
                  <a:srgbClr val="FF8000"/>
                </a:solidFill>
                <a:latin typeface="Segoe UI" panose="020B0502040204020203" pitchFamily="34" charset="0"/>
              </a:rPr>
              <a:t>Vision LLM (Path C)</a:t>
            </a:r>
          </a:p>
        </p:txBody>
      </p:sp>
      <p:sp>
        <p:nvSpPr>
          <p:cNvPr id="24" name="TextBox 23">
            <a:extLst>
              <a:ext uri="{FF2B5EF4-FFF2-40B4-BE49-F238E27FC236}">
                <a16:creationId xmlns:a16="http://schemas.microsoft.com/office/drawing/2014/main" id="{7E566D3B-0D66-A6EB-CFE2-1BCBA6E6ADD2}"/>
              </a:ext>
            </a:extLst>
          </p:cNvPr>
          <p:cNvSpPr txBox="1"/>
          <p:nvPr/>
        </p:nvSpPr>
        <p:spPr>
          <a:xfrm>
            <a:off x="6375400" y="1143000"/>
            <a:ext cx="2794000" cy="415498"/>
          </a:xfrm>
          <a:prstGeom prst="rect">
            <a:avLst/>
          </a:prstGeom>
          <a:noFill/>
        </p:spPr>
        <p:txBody>
          <a:bodyPr vert="horz" wrap="square" rtlCol="0">
            <a:spAutoFit/>
          </a:bodyPr>
          <a:lstStyle/>
          <a:p>
            <a:r>
              <a:rPr lang="en-US" sz="700">
                <a:solidFill>
                  <a:srgbClr val="CCCCCC"/>
                </a:solidFill>
                <a:latin typeface="Segoe UI" panose="020B0502040204020203" pitchFamily="34" charset="0"/>
              </a:rPr>
              <a:t>Analyzes SLD diagram images. Extracts system params, per-panel device data, topology from 300 DPI PNG renders. Handles IEC 60617 symbols.</a:t>
            </a:r>
          </a:p>
        </p:txBody>
      </p:sp>
      <p:sp>
        <p:nvSpPr>
          <p:cNvPr id="25" name="Rectangle 24">
            <a:extLst>
              <a:ext uri="{FF2B5EF4-FFF2-40B4-BE49-F238E27FC236}">
                <a16:creationId xmlns:a16="http://schemas.microsoft.com/office/drawing/2014/main" id="{BFB52719-757C-CE30-F620-859DE9ED525C}"/>
              </a:ext>
            </a:extLst>
          </p:cNvPr>
          <p:cNvSpPr/>
          <p:nvPr/>
        </p:nvSpPr>
        <p:spPr>
          <a:xfrm>
            <a:off x="6299200" y="1905000"/>
            <a:ext cx="2946400" cy="12700"/>
          </a:xfrm>
          <a:prstGeom prst="rect">
            <a:avLst/>
          </a:prstGeom>
          <a:solidFill>
            <a:srgbClr val="44444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9DED7F53-F299-146A-5723-2F7DBFC5955B}"/>
              </a:ext>
            </a:extLst>
          </p:cNvPr>
          <p:cNvSpPr txBox="1"/>
          <p:nvPr/>
        </p:nvSpPr>
        <p:spPr>
          <a:xfrm>
            <a:off x="6375400" y="1955800"/>
            <a:ext cx="2794000" cy="184666"/>
          </a:xfrm>
          <a:prstGeom prst="rect">
            <a:avLst/>
          </a:prstGeom>
          <a:noFill/>
        </p:spPr>
        <p:txBody>
          <a:bodyPr vert="horz" wrap="square" rtlCol="0">
            <a:spAutoFit/>
          </a:bodyPr>
          <a:lstStyle/>
          <a:p>
            <a:r>
              <a:rPr lang="en-US" sz="600">
                <a:solidFill>
                  <a:srgbClr val="888888"/>
                </a:solidFill>
                <a:latin typeface="Segoe UI" panose="020B0502040204020203" pitchFamily="34" charset="0"/>
              </a:rPr>
              <a:t>Used: Path C Sub-flow 1, 2, 3; BusbarArrangement binary query</a:t>
            </a:r>
          </a:p>
        </p:txBody>
      </p:sp>
      <p:sp>
        <p:nvSpPr>
          <p:cNvPr id="27" name="Rectangle 26">
            <a:extLst>
              <a:ext uri="{FF2B5EF4-FFF2-40B4-BE49-F238E27FC236}">
                <a16:creationId xmlns:a16="http://schemas.microsoft.com/office/drawing/2014/main" id="{318CF6DF-B127-AD28-0970-D9FAA832FE76}"/>
              </a:ext>
            </a:extLst>
          </p:cNvPr>
          <p:cNvSpPr/>
          <p:nvPr/>
        </p:nvSpPr>
        <p:spPr>
          <a:xfrm>
            <a:off x="254000" y="2540000"/>
            <a:ext cx="2946400" cy="1803400"/>
          </a:xfrm>
          <a:prstGeom prst="rect">
            <a:avLst/>
          </a:prstGeom>
          <a:solidFill>
            <a:srgbClr val="1A1A1A"/>
          </a:solidFill>
          <a:ln w="12700">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72C3FB64-7AD6-B825-7C12-C4B92BF4BF7D}"/>
              </a:ext>
            </a:extLst>
          </p:cNvPr>
          <p:cNvSpPr/>
          <p:nvPr/>
        </p:nvSpPr>
        <p:spPr>
          <a:xfrm>
            <a:off x="254000" y="2540000"/>
            <a:ext cx="2946400" cy="254000"/>
          </a:xfrm>
          <a:prstGeom prst="rect">
            <a:avLst/>
          </a:prstGeom>
          <a:solidFill>
            <a:srgbClr val="3A3A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BD98A20A-355C-C3B4-86BD-0340419C95AC}"/>
              </a:ext>
            </a:extLst>
          </p:cNvPr>
          <p:cNvSpPr txBox="1"/>
          <p:nvPr/>
        </p:nvSpPr>
        <p:spPr>
          <a:xfrm>
            <a:off x="330200" y="2540000"/>
            <a:ext cx="2794000" cy="215444"/>
          </a:xfrm>
          <a:prstGeom prst="rect">
            <a:avLst/>
          </a:prstGeom>
          <a:noFill/>
        </p:spPr>
        <p:txBody>
          <a:bodyPr vert="horz" wrap="square" rtlCol="0">
            <a:spAutoFit/>
          </a:bodyPr>
          <a:lstStyle/>
          <a:p>
            <a:r>
              <a:rPr lang="it-IT" sz="800" b="1">
                <a:solidFill>
                  <a:srgbClr val="FFFFFF"/>
                </a:solidFill>
                <a:latin typeface="Segoe UI" panose="020B0502040204020203" pitchFamily="34" charset="0"/>
              </a:rPr>
              <a:t>Azure AI Vision -- Read API</a:t>
            </a:r>
            <a:endParaRPr lang="en-US" sz="800" b="1">
              <a:solidFill>
                <a:srgbClr val="FFFFFF"/>
              </a:solidFill>
              <a:latin typeface="Segoe UI" panose="020B0502040204020203" pitchFamily="34" charset="0"/>
            </a:endParaRPr>
          </a:p>
        </p:txBody>
      </p:sp>
      <p:sp>
        <p:nvSpPr>
          <p:cNvPr id="30" name="TextBox 29">
            <a:extLst>
              <a:ext uri="{FF2B5EF4-FFF2-40B4-BE49-F238E27FC236}">
                <a16:creationId xmlns:a16="http://schemas.microsoft.com/office/drawing/2014/main" id="{34FB91FF-63E4-726B-36DB-5D26C8B89CEA}"/>
              </a:ext>
            </a:extLst>
          </p:cNvPr>
          <p:cNvSpPr txBox="1"/>
          <p:nvPr/>
        </p:nvSpPr>
        <p:spPr>
          <a:xfrm>
            <a:off x="330200" y="2819400"/>
            <a:ext cx="2794000" cy="215444"/>
          </a:xfrm>
          <a:prstGeom prst="rect">
            <a:avLst/>
          </a:prstGeom>
          <a:noFill/>
        </p:spPr>
        <p:txBody>
          <a:bodyPr vert="horz" wrap="square" rtlCol="0">
            <a:spAutoFit/>
          </a:bodyPr>
          <a:lstStyle/>
          <a:p>
            <a:r>
              <a:rPr lang="en-US" sz="800" b="1">
                <a:solidFill>
                  <a:srgbClr val="FF8000"/>
                </a:solidFill>
                <a:latin typeface="Segoe UI" panose="020B0502040204020203" pitchFamily="34" charset="0"/>
              </a:rPr>
              <a:t>SLD OCR with pixel bounding boxes</a:t>
            </a:r>
          </a:p>
        </p:txBody>
      </p:sp>
      <p:sp>
        <p:nvSpPr>
          <p:cNvPr id="31" name="TextBox 30">
            <a:extLst>
              <a:ext uri="{FF2B5EF4-FFF2-40B4-BE49-F238E27FC236}">
                <a16:creationId xmlns:a16="http://schemas.microsoft.com/office/drawing/2014/main" id="{9F2706F0-3694-FD63-0683-AE15CBBF5135}"/>
              </a:ext>
            </a:extLst>
          </p:cNvPr>
          <p:cNvSpPr txBox="1"/>
          <p:nvPr/>
        </p:nvSpPr>
        <p:spPr>
          <a:xfrm>
            <a:off x="330200" y="3022600"/>
            <a:ext cx="2794000" cy="415498"/>
          </a:xfrm>
          <a:prstGeom prst="rect">
            <a:avLst/>
          </a:prstGeom>
          <a:noFill/>
        </p:spPr>
        <p:txBody>
          <a:bodyPr vert="horz" wrap="square" rtlCol="0">
            <a:spAutoFit/>
          </a:bodyPr>
          <a:lstStyle/>
          <a:p>
            <a:r>
              <a:rPr lang="en-US" sz="700">
                <a:solidFill>
                  <a:srgbClr val="CCCCCC"/>
                </a:solidFill>
                <a:latin typeface="Segoe UI" panose="020B0502040204020203" pitchFamily="34" charset="0"/>
              </a:rPr>
              <a:t>Full-page OCR on rasterised SLD pages. Returns all text with precise pixel coordinates. One shared call feeds all three Path C sub-flows.</a:t>
            </a:r>
          </a:p>
        </p:txBody>
      </p:sp>
      <p:sp>
        <p:nvSpPr>
          <p:cNvPr id="32" name="Rectangle 31">
            <a:extLst>
              <a:ext uri="{FF2B5EF4-FFF2-40B4-BE49-F238E27FC236}">
                <a16:creationId xmlns:a16="http://schemas.microsoft.com/office/drawing/2014/main" id="{AF2946E2-5324-AE53-4BBE-AC7FBE8C4DDC}"/>
              </a:ext>
            </a:extLst>
          </p:cNvPr>
          <p:cNvSpPr/>
          <p:nvPr/>
        </p:nvSpPr>
        <p:spPr>
          <a:xfrm>
            <a:off x="254000" y="3784600"/>
            <a:ext cx="2946400" cy="12700"/>
          </a:xfrm>
          <a:prstGeom prst="rect">
            <a:avLst/>
          </a:prstGeom>
          <a:solidFill>
            <a:srgbClr val="44444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F9C34E62-C19B-C29F-4EA8-BCB115904DC1}"/>
              </a:ext>
            </a:extLst>
          </p:cNvPr>
          <p:cNvSpPr txBox="1"/>
          <p:nvPr/>
        </p:nvSpPr>
        <p:spPr>
          <a:xfrm>
            <a:off x="330200" y="3835400"/>
            <a:ext cx="2794000" cy="184666"/>
          </a:xfrm>
          <a:prstGeom prst="rect">
            <a:avLst/>
          </a:prstGeom>
          <a:noFill/>
        </p:spPr>
        <p:txBody>
          <a:bodyPr vert="horz" wrap="square" rtlCol="0">
            <a:spAutoFit/>
          </a:bodyPr>
          <a:lstStyle/>
          <a:p>
            <a:r>
              <a:rPr lang="en-US" sz="600">
                <a:solidFill>
                  <a:srgbClr val="888888"/>
                </a:solidFill>
                <a:latin typeface="Segoe UI" panose="020B0502040204020203" pitchFamily="34" charset="0"/>
              </a:rPr>
              <a:t>Used: Path C: title block, panel headers, relay annotations</a:t>
            </a:r>
          </a:p>
        </p:txBody>
      </p:sp>
      <p:sp>
        <p:nvSpPr>
          <p:cNvPr id="34" name="Rectangle 33">
            <a:extLst>
              <a:ext uri="{FF2B5EF4-FFF2-40B4-BE49-F238E27FC236}">
                <a16:creationId xmlns:a16="http://schemas.microsoft.com/office/drawing/2014/main" id="{07484C6B-85AE-5323-0914-8058A8304A02}"/>
              </a:ext>
            </a:extLst>
          </p:cNvPr>
          <p:cNvSpPr/>
          <p:nvPr/>
        </p:nvSpPr>
        <p:spPr>
          <a:xfrm>
            <a:off x="3276600" y="2540000"/>
            <a:ext cx="2946400" cy="1803400"/>
          </a:xfrm>
          <a:prstGeom prst="rect">
            <a:avLst/>
          </a:prstGeom>
          <a:solidFill>
            <a:srgbClr val="1A1A1A"/>
          </a:solidFill>
          <a:ln w="12700">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CF77D7FE-4402-498A-1CEA-BD3463273FEB}"/>
              </a:ext>
            </a:extLst>
          </p:cNvPr>
          <p:cNvSpPr/>
          <p:nvPr/>
        </p:nvSpPr>
        <p:spPr>
          <a:xfrm>
            <a:off x="3276600" y="2540000"/>
            <a:ext cx="2946400" cy="254000"/>
          </a:xfrm>
          <a:prstGeom prst="rect">
            <a:avLst/>
          </a:prstGeom>
          <a:solidFill>
            <a:srgbClr val="002A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E67AE5BB-8825-49CB-228F-A9AA859A2065}"/>
              </a:ext>
            </a:extLst>
          </p:cNvPr>
          <p:cNvSpPr txBox="1"/>
          <p:nvPr/>
        </p:nvSpPr>
        <p:spPr>
          <a:xfrm>
            <a:off x="3352800" y="2540000"/>
            <a:ext cx="2794000" cy="215444"/>
          </a:xfrm>
          <a:prstGeom prst="rect">
            <a:avLst/>
          </a:prstGeom>
          <a:noFill/>
        </p:spPr>
        <p:txBody>
          <a:bodyPr vert="horz" wrap="square" rtlCol="0">
            <a:spAutoFit/>
          </a:bodyPr>
          <a:lstStyle/>
          <a:p>
            <a:r>
              <a:rPr lang="en-US" sz="800" b="1">
                <a:solidFill>
                  <a:srgbClr val="FFFFFF"/>
                </a:solidFill>
                <a:latin typeface="Segoe UI" panose="020B0502040204020203" pitchFamily="34" charset="0"/>
              </a:rPr>
              <a:t>Azure AI Search</a:t>
            </a:r>
          </a:p>
        </p:txBody>
      </p:sp>
      <p:sp>
        <p:nvSpPr>
          <p:cNvPr id="37" name="TextBox 36">
            <a:extLst>
              <a:ext uri="{FF2B5EF4-FFF2-40B4-BE49-F238E27FC236}">
                <a16:creationId xmlns:a16="http://schemas.microsoft.com/office/drawing/2014/main" id="{359054E3-CB9A-51C4-C427-F85F3CF00D7B}"/>
              </a:ext>
            </a:extLst>
          </p:cNvPr>
          <p:cNvSpPr txBox="1"/>
          <p:nvPr/>
        </p:nvSpPr>
        <p:spPr>
          <a:xfrm>
            <a:off x="3352800" y="2819400"/>
            <a:ext cx="2794000" cy="215444"/>
          </a:xfrm>
          <a:prstGeom prst="rect">
            <a:avLst/>
          </a:prstGeom>
          <a:noFill/>
        </p:spPr>
        <p:txBody>
          <a:bodyPr vert="horz" wrap="square" rtlCol="0">
            <a:spAutoFit/>
          </a:bodyPr>
          <a:lstStyle/>
          <a:p>
            <a:r>
              <a:rPr lang="en-US" sz="800" b="1">
                <a:solidFill>
                  <a:srgbClr val="FF8000"/>
                </a:solidFill>
                <a:latin typeface="Segoe UI" panose="020B0502040204020203" pitchFamily="34" charset="0"/>
              </a:rPr>
              <a:t>Vector store for RAG pipeline</a:t>
            </a:r>
          </a:p>
        </p:txBody>
      </p:sp>
      <p:sp>
        <p:nvSpPr>
          <p:cNvPr id="38" name="TextBox 37">
            <a:extLst>
              <a:ext uri="{FF2B5EF4-FFF2-40B4-BE49-F238E27FC236}">
                <a16:creationId xmlns:a16="http://schemas.microsoft.com/office/drawing/2014/main" id="{FB294F97-87F3-2F10-4690-BCDDA427180C}"/>
              </a:ext>
            </a:extLst>
          </p:cNvPr>
          <p:cNvSpPr txBox="1"/>
          <p:nvPr/>
        </p:nvSpPr>
        <p:spPr>
          <a:xfrm>
            <a:off x="3352800" y="3022600"/>
            <a:ext cx="2794000" cy="415498"/>
          </a:xfrm>
          <a:prstGeom prst="rect">
            <a:avLst/>
          </a:prstGeom>
          <a:noFill/>
        </p:spPr>
        <p:txBody>
          <a:bodyPr vert="horz" wrap="square" rtlCol="0">
            <a:spAutoFit/>
          </a:bodyPr>
          <a:lstStyle/>
          <a:p>
            <a:r>
              <a:rPr lang="en-US" sz="700">
                <a:solidFill>
                  <a:srgbClr val="CCCCCC"/>
                </a:solidFill>
                <a:latin typeface="Segoe UI" panose="020B0502040204020203" pitchFamily="34" charset="0"/>
              </a:rPr>
              <a:t>Hybrid search (vector + BM25). Per-document index created/deleted per request. chunk embedding via text-embedding-3-small.</a:t>
            </a:r>
          </a:p>
        </p:txBody>
      </p:sp>
      <p:sp>
        <p:nvSpPr>
          <p:cNvPr id="39" name="Rectangle 38">
            <a:extLst>
              <a:ext uri="{FF2B5EF4-FFF2-40B4-BE49-F238E27FC236}">
                <a16:creationId xmlns:a16="http://schemas.microsoft.com/office/drawing/2014/main" id="{ACED75DF-F6D0-73A7-30FD-79E20F322698}"/>
              </a:ext>
            </a:extLst>
          </p:cNvPr>
          <p:cNvSpPr/>
          <p:nvPr/>
        </p:nvSpPr>
        <p:spPr>
          <a:xfrm>
            <a:off x="3276600" y="3784600"/>
            <a:ext cx="2946400" cy="12700"/>
          </a:xfrm>
          <a:prstGeom prst="rect">
            <a:avLst/>
          </a:prstGeom>
          <a:solidFill>
            <a:srgbClr val="44444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53D429BB-9994-1352-A042-1896EDF5B64B}"/>
              </a:ext>
            </a:extLst>
          </p:cNvPr>
          <p:cNvSpPr txBox="1"/>
          <p:nvPr/>
        </p:nvSpPr>
        <p:spPr>
          <a:xfrm>
            <a:off x="3352800" y="3835400"/>
            <a:ext cx="2794000" cy="184666"/>
          </a:xfrm>
          <a:prstGeom prst="rect">
            <a:avLst/>
          </a:prstGeom>
          <a:noFill/>
        </p:spPr>
        <p:txBody>
          <a:bodyPr vert="horz" wrap="square" rtlCol="0">
            <a:spAutoFit/>
          </a:bodyPr>
          <a:lstStyle/>
          <a:p>
            <a:r>
              <a:rPr lang="en-US" sz="600">
                <a:solidFill>
                  <a:srgbClr val="888888"/>
                </a:solidFill>
                <a:latin typeface="Segoe UI" panose="020B0502040204020203" pitchFamily="34" charset="0"/>
              </a:rPr>
              <a:t>Used: Path B: all 11 parameter retrieval queries</a:t>
            </a:r>
          </a:p>
        </p:txBody>
      </p:sp>
      <p:sp>
        <p:nvSpPr>
          <p:cNvPr id="41" name="Rectangle 40">
            <a:extLst>
              <a:ext uri="{FF2B5EF4-FFF2-40B4-BE49-F238E27FC236}">
                <a16:creationId xmlns:a16="http://schemas.microsoft.com/office/drawing/2014/main" id="{DD109181-AADB-EE0C-4B5B-D2B3D9948C84}"/>
              </a:ext>
            </a:extLst>
          </p:cNvPr>
          <p:cNvSpPr/>
          <p:nvPr/>
        </p:nvSpPr>
        <p:spPr>
          <a:xfrm>
            <a:off x="6299200" y="2540000"/>
            <a:ext cx="2946400" cy="1803400"/>
          </a:xfrm>
          <a:prstGeom prst="rect">
            <a:avLst/>
          </a:prstGeom>
          <a:solidFill>
            <a:srgbClr val="1A1A1A"/>
          </a:solidFill>
          <a:ln w="12700">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FCBA2A18-D180-6896-AE2D-5BE4EC698C9E}"/>
              </a:ext>
            </a:extLst>
          </p:cNvPr>
          <p:cNvSpPr/>
          <p:nvPr/>
        </p:nvSpPr>
        <p:spPr>
          <a:xfrm>
            <a:off x="6299200" y="2540000"/>
            <a:ext cx="2946400" cy="254000"/>
          </a:xfrm>
          <a:prstGeom prst="rect">
            <a:avLst/>
          </a:prstGeom>
          <a:solidFill>
            <a:srgbClr val="001A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E8CE40E1-A197-0815-63D1-3AEC998347DE}"/>
              </a:ext>
            </a:extLst>
          </p:cNvPr>
          <p:cNvSpPr txBox="1"/>
          <p:nvPr/>
        </p:nvSpPr>
        <p:spPr>
          <a:xfrm>
            <a:off x="6375400" y="2540000"/>
            <a:ext cx="2794000" cy="215444"/>
          </a:xfrm>
          <a:prstGeom prst="rect">
            <a:avLst/>
          </a:prstGeom>
          <a:noFill/>
        </p:spPr>
        <p:txBody>
          <a:bodyPr vert="horz" wrap="square" rtlCol="0">
            <a:spAutoFit/>
          </a:bodyPr>
          <a:lstStyle/>
          <a:p>
            <a:r>
              <a:rPr lang="en-US" sz="800" b="1">
                <a:solidFill>
                  <a:srgbClr val="FFFFFF"/>
                </a:solidFill>
                <a:latin typeface="Segoe UI" panose="020B0502040204020203" pitchFamily="34" charset="0"/>
              </a:rPr>
              <a:t>Azure OpenAI Embeddings</a:t>
            </a:r>
          </a:p>
        </p:txBody>
      </p:sp>
      <p:sp>
        <p:nvSpPr>
          <p:cNvPr id="44" name="TextBox 43">
            <a:extLst>
              <a:ext uri="{FF2B5EF4-FFF2-40B4-BE49-F238E27FC236}">
                <a16:creationId xmlns:a16="http://schemas.microsoft.com/office/drawing/2014/main" id="{E6E8E44F-2F47-DE3A-66D2-F1D989A0A701}"/>
              </a:ext>
            </a:extLst>
          </p:cNvPr>
          <p:cNvSpPr txBox="1"/>
          <p:nvPr/>
        </p:nvSpPr>
        <p:spPr>
          <a:xfrm>
            <a:off x="6375400" y="2819400"/>
            <a:ext cx="2794000" cy="215444"/>
          </a:xfrm>
          <a:prstGeom prst="rect">
            <a:avLst/>
          </a:prstGeom>
          <a:noFill/>
        </p:spPr>
        <p:txBody>
          <a:bodyPr vert="horz" wrap="square" rtlCol="0">
            <a:spAutoFit/>
          </a:bodyPr>
          <a:lstStyle/>
          <a:p>
            <a:r>
              <a:rPr lang="en-US" sz="800" b="1">
                <a:solidFill>
                  <a:srgbClr val="FF8000"/>
                </a:solidFill>
                <a:latin typeface="Segoe UI" panose="020B0502040204020203" pitchFamily="34" charset="0"/>
              </a:rPr>
              <a:t>text-embedding-3-small</a:t>
            </a:r>
          </a:p>
        </p:txBody>
      </p:sp>
      <p:sp>
        <p:nvSpPr>
          <p:cNvPr id="45" name="TextBox 44">
            <a:extLst>
              <a:ext uri="{FF2B5EF4-FFF2-40B4-BE49-F238E27FC236}">
                <a16:creationId xmlns:a16="http://schemas.microsoft.com/office/drawing/2014/main" id="{AB3DB4BA-0C92-38C1-C2DE-3FC60259EB25}"/>
              </a:ext>
            </a:extLst>
          </p:cNvPr>
          <p:cNvSpPr txBox="1"/>
          <p:nvPr/>
        </p:nvSpPr>
        <p:spPr>
          <a:xfrm>
            <a:off x="6375400" y="3022600"/>
            <a:ext cx="2794000" cy="415498"/>
          </a:xfrm>
          <a:prstGeom prst="rect">
            <a:avLst/>
          </a:prstGeom>
          <a:noFill/>
        </p:spPr>
        <p:txBody>
          <a:bodyPr vert="horz" wrap="square" rtlCol="0">
            <a:spAutoFit/>
          </a:bodyPr>
          <a:lstStyle/>
          <a:p>
            <a:r>
              <a:rPr lang="en-US" sz="700">
                <a:solidFill>
                  <a:srgbClr val="CCCCCC"/>
                </a:solidFill>
                <a:latin typeface="Segoe UI" panose="020B0502040204020203" pitchFamily="34" charset="0"/>
              </a:rPr>
              <a:t>Multilingual chunk embedding. French, German, Italian, English handled natively via semantic similarity. No language detection needed.</a:t>
            </a:r>
          </a:p>
        </p:txBody>
      </p:sp>
      <p:sp>
        <p:nvSpPr>
          <p:cNvPr id="46" name="Rectangle 45">
            <a:extLst>
              <a:ext uri="{FF2B5EF4-FFF2-40B4-BE49-F238E27FC236}">
                <a16:creationId xmlns:a16="http://schemas.microsoft.com/office/drawing/2014/main" id="{02C2CC34-3058-73A7-18FD-238A6B56688C}"/>
              </a:ext>
            </a:extLst>
          </p:cNvPr>
          <p:cNvSpPr/>
          <p:nvPr/>
        </p:nvSpPr>
        <p:spPr>
          <a:xfrm>
            <a:off x="6299200" y="3784600"/>
            <a:ext cx="2946400" cy="12700"/>
          </a:xfrm>
          <a:prstGeom prst="rect">
            <a:avLst/>
          </a:prstGeom>
          <a:solidFill>
            <a:srgbClr val="44444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AAC83820-A6EB-AAB0-9058-C0EE1766C9C2}"/>
              </a:ext>
            </a:extLst>
          </p:cNvPr>
          <p:cNvSpPr txBox="1"/>
          <p:nvPr/>
        </p:nvSpPr>
        <p:spPr>
          <a:xfrm>
            <a:off x="6375400" y="3835400"/>
            <a:ext cx="2794000" cy="184666"/>
          </a:xfrm>
          <a:prstGeom prst="rect">
            <a:avLst/>
          </a:prstGeom>
          <a:noFill/>
        </p:spPr>
        <p:txBody>
          <a:bodyPr vert="horz" wrap="square" rtlCol="0">
            <a:spAutoFit/>
          </a:bodyPr>
          <a:lstStyle/>
          <a:p>
            <a:r>
              <a:rPr lang="en-US" sz="600">
                <a:solidFill>
                  <a:srgbClr val="888888"/>
                </a:solidFill>
                <a:latin typeface="Segoe UI" panose="020B0502040204020203" pitchFamily="34" charset="0"/>
              </a:rPr>
              <a:t>Used: Path B: document chunking and query encoding</a:t>
            </a:r>
          </a:p>
        </p:txBody>
      </p:sp>
    </p:spTree>
    <p:extLst>
      <p:ext uri="{BB962C8B-B14F-4D97-AF65-F5344CB8AC3E}">
        <p14:creationId xmlns:p14="http://schemas.microsoft.com/office/powerpoint/2010/main" val="668790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128EDA6-C924-290F-8D5E-C13AE2EB174D}"/>
              </a:ext>
            </a:extLst>
          </p:cNvPr>
          <p:cNvSpPr/>
          <p:nvPr/>
        </p:nvSpPr>
        <p:spPr>
          <a:xfrm>
            <a:off x="0" y="0"/>
            <a:ext cx="9144000" cy="6858000"/>
          </a:xfrm>
          <a:prstGeom prst="rect">
            <a:avLst/>
          </a:prstGeom>
          <a:solidFill>
            <a:srgbClr val="F0F0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E5A7D898-FA26-E0CB-A05F-F0B3D4CABE46}"/>
              </a:ext>
            </a:extLst>
          </p:cNvPr>
          <p:cNvSpPr/>
          <p:nvPr/>
        </p:nvSpPr>
        <p:spPr>
          <a:xfrm>
            <a:off x="0" y="0"/>
            <a:ext cx="9144000" cy="762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9922EDB-8A6A-CBB7-CD3B-CE0335D63E6F}"/>
              </a:ext>
            </a:extLst>
          </p:cNvPr>
          <p:cNvSpPr txBox="1"/>
          <p:nvPr/>
        </p:nvSpPr>
        <p:spPr>
          <a:xfrm>
            <a:off x="254000" y="177800"/>
            <a:ext cx="8636000" cy="400110"/>
          </a:xfrm>
          <a:prstGeom prst="rect">
            <a:avLst/>
          </a:prstGeom>
          <a:noFill/>
        </p:spPr>
        <p:txBody>
          <a:bodyPr vert="horz" wrap="square" rtlCol="0">
            <a:spAutoFit/>
          </a:bodyPr>
          <a:lstStyle/>
          <a:p>
            <a:r>
              <a:rPr lang="en-US" sz="2000" b="1">
                <a:solidFill>
                  <a:srgbClr val="1E1E1E"/>
                </a:solidFill>
                <a:latin typeface="Segoe UI" panose="020B0502040204020203" pitchFamily="34" charset="0"/>
              </a:rPr>
              <a:t>How Confidence is Calculated</a:t>
            </a:r>
          </a:p>
        </p:txBody>
      </p:sp>
      <p:sp>
        <p:nvSpPr>
          <p:cNvPr id="5" name="Rectangle 4">
            <a:extLst>
              <a:ext uri="{FF2B5EF4-FFF2-40B4-BE49-F238E27FC236}">
                <a16:creationId xmlns:a16="http://schemas.microsoft.com/office/drawing/2014/main" id="{039A2D7E-E281-3635-A731-1539DF18143C}"/>
              </a:ext>
            </a:extLst>
          </p:cNvPr>
          <p:cNvSpPr/>
          <p:nvPr/>
        </p:nvSpPr>
        <p:spPr>
          <a:xfrm>
            <a:off x="254000" y="533400"/>
            <a:ext cx="8636000" cy="254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4D1B68BB-237F-1A1D-8A8F-6537724656DC}"/>
              </a:ext>
            </a:extLst>
          </p:cNvPr>
          <p:cNvSpPr txBox="1"/>
          <p:nvPr/>
        </p:nvSpPr>
        <p:spPr>
          <a:xfrm>
            <a:off x="254000" y="635000"/>
            <a:ext cx="8636000" cy="261610"/>
          </a:xfrm>
          <a:prstGeom prst="rect">
            <a:avLst/>
          </a:prstGeom>
          <a:noFill/>
        </p:spPr>
        <p:txBody>
          <a:bodyPr vert="horz" wrap="square" rtlCol="0">
            <a:spAutoFit/>
          </a:bodyPr>
          <a:lstStyle/>
          <a:p>
            <a:r>
              <a:rPr lang="en-US" sz="1100" b="1">
                <a:solidFill>
                  <a:srgbClr val="1E1E1E"/>
                </a:solidFill>
                <a:latin typeface="Segoe UI" panose="020B0502040204020203" pitchFamily="34" charset="0"/>
              </a:rPr>
              <a:t>Ensemble Voting Rules -- Level 1 System Parameters</a:t>
            </a:r>
          </a:p>
        </p:txBody>
      </p:sp>
      <p:sp>
        <p:nvSpPr>
          <p:cNvPr id="7" name="Rectangle 6">
            <a:extLst>
              <a:ext uri="{FF2B5EF4-FFF2-40B4-BE49-F238E27FC236}">
                <a16:creationId xmlns:a16="http://schemas.microsoft.com/office/drawing/2014/main" id="{C1475062-623A-52B2-505A-B73AFA5CEF1B}"/>
              </a:ext>
            </a:extLst>
          </p:cNvPr>
          <p:cNvSpPr/>
          <p:nvPr/>
        </p:nvSpPr>
        <p:spPr>
          <a:xfrm>
            <a:off x="254000" y="863600"/>
            <a:ext cx="1371600" cy="254000"/>
          </a:xfrm>
          <a:prstGeom prst="rect">
            <a:avLst/>
          </a:prstGeom>
          <a:solidFill>
            <a:srgbClr val="3D3D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2741706D-527B-82E9-C9A4-C9B737FB5692}"/>
              </a:ext>
            </a:extLst>
          </p:cNvPr>
          <p:cNvSpPr txBox="1"/>
          <p:nvPr/>
        </p:nvSpPr>
        <p:spPr>
          <a:xfrm>
            <a:off x="304800" y="863600"/>
            <a:ext cx="1270000" cy="215444"/>
          </a:xfrm>
          <a:prstGeom prst="rect">
            <a:avLst/>
          </a:prstGeom>
          <a:noFill/>
        </p:spPr>
        <p:txBody>
          <a:bodyPr vert="horz" wrap="square" rtlCol="0">
            <a:spAutoFit/>
          </a:bodyPr>
          <a:lstStyle/>
          <a:p>
            <a:r>
              <a:rPr lang="en-US" sz="800" b="1">
                <a:solidFill>
                  <a:srgbClr val="FFFFFF"/>
                </a:solidFill>
                <a:latin typeface="Segoe UI" panose="020B0502040204020203" pitchFamily="34" charset="0"/>
              </a:rPr>
              <a:t>Paths Agree</a:t>
            </a:r>
          </a:p>
        </p:txBody>
      </p:sp>
      <p:sp>
        <p:nvSpPr>
          <p:cNvPr id="9" name="Rectangle 8">
            <a:extLst>
              <a:ext uri="{FF2B5EF4-FFF2-40B4-BE49-F238E27FC236}">
                <a16:creationId xmlns:a16="http://schemas.microsoft.com/office/drawing/2014/main" id="{F32686C7-B35A-86DF-A864-75BB2BCE82A7}"/>
              </a:ext>
            </a:extLst>
          </p:cNvPr>
          <p:cNvSpPr/>
          <p:nvPr/>
        </p:nvSpPr>
        <p:spPr>
          <a:xfrm>
            <a:off x="1651000" y="863600"/>
            <a:ext cx="1498600" cy="254000"/>
          </a:xfrm>
          <a:prstGeom prst="rect">
            <a:avLst/>
          </a:prstGeom>
          <a:solidFill>
            <a:srgbClr val="3D3D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D9C07594-EEE0-CB0E-EA5B-780BF7734B24}"/>
              </a:ext>
            </a:extLst>
          </p:cNvPr>
          <p:cNvSpPr txBox="1"/>
          <p:nvPr/>
        </p:nvSpPr>
        <p:spPr>
          <a:xfrm>
            <a:off x="1701800" y="863600"/>
            <a:ext cx="1397000" cy="215444"/>
          </a:xfrm>
          <a:prstGeom prst="rect">
            <a:avLst/>
          </a:prstGeom>
          <a:noFill/>
        </p:spPr>
        <p:txBody>
          <a:bodyPr vert="horz" wrap="square" rtlCol="0">
            <a:spAutoFit/>
          </a:bodyPr>
          <a:lstStyle/>
          <a:p>
            <a:r>
              <a:rPr lang="en-US" sz="800" b="1">
                <a:solidFill>
                  <a:srgbClr val="FFFFFF"/>
                </a:solidFill>
                <a:latin typeface="Segoe UI" panose="020B0502040204020203" pitchFamily="34" charset="0"/>
              </a:rPr>
              <a:t>Confidence Score</a:t>
            </a:r>
          </a:p>
        </p:txBody>
      </p:sp>
      <p:sp>
        <p:nvSpPr>
          <p:cNvPr id="11" name="Rectangle 10">
            <a:extLst>
              <a:ext uri="{FF2B5EF4-FFF2-40B4-BE49-F238E27FC236}">
                <a16:creationId xmlns:a16="http://schemas.microsoft.com/office/drawing/2014/main" id="{98FBA4BD-7481-62BE-4490-B11B4C33026B}"/>
              </a:ext>
            </a:extLst>
          </p:cNvPr>
          <p:cNvSpPr/>
          <p:nvPr/>
        </p:nvSpPr>
        <p:spPr>
          <a:xfrm>
            <a:off x="3175000" y="863600"/>
            <a:ext cx="3302000" cy="254000"/>
          </a:xfrm>
          <a:prstGeom prst="rect">
            <a:avLst/>
          </a:prstGeom>
          <a:solidFill>
            <a:srgbClr val="3D3D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5EA1C844-9346-DA4B-B524-801599BFBA73}"/>
              </a:ext>
            </a:extLst>
          </p:cNvPr>
          <p:cNvSpPr txBox="1"/>
          <p:nvPr/>
        </p:nvSpPr>
        <p:spPr>
          <a:xfrm>
            <a:off x="3225800" y="863600"/>
            <a:ext cx="3200400" cy="215444"/>
          </a:xfrm>
          <a:prstGeom prst="rect">
            <a:avLst/>
          </a:prstGeom>
          <a:noFill/>
        </p:spPr>
        <p:txBody>
          <a:bodyPr vert="horz" wrap="square" rtlCol="0">
            <a:spAutoFit/>
          </a:bodyPr>
          <a:lstStyle/>
          <a:p>
            <a:r>
              <a:rPr lang="en-US" sz="800" b="1">
                <a:solidFill>
                  <a:srgbClr val="FFFFFF"/>
                </a:solidFill>
                <a:latin typeface="Segoe UI" panose="020B0502040204020203" pitchFamily="34" charset="0"/>
              </a:rPr>
              <a:t>Action</a:t>
            </a:r>
          </a:p>
        </p:txBody>
      </p:sp>
      <p:sp>
        <p:nvSpPr>
          <p:cNvPr id="13" name="Rectangle 12">
            <a:extLst>
              <a:ext uri="{FF2B5EF4-FFF2-40B4-BE49-F238E27FC236}">
                <a16:creationId xmlns:a16="http://schemas.microsoft.com/office/drawing/2014/main" id="{682A109C-3CA0-9F7E-774B-9183A7C0A82D}"/>
              </a:ext>
            </a:extLst>
          </p:cNvPr>
          <p:cNvSpPr/>
          <p:nvPr/>
        </p:nvSpPr>
        <p:spPr>
          <a:xfrm>
            <a:off x="6502400" y="863600"/>
            <a:ext cx="2133600" cy="254000"/>
          </a:xfrm>
          <a:prstGeom prst="rect">
            <a:avLst/>
          </a:prstGeom>
          <a:solidFill>
            <a:srgbClr val="3D3D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231CF744-77D5-324F-BC6C-7A04E81285FD}"/>
              </a:ext>
            </a:extLst>
          </p:cNvPr>
          <p:cNvSpPr txBox="1"/>
          <p:nvPr/>
        </p:nvSpPr>
        <p:spPr>
          <a:xfrm>
            <a:off x="6553200" y="863600"/>
            <a:ext cx="2032000" cy="215444"/>
          </a:xfrm>
          <a:prstGeom prst="rect">
            <a:avLst/>
          </a:prstGeom>
          <a:noFill/>
        </p:spPr>
        <p:txBody>
          <a:bodyPr vert="horz" wrap="square" rtlCol="0">
            <a:spAutoFit/>
          </a:bodyPr>
          <a:lstStyle/>
          <a:p>
            <a:r>
              <a:rPr lang="en-US" sz="800" b="1">
                <a:solidFill>
                  <a:srgbClr val="FFFFFF"/>
                </a:solidFill>
                <a:latin typeface="Segoe UI" panose="020B0502040204020203" pitchFamily="34" charset="0"/>
              </a:rPr>
              <a:t>Engineer Review</a:t>
            </a:r>
          </a:p>
        </p:txBody>
      </p:sp>
      <p:sp>
        <p:nvSpPr>
          <p:cNvPr id="15" name="Rectangle 14">
            <a:extLst>
              <a:ext uri="{FF2B5EF4-FFF2-40B4-BE49-F238E27FC236}">
                <a16:creationId xmlns:a16="http://schemas.microsoft.com/office/drawing/2014/main" id="{7222EDD2-E938-5B6F-9B44-26AB8F8C03E0}"/>
              </a:ext>
            </a:extLst>
          </p:cNvPr>
          <p:cNvSpPr/>
          <p:nvPr/>
        </p:nvSpPr>
        <p:spPr>
          <a:xfrm>
            <a:off x="254000" y="1143000"/>
            <a:ext cx="1371600" cy="355600"/>
          </a:xfrm>
          <a:prstGeom prst="rect">
            <a:avLst/>
          </a:prstGeom>
          <a:solidFill>
            <a:srgbClr val="E8FFE8"/>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FA4EE036-A87B-8E11-32FF-0D5DF05E6F5F}"/>
              </a:ext>
            </a:extLst>
          </p:cNvPr>
          <p:cNvSpPr txBox="1"/>
          <p:nvPr/>
        </p:nvSpPr>
        <p:spPr>
          <a:xfrm>
            <a:off x="304800" y="1143000"/>
            <a:ext cx="1270000" cy="215444"/>
          </a:xfrm>
          <a:prstGeom prst="rect">
            <a:avLst/>
          </a:prstGeom>
          <a:noFill/>
        </p:spPr>
        <p:txBody>
          <a:bodyPr vert="horz" wrap="square" rtlCol="0">
            <a:spAutoFit/>
          </a:bodyPr>
          <a:lstStyle/>
          <a:p>
            <a:r>
              <a:rPr lang="en-US" sz="800" b="1">
                <a:solidFill>
                  <a:srgbClr val="1E7A1E"/>
                </a:solidFill>
                <a:latin typeface="Segoe UI" panose="020B0502040204020203" pitchFamily="34" charset="0"/>
              </a:rPr>
              <a:t>3 / 3 agree</a:t>
            </a:r>
          </a:p>
        </p:txBody>
      </p:sp>
      <p:sp>
        <p:nvSpPr>
          <p:cNvPr id="17" name="Rectangle 16">
            <a:extLst>
              <a:ext uri="{FF2B5EF4-FFF2-40B4-BE49-F238E27FC236}">
                <a16:creationId xmlns:a16="http://schemas.microsoft.com/office/drawing/2014/main" id="{A1867717-9231-140D-80F4-BCA840C36683}"/>
              </a:ext>
            </a:extLst>
          </p:cNvPr>
          <p:cNvSpPr/>
          <p:nvPr/>
        </p:nvSpPr>
        <p:spPr>
          <a:xfrm>
            <a:off x="1651000" y="1143000"/>
            <a:ext cx="1498600" cy="355600"/>
          </a:xfrm>
          <a:prstGeom prst="rect">
            <a:avLst/>
          </a:prstGeom>
          <a:solidFill>
            <a:srgbClr val="E8FFE8"/>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2EFB2D27-C749-947C-7AAF-D43FF7D49249}"/>
              </a:ext>
            </a:extLst>
          </p:cNvPr>
          <p:cNvSpPr txBox="1"/>
          <p:nvPr/>
        </p:nvSpPr>
        <p:spPr>
          <a:xfrm>
            <a:off x="1701800" y="1143000"/>
            <a:ext cx="1397000" cy="215444"/>
          </a:xfrm>
          <a:prstGeom prst="rect">
            <a:avLst/>
          </a:prstGeom>
          <a:noFill/>
        </p:spPr>
        <p:txBody>
          <a:bodyPr vert="horz" wrap="square" rtlCol="0">
            <a:spAutoFit/>
          </a:bodyPr>
          <a:lstStyle/>
          <a:p>
            <a:r>
              <a:rPr lang="en-US" sz="800" b="1">
                <a:solidFill>
                  <a:srgbClr val="1E7A1E"/>
                </a:solidFill>
                <a:latin typeface="Segoe UI" panose="020B0502040204020203" pitchFamily="34" charset="0"/>
              </a:rPr>
              <a:t>&gt;=0.97 -- HIGH</a:t>
            </a:r>
          </a:p>
        </p:txBody>
      </p:sp>
      <p:sp>
        <p:nvSpPr>
          <p:cNvPr id="19" name="Rectangle 18">
            <a:extLst>
              <a:ext uri="{FF2B5EF4-FFF2-40B4-BE49-F238E27FC236}">
                <a16:creationId xmlns:a16="http://schemas.microsoft.com/office/drawing/2014/main" id="{3ED5DE6A-273D-D0E1-27BD-0829BDD8382C}"/>
              </a:ext>
            </a:extLst>
          </p:cNvPr>
          <p:cNvSpPr/>
          <p:nvPr/>
        </p:nvSpPr>
        <p:spPr>
          <a:xfrm>
            <a:off x="3175000" y="1143000"/>
            <a:ext cx="3302000" cy="355600"/>
          </a:xfrm>
          <a:prstGeom prst="rect">
            <a:avLst/>
          </a:prstGeom>
          <a:solidFill>
            <a:srgbClr val="E8FFE8"/>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5A4376AD-28A3-0DFC-8FF2-D55F8CCB942E}"/>
              </a:ext>
            </a:extLst>
          </p:cNvPr>
          <p:cNvSpPr txBox="1"/>
          <p:nvPr/>
        </p:nvSpPr>
        <p:spPr>
          <a:xfrm>
            <a:off x="3225800" y="1143000"/>
            <a:ext cx="3200400" cy="215444"/>
          </a:xfrm>
          <a:prstGeom prst="rect">
            <a:avLst/>
          </a:prstGeom>
          <a:noFill/>
        </p:spPr>
        <p:txBody>
          <a:bodyPr vert="horz" wrap="square" rtlCol="0">
            <a:spAutoFit/>
          </a:bodyPr>
          <a:lstStyle/>
          <a:p>
            <a:r>
              <a:rPr lang="en-US" sz="800">
                <a:solidFill>
                  <a:srgbClr val="3D3D3D"/>
                </a:solidFill>
                <a:latin typeface="Segoe UI" panose="020B0502040204020203" pitchFamily="34" charset="0"/>
              </a:rPr>
              <a:t>Auto-accept -- no deviation created</a:t>
            </a:r>
          </a:p>
        </p:txBody>
      </p:sp>
      <p:sp>
        <p:nvSpPr>
          <p:cNvPr id="21" name="Rectangle 20">
            <a:extLst>
              <a:ext uri="{FF2B5EF4-FFF2-40B4-BE49-F238E27FC236}">
                <a16:creationId xmlns:a16="http://schemas.microsoft.com/office/drawing/2014/main" id="{F6A6FF47-A27D-CDE8-DFD6-36CF79F56427}"/>
              </a:ext>
            </a:extLst>
          </p:cNvPr>
          <p:cNvSpPr/>
          <p:nvPr/>
        </p:nvSpPr>
        <p:spPr>
          <a:xfrm>
            <a:off x="6502400" y="1143000"/>
            <a:ext cx="2133600" cy="355600"/>
          </a:xfrm>
          <a:prstGeom prst="rect">
            <a:avLst/>
          </a:prstGeom>
          <a:solidFill>
            <a:srgbClr val="E8FFE8"/>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18DD01C4-DC25-0F3F-4600-81263058AD48}"/>
              </a:ext>
            </a:extLst>
          </p:cNvPr>
          <p:cNvSpPr txBox="1"/>
          <p:nvPr/>
        </p:nvSpPr>
        <p:spPr>
          <a:xfrm>
            <a:off x="6553200" y="1143000"/>
            <a:ext cx="2032000" cy="215444"/>
          </a:xfrm>
          <a:prstGeom prst="rect">
            <a:avLst/>
          </a:prstGeom>
          <a:noFill/>
        </p:spPr>
        <p:txBody>
          <a:bodyPr vert="horz" wrap="square" rtlCol="0">
            <a:spAutoFit/>
          </a:bodyPr>
          <a:lstStyle/>
          <a:p>
            <a:r>
              <a:rPr lang="en-US" sz="800">
                <a:solidFill>
                  <a:srgbClr val="3D3D3D"/>
                </a:solidFill>
                <a:latin typeface="Segoe UI" panose="020B0502040204020203" pitchFamily="34" charset="0"/>
              </a:rPr>
              <a:t>None required</a:t>
            </a:r>
          </a:p>
        </p:txBody>
      </p:sp>
      <p:sp>
        <p:nvSpPr>
          <p:cNvPr id="23" name="Rectangle 22">
            <a:extLst>
              <a:ext uri="{FF2B5EF4-FFF2-40B4-BE49-F238E27FC236}">
                <a16:creationId xmlns:a16="http://schemas.microsoft.com/office/drawing/2014/main" id="{965287F0-AE17-A178-E59C-968D6D516540}"/>
              </a:ext>
            </a:extLst>
          </p:cNvPr>
          <p:cNvSpPr/>
          <p:nvPr/>
        </p:nvSpPr>
        <p:spPr>
          <a:xfrm>
            <a:off x="254000" y="1524000"/>
            <a:ext cx="1371600" cy="355600"/>
          </a:xfrm>
          <a:prstGeom prst="rect">
            <a:avLst/>
          </a:prstGeom>
          <a:solidFill>
            <a:srgbClr val="E0F8FF"/>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EACD8D27-1FEF-ABF2-D42B-2CEA48E9D47C}"/>
              </a:ext>
            </a:extLst>
          </p:cNvPr>
          <p:cNvSpPr txBox="1"/>
          <p:nvPr/>
        </p:nvSpPr>
        <p:spPr>
          <a:xfrm>
            <a:off x="304800" y="1524000"/>
            <a:ext cx="1270000" cy="215444"/>
          </a:xfrm>
          <a:prstGeom prst="rect">
            <a:avLst/>
          </a:prstGeom>
          <a:noFill/>
        </p:spPr>
        <p:txBody>
          <a:bodyPr vert="horz" wrap="square" rtlCol="0">
            <a:spAutoFit/>
          </a:bodyPr>
          <a:lstStyle/>
          <a:p>
            <a:r>
              <a:rPr lang="en-US" sz="800" b="1">
                <a:solidFill>
                  <a:srgbClr val="00557A"/>
                </a:solidFill>
                <a:latin typeface="Segoe UI" panose="020B0502040204020203" pitchFamily="34" charset="0"/>
              </a:rPr>
              <a:t>2 / 3 agree</a:t>
            </a:r>
          </a:p>
        </p:txBody>
      </p:sp>
      <p:sp>
        <p:nvSpPr>
          <p:cNvPr id="25" name="Rectangle 24">
            <a:extLst>
              <a:ext uri="{FF2B5EF4-FFF2-40B4-BE49-F238E27FC236}">
                <a16:creationId xmlns:a16="http://schemas.microsoft.com/office/drawing/2014/main" id="{D9155C20-BA1C-91B8-22E9-4DD97B2BA0D0}"/>
              </a:ext>
            </a:extLst>
          </p:cNvPr>
          <p:cNvSpPr/>
          <p:nvPr/>
        </p:nvSpPr>
        <p:spPr>
          <a:xfrm>
            <a:off x="1651000" y="1524000"/>
            <a:ext cx="1498600" cy="355600"/>
          </a:xfrm>
          <a:prstGeom prst="rect">
            <a:avLst/>
          </a:prstGeom>
          <a:solidFill>
            <a:srgbClr val="E0F8FF"/>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0E30F2B6-C875-9F2C-B0A7-7C61F098B28D}"/>
              </a:ext>
            </a:extLst>
          </p:cNvPr>
          <p:cNvSpPr txBox="1"/>
          <p:nvPr/>
        </p:nvSpPr>
        <p:spPr>
          <a:xfrm>
            <a:off x="1701800" y="1524000"/>
            <a:ext cx="1397000" cy="215444"/>
          </a:xfrm>
          <a:prstGeom prst="rect">
            <a:avLst/>
          </a:prstGeom>
          <a:noFill/>
        </p:spPr>
        <p:txBody>
          <a:bodyPr vert="horz" wrap="square" rtlCol="0">
            <a:spAutoFit/>
          </a:bodyPr>
          <a:lstStyle/>
          <a:p>
            <a:r>
              <a:rPr lang="en-US" sz="800" b="1">
                <a:solidFill>
                  <a:srgbClr val="00557A"/>
                </a:solidFill>
                <a:latin typeface="Segoe UI" panose="020B0502040204020203" pitchFamily="34" charset="0"/>
              </a:rPr>
              <a:t>0.85 -- MEDIUM</a:t>
            </a:r>
          </a:p>
        </p:txBody>
      </p:sp>
      <p:sp>
        <p:nvSpPr>
          <p:cNvPr id="27" name="Rectangle 26">
            <a:extLst>
              <a:ext uri="{FF2B5EF4-FFF2-40B4-BE49-F238E27FC236}">
                <a16:creationId xmlns:a16="http://schemas.microsoft.com/office/drawing/2014/main" id="{F3A8D4AC-6726-DA4F-A9BF-289963984713}"/>
              </a:ext>
            </a:extLst>
          </p:cNvPr>
          <p:cNvSpPr/>
          <p:nvPr/>
        </p:nvSpPr>
        <p:spPr>
          <a:xfrm>
            <a:off x="3175000" y="1524000"/>
            <a:ext cx="3302000" cy="355600"/>
          </a:xfrm>
          <a:prstGeom prst="rect">
            <a:avLst/>
          </a:prstGeom>
          <a:solidFill>
            <a:srgbClr val="E0F8FF"/>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A0584179-62E1-17C1-97AC-AC6CA8B857B8}"/>
              </a:ext>
            </a:extLst>
          </p:cNvPr>
          <p:cNvSpPr txBox="1"/>
          <p:nvPr/>
        </p:nvSpPr>
        <p:spPr>
          <a:xfrm>
            <a:off x="3225800" y="1524000"/>
            <a:ext cx="3200400" cy="215444"/>
          </a:xfrm>
          <a:prstGeom prst="rect">
            <a:avLst/>
          </a:prstGeom>
          <a:noFill/>
        </p:spPr>
        <p:txBody>
          <a:bodyPr vert="horz" wrap="square" rtlCol="0">
            <a:spAutoFit/>
          </a:bodyPr>
          <a:lstStyle/>
          <a:p>
            <a:r>
              <a:rPr lang="en-US" sz="800">
                <a:solidFill>
                  <a:srgbClr val="3D3D3D"/>
                </a:solidFill>
                <a:latin typeface="Segoe UI" panose="020B0502040204020203" pitchFamily="34" charset="0"/>
              </a:rPr>
              <a:t>Accept majority; create LowConfidence deviation</a:t>
            </a:r>
          </a:p>
        </p:txBody>
      </p:sp>
      <p:sp>
        <p:nvSpPr>
          <p:cNvPr id="29" name="Rectangle 28">
            <a:extLst>
              <a:ext uri="{FF2B5EF4-FFF2-40B4-BE49-F238E27FC236}">
                <a16:creationId xmlns:a16="http://schemas.microsoft.com/office/drawing/2014/main" id="{9C8CEEB6-72D1-18B7-C1FC-FC9B5473A1D2}"/>
              </a:ext>
            </a:extLst>
          </p:cNvPr>
          <p:cNvSpPr/>
          <p:nvPr/>
        </p:nvSpPr>
        <p:spPr>
          <a:xfrm>
            <a:off x="6502400" y="1524000"/>
            <a:ext cx="2133600" cy="355600"/>
          </a:xfrm>
          <a:prstGeom prst="rect">
            <a:avLst/>
          </a:prstGeom>
          <a:solidFill>
            <a:srgbClr val="E0F8FF"/>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4EFA1D9A-133D-ECE6-219D-D33A80372F28}"/>
              </a:ext>
            </a:extLst>
          </p:cNvPr>
          <p:cNvSpPr txBox="1"/>
          <p:nvPr/>
        </p:nvSpPr>
        <p:spPr>
          <a:xfrm>
            <a:off x="6553200" y="1524000"/>
            <a:ext cx="2032000" cy="215444"/>
          </a:xfrm>
          <a:prstGeom prst="rect">
            <a:avLst/>
          </a:prstGeom>
          <a:noFill/>
        </p:spPr>
        <p:txBody>
          <a:bodyPr vert="horz" wrap="square" rtlCol="0">
            <a:spAutoFit/>
          </a:bodyPr>
          <a:lstStyle/>
          <a:p>
            <a:r>
              <a:rPr lang="en-US" sz="800">
                <a:solidFill>
                  <a:srgbClr val="3D3D3D"/>
                </a:solidFill>
                <a:latin typeface="Segoe UI" panose="020B0502040204020203" pitchFamily="34" charset="0"/>
              </a:rPr>
              <a:t>Optional review</a:t>
            </a:r>
          </a:p>
        </p:txBody>
      </p:sp>
      <p:sp>
        <p:nvSpPr>
          <p:cNvPr id="31" name="Rectangle 30">
            <a:extLst>
              <a:ext uri="{FF2B5EF4-FFF2-40B4-BE49-F238E27FC236}">
                <a16:creationId xmlns:a16="http://schemas.microsoft.com/office/drawing/2014/main" id="{517EC5A0-4DBA-CB6A-B462-64A3EF058F99}"/>
              </a:ext>
            </a:extLst>
          </p:cNvPr>
          <p:cNvSpPr/>
          <p:nvPr/>
        </p:nvSpPr>
        <p:spPr>
          <a:xfrm>
            <a:off x="254000" y="1905000"/>
            <a:ext cx="1371600" cy="355600"/>
          </a:xfrm>
          <a:prstGeom prst="rect">
            <a:avLst/>
          </a:prstGeom>
          <a:solidFill>
            <a:srgbClr val="DDEEFF"/>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C00E6C83-BA81-2097-376E-AD0147F41AB4}"/>
              </a:ext>
            </a:extLst>
          </p:cNvPr>
          <p:cNvSpPr txBox="1"/>
          <p:nvPr/>
        </p:nvSpPr>
        <p:spPr>
          <a:xfrm>
            <a:off x="304800" y="1905000"/>
            <a:ext cx="1270000" cy="215444"/>
          </a:xfrm>
          <a:prstGeom prst="rect">
            <a:avLst/>
          </a:prstGeom>
          <a:noFill/>
        </p:spPr>
        <p:txBody>
          <a:bodyPr vert="horz" wrap="square" rtlCol="0">
            <a:spAutoFit/>
          </a:bodyPr>
          <a:lstStyle/>
          <a:p>
            <a:r>
              <a:rPr lang="en-US" sz="800" b="1">
                <a:solidFill>
                  <a:srgbClr val="004488"/>
                </a:solidFill>
                <a:latin typeface="Segoe UI" panose="020B0502040204020203" pitchFamily="34" charset="0"/>
              </a:rPr>
              <a:t>1 / 3 found</a:t>
            </a:r>
          </a:p>
        </p:txBody>
      </p:sp>
      <p:sp>
        <p:nvSpPr>
          <p:cNvPr id="33" name="Rectangle 32">
            <a:extLst>
              <a:ext uri="{FF2B5EF4-FFF2-40B4-BE49-F238E27FC236}">
                <a16:creationId xmlns:a16="http://schemas.microsoft.com/office/drawing/2014/main" id="{04E85477-C162-F575-1A5B-0D83A450FA8A}"/>
              </a:ext>
            </a:extLst>
          </p:cNvPr>
          <p:cNvSpPr/>
          <p:nvPr/>
        </p:nvSpPr>
        <p:spPr>
          <a:xfrm>
            <a:off x="1651000" y="1905000"/>
            <a:ext cx="1498600" cy="355600"/>
          </a:xfrm>
          <a:prstGeom prst="rect">
            <a:avLst/>
          </a:prstGeom>
          <a:solidFill>
            <a:srgbClr val="DDEEFF"/>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17A32AFE-F332-F701-B4C7-B1030E45C124}"/>
              </a:ext>
            </a:extLst>
          </p:cNvPr>
          <p:cNvSpPr txBox="1"/>
          <p:nvPr/>
        </p:nvSpPr>
        <p:spPr>
          <a:xfrm>
            <a:off x="1701800" y="1905000"/>
            <a:ext cx="1397000" cy="215444"/>
          </a:xfrm>
          <a:prstGeom prst="rect">
            <a:avLst/>
          </a:prstGeom>
          <a:noFill/>
        </p:spPr>
        <p:txBody>
          <a:bodyPr vert="horz" wrap="square" rtlCol="0">
            <a:spAutoFit/>
          </a:bodyPr>
          <a:lstStyle/>
          <a:p>
            <a:r>
              <a:rPr lang="en-US" sz="800" b="1">
                <a:solidFill>
                  <a:srgbClr val="004488"/>
                </a:solidFill>
                <a:latin typeface="Segoe UI" panose="020B0502040204020203" pitchFamily="34" charset="0"/>
              </a:rPr>
              <a:t>0.65 -- LOW</a:t>
            </a:r>
          </a:p>
        </p:txBody>
      </p:sp>
      <p:sp>
        <p:nvSpPr>
          <p:cNvPr id="35" name="Rectangle 34">
            <a:extLst>
              <a:ext uri="{FF2B5EF4-FFF2-40B4-BE49-F238E27FC236}">
                <a16:creationId xmlns:a16="http://schemas.microsoft.com/office/drawing/2014/main" id="{3E3A14A6-97EC-4F73-589D-00E40ECBD2C8}"/>
              </a:ext>
            </a:extLst>
          </p:cNvPr>
          <p:cNvSpPr/>
          <p:nvPr/>
        </p:nvSpPr>
        <p:spPr>
          <a:xfrm>
            <a:off x="3175000" y="1905000"/>
            <a:ext cx="3302000" cy="355600"/>
          </a:xfrm>
          <a:prstGeom prst="rect">
            <a:avLst/>
          </a:prstGeom>
          <a:solidFill>
            <a:srgbClr val="DDEEFF"/>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358EA6DD-307F-D56E-E506-459753511582}"/>
              </a:ext>
            </a:extLst>
          </p:cNvPr>
          <p:cNvSpPr txBox="1"/>
          <p:nvPr/>
        </p:nvSpPr>
        <p:spPr>
          <a:xfrm>
            <a:off x="3225800" y="1905000"/>
            <a:ext cx="3200400" cy="215444"/>
          </a:xfrm>
          <a:prstGeom prst="rect">
            <a:avLst/>
          </a:prstGeom>
          <a:noFill/>
        </p:spPr>
        <p:txBody>
          <a:bodyPr vert="horz" wrap="square" rtlCol="0">
            <a:spAutoFit/>
          </a:bodyPr>
          <a:lstStyle/>
          <a:p>
            <a:r>
              <a:rPr lang="en-US" sz="800">
                <a:solidFill>
                  <a:srgbClr val="3D3D3D"/>
                </a:solidFill>
                <a:latin typeface="Segoe UI" panose="020B0502040204020203" pitchFamily="34" charset="0"/>
              </a:rPr>
              <a:t>Tentative; FlaggedForReview=true; deviation</a:t>
            </a:r>
          </a:p>
        </p:txBody>
      </p:sp>
      <p:sp>
        <p:nvSpPr>
          <p:cNvPr id="37" name="Rectangle 36">
            <a:extLst>
              <a:ext uri="{FF2B5EF4-FFF2-40B4-BE49-F238E27FC236}">
                <a16:creationId xmlns:a16="http://schemas.microsoft.com/office/drawing/2014/main" id="{8D7802F3-8374-DA74-69DF-65C5BC0B3DDE}"/>
              </a:ext>
            </a:extLst>
          </p:cNvPr>
          <p:cNvSpPr/>
          <p:nvPr/>
        </p:nvSpPr>
        <p:spPr>
          <a:xfrm>
            <a:off x="6502400" y="1905000"/>
            <a:ext cx="2133600" cy="355600"/>
          </a:xfrm>
          <a:prstGeom prst="rect">
            <a:avLst/>
          </a:prstGeom>
          <a:solidFill>
            <a:srgbClr val="DDEEFF"/>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A72CE975-6E8B-4AE2-6451-7827AFDD42E6}"/>
              </a:ext>
            </a:extLst>
          </p:cNvPr>
          <p:cNvSpPr txBox="1"/>
          <p:nvPr/>
        </p:nvSpPr>
        <p:spPr>
          <a:xfrm>
            <a:off x="6553200" y="1905000"/>
            <a:ext cx="2032000" cy="215444"/>
          </a:xfrm>
          <a:prstGeom prst="rect">
            <a:avLst/>
          </a:prstGeom>
          <a:noFill/>
        </p:spPr>
        <p:txBody>
          <a:bodyPr vert="horz" wrap="square" rtlCol="0">
            <a:spAutoFit/>
          </a:bodyPr>
          <a:lstStyle/>
          <a:p>
            <a:r>
              <a:rPr lang="en-US" sz="800">
                <a:solidFill>
                  <a:srgbClr val="3D3D3D"/>
                </a:solidFill>
                <a:latin typeface="Segoe UI" panose="020B0502040204020203" pitchFamily="34" charset="0"/>
              </a:rPr>
              <a:t>Mandatory confirmation</a:t>
            </a:r>
          </a:p>
        </p:txBody>
      </p:sp>
      <p:sp>
        <p:nvSpPr>
          <p:cNvPr id="39" name="Rectangle 38">
            <a:extLst>
              <a:ext uri="{FF2B5EF4-FFF2-40B4-BE49-F238E27FC236}">
                <a16:creationId xmlns:a16="http://schemas.microsoft.com/office/drawing/2014/main" id="{9292EC2A-EE65-C2F8-D809-F35DAC4444A4}"/>
              </a:ext>
            </a:extLst>
          </p:cNvPr>
          <p:cNvSpPr/>
          <p:nvPr/>
        </p:nvSpPr>
        <p:spPr>
          <a:xfrm>
            <a:off x="254000" y="2286000"/>
            <a:ext cx="1371600" cy="355600"/>
          </a:xfrm>
          <a:prstGeom prst="rect">
            <a:avLst/>
          </a:prstGeom>
          <a:solidFill>
            <a:srgbClr val="E8E8FF"/>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2D13AF2E-C0A5-78EF-588B-A88CBEBC47B6}"/>
              </a:ext>
            </a:extLst>
          </p:cNvPr>
          <p:cNvSpPr txBox="1"/>
          <p:nvPr/>
        </p:nvSpPr>
        <p:spPr>
          <a:xfrm>
            <a:off x="304800" y="2286000"/>
            <a:ext cx="1270000" cy="215444"/>
          </a:xfrm>
          <a:prstGeom prst="rect">
            <a:avLst/>
          </a:prstGeom>
          <a:noFill/>
        </p:spPr>
        <p:txBody>
          <a:bodyPr vert="horz" wrap="square" rtlCol="0">
            <a:spAutoFit/>
          </a:bodyPr>
          <a:lstStyle/>
          <a:p>
            <a:r>
              <a:rPr lang="en-US" sz="800" b="1">
                <a:solidFill>
                  <a:srgbClr val="00008B"/>
                </a:solidFill>
                <a:latin typeface="Segoe UI" panose="020B0502040204020203" pitchFamily="34" charset="0"/>
              </a:rPr>
              <a:t>0 / 3 found</a:t>
            </a:r>
          </a:p>
        </p:txBody>
      </p:sp>
      <p:sp>
        <p:nvSpPr>
          <p:cNvPr id="41" name="Rectangle 40">
            <a:extLst>
              <a:ext uri="{FF2B5EF4-FFF2-40B4-BE49-F238E27FC236}">
                <a16:creationId xmlns:a16="http://schemas.microsoft.com/office/drawing/2014/main" id="{F8E68933-D1FF-0F5C-FB78-F57F6E719E88}"/>
              </a:ext>
            </a:extLst>
          </p:cNvPr>
          <p:cNvSpPr/>
          <p:nvPr/>
        </p:nvSpPr>
        <p:spPr>
          <a:xfrm>
            <a:off x="1651000" y="2286000"/>
            <a:ext cx="1498600" cy="355600"/>
          </a:xfrm>
          <a:prstGeom prst="rect">
            <a:avLst/>
          </a:prstGeom>
          <a:solidFill>
            <a:srgbClr val="E8E8FF"/>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4EF2179E-C82E-9A21-75C8-3B0B4AF245BA}"/>
              </a:ext>
            </a:extLst>
          </p:cNvPr>
          <p:cNvSpPr txBox="1"/>
          <p:nvPr/>
        </p:nvSpPr>
        <p:spPr>
          <a:xfrm>
            <a:off x="1701800" y="2286000"/>
            <a:ext cx="1397000" cy="215444"/>
          </a:xfrm>
          <a:prstGeom prst="rect">
            <a:avLst/>
          </a:prstGeom>
          <a:noFill/>
        </p:spPr>
        <p:txBody>
          <a:bodyPr vert="horz" wrap="square" rtlCol="0">
            <a:spAutoFit/>
          </a:bodyPr>
          <a:lstStyle/>
          <a:p>
            <a:r>
              <a:rPr lang="en-US" sz="800" b="1">
                <a:solidFill>
                  <a:srgbClr val="00008B"/>
                </a:solidFill>
                <a:latin typeface="Segoe UI" panose="020B0502040204020203" pitchFamily="34" charset="0"/>
              </a:rPr>
              <a:t>BLOCKED</a:t>
            </a:r>
          </a:p>
        </p:txBody>
      </p:sp>
      <p:sp>
        <p:nvSpPr>
          <p:cNvPr id="43" name="Rectangle 42">
            <a:extLst>
              <a:ext uri="{FF2B5EF4-FFF2-40B4-BE49-F238E27FC236}">
                <a16:creationId xmlns:a16="http://schemas.microsoft.com/office/drawing/2014/main" id="{016E3F09-62ED-D5EF-087F-B367F9EE2335}"/>
              </a:ext>
            </a:extLst>
          </p:cNvPr>
          <p:cNvSpPr/>
          <p:nvPr/>
        </p:nvSpPr>
        <p:spPr>
          <a:xfrm>
            <a:off x="3175000" y="2286000"/>
            <a:ext cx="3302000" cy="355600"/>
          </a:xfrm>
          <a:prstGeom prst="rect">
            <a:avLst/>
          </a:prstGeom>
          <a:solidFill>
            <a:srgbClr val="E8E8FF"/>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259AC734-965E-BCEB-D492-4153F9A36175}"/>
              </a:ext>
            </a:extLst>
          </p:cNvPr>
          <p:cNvSpPr txBox="1"/>
          <p:nvPr/>
        </p:nvSpPr>
        <p:spPr>
          <a:xfrm>
            <a:off x="3225800" y="2286000"/>
            <a:ext cx="3200400" cy="215444"/>
          </a:xfrm>
          <a:prstGeom prst="rect">
            <a:avLst/>
          </a:prstGeom>
          <a:noFill/>
        </p:spPr>
        <p:txBody>
          <a:bodyPr vert="horz" wrap="square" rtlCol="0">
            <a:spAutoFit/>
          </a:bodyPr>
          <a:lstStyle/>
          <a:p>
            <a:r>
              <a:rPr lang="en-US" sz="800">
                <a:solidFill>
                  <a:srgbClr val="3D3D3D"/>
                </a:solidFill>
                <a:latin typeface="Segoe UI" panose="020B0502040204020203" pitchFamily="34" charset="0"/>
              </a:rPr>
              <a:t>MissingData DeviationItem -- XML export blocked</a:t>
            </a:r>
          </a:p>
        </p:txBody>
      </p:sp>
      <p:sp>
        <p:nvSpPr>
          <p:cNvPr id="45" name="Rectangle 44">
            <a:extLst>
              <a:ext uri="{FF2B5EF4-FFF2-40B4-BE49-F238E27FC236}">
                <a16:creationId xmlns:a16="http://schemas.microsoft.com/office/drawing/2014/main" id="{EC432B9F-E0A6-B3E7-5B33-CF52720EFBA5}"/>
              </a:ext>
            </a:extLst>
          </p:cNvPr>
          <p:cNvSpPr/>
          <p:nvPr/>
        </p:nvSpPr>
        <p:spPr>
          <a:xfrm>
            <a:off x="6502400" y="2286000"/>
            <a:ext cx="2133600" cy="355600"/>
          </a:xfrm>
          <a:prstGeom prst="rect">
            <a:avLst/>
          </a:prstGeom>
          <a:solidFill>
            <a:srgbClr val="E8E8FF"/>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C792FF86-6AD1-3872-7C7C-236044FF4E10}"/>
              </a:ext>
            </a:extLst>
          </p:cNvPr>
          <p:cNvSpPr txBox="1"/>
          <p:nvPr/>
        </p:nvSpPr>
        <p:spPr>
          <a:xfrm>
            <a:off x="6553200" y="2286000"/>
            <a:ext cx="2032000" cy="215444"/>
          </a:xfrm>
          <a:prstGeom prst="rect">
            <a:avLst/>
          </a:prstGeom>
          <a:noFill/>
        </p:spPr>
        <p:txBody>
          <a:bodyPr vert="horz" wrap="square" rtlCol="0">
            <a:spAutoFit/>
          </a:bodyPr>
          <a:lstStyle/>
          <a:p>
            <a:r>
              <a:rPr lang="en-US" sz="800">
                <a:solidFill>
                  <a:srgbClr val="3D3D3D"/>
                </a:solidFill>
                <a:latin typeface="Segoe UI" panose="020B0502040204020203" pitchFamily="34" charset="0"/>
              </a:rPr>
              <a:t>Must enter value to export</a:t>
            </a:r>
          </a:p>
        </p:txBody>
      </p:sp>
      <p:sp>
        <p:nvSpPr>
          <p:cNvPr id="47" name="TextBox 46">
            <a:extLst>
              <a:ext uri="{FF2B5EF4-FFF2-40B4-BE49-F238E27FC236}">
                <a16:creationId xmlns:a16="http://schemas.microsoft.com/office/drawing/2014/main" id="{08EB485C-9E74-0258-FC97-E6FB973BB1BC}"/>
              </a:ext>
            </a:extLst>
          </p:cNvPr>
          <p:cNvSpPr txBox="1"/>
          <p:nvPr/>
        </p:nvSpPr>
        <p:spPr>
          <a:xfrm>
            <a:off x="254000" y="2870200"/>
            <a:ext cx="8636000" cy="261610"/>
          </a:xfrm>
          <a:prstGeom prst="rect">
            <a:avLst/>
          </a:prstGeom>
          <a:noFill/>
        </p:spPr>
        <p:txBody>
          <a:bodyPr vert="horz" wrap="square" rtlCol="0">
            <a:spAutoFit/>
          </a:bodyPr>
          <a:lstStyle/>
          <a:p>
            <a:r>
              <a:rPr lang="en-US" sz="1100" b="1">
                <a:solidFill>
                  <a:srgbClr val="1E1E1E"/>
                </a:solidFill>
                <a:latin typeface="Segoe UI" panose="020B0502040204020203" pitchFamily="34" charset="0"/>
              </a:rPr>
              <a:t>Per-Path Raw Confidence Scoring</a:t>
            </a:r>
          </a:p>
        </p:txBody>
      </p:sp>
      <p:sp>
        <p:nvSpPr>
          <p:cNvPr id="48" name="Rectangle 47">
            <a:extLst>
              <a:ext uri="{FF2B5EF4-FFF2-40B4-BE49-F238E27FC236}">
                <a16:creationId xmlns:a16="http://schemas.microsoft.com/office/drawing/2014/main" id="{CAE6543B-475C-B46F-0611-893E03A5BF4F}"/>
              </a:ext>
            </a:extLst>
          </p:cNvPr>
          <p:cNvSpPr/>
          <p:nvPr/>
        </p:nvSpPr>
        <p:spPr>
          <a:xfrm>
            <a:off x="254000" y="3098800"/>
            <a:ext cx="2844800" cy="1879600"/>
          </a:xfrm>
          <a:prstGeom prst="rect">
            <a:avLst/>
          </a:prstGeom>
          <a:solidFill>
            <a:srgbClr val="FFFFFF"/>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34CE14D0-B515-27AC-A3EE-1ED2DDC452DA}"/>
              </a:ext>
            </a:extLst>
          </p:cNvPr>
          <p:cNvSpPr/>
          <p:nvPr/>
        </p:nvSpPr>
        <p:spPr>
          <a:xfrm>
            <a:off x="254000" y="3098800"/>
            <a:ext cx="2844800" cy="228600"/>
          </a:xfrm>
          <a:prstGeom prst="rect">
            <a:avLst/>
          </a:prstGeom>
          <a:solidFill>
            <a:srgbClr val="1E1E1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C4FDDE37-1615-4FC5-FD07-9C5B3D071136}"/>
              </a:ext>
            </a:extLst>
          </p:cNvPr>
          <p:cNvSpPr txBox="1"/>
          <p:nvPr/>
        </p:nvSpPr>
        <p:spPr>
          <a:xfrm>
            <a:off x="304800" y="3098800"/>
            <a:ext cx="2743200" cy="200055"/>
          </a:xfrm>
          <a:prstGeom prst="rect">
            <a:avLst/>
          </a:prstGeom>
          <a:noFill/>
        </p:spPr>
        <p:txBody>
          <a:bodyPr vert="horz" wrap="square" rtlCol="0">
            <a:spAutoFit/>
          </a:bodyPr>
          <a:lstStyle/>
          <a:p>
            <a:r>
              <a:rPr lang="it-IT" sz="700" b="1">
                <a:solidFill>
                  <a:srgbClr val="FFFFFF"/>
                </a:solidFill>
                <a:latin typeface="Segoe UI" panose="020B0502040204020203" pitchFamily="34" charset="0"/>
              </a:rPr>
              <a:t>Path A -- DI Custom Model</a:t>
            </a:r>
            <a:endParaRPr lang="en-US" sz="700" b="1">
              <a:solidFill>
                <a:srgbClr val="FFFFFF"/>
              </a:solidFill>
              <a:latin typeface="Segoe UI" panose="020B0502040204020203" pitchFamily="34" charset="0"/>
            </a:endParaRPr>
          </a:p>
        </p:txBody>
      </p:sp>
      <p:sp>
        <p:nvSpPr>
          <p:cNvPr id="51" name="Rectangle 50">
            <a:extLst>
              <a:ext uri="{FF2B5EF4-FFF2-40B4-BE49-F238E27FC236}">
                <a16:creationId xmlns:a16="http://schemas.microsoft.com/office/drawing/2014/main" id="{FBFF374B-9595-B200-FB9A-FC40603326C6}"/>
              </a:ext>
            </a:extLst>
          </p:cNvPr>
          <p:cNvSpPr/>
          <p:nvPr/>
        </p:nvSpPr>
        <p:spPr>
          <a:xfrm>
            <a:off x="355600" y="3403600"/>
            <a:ext cx="50800" cy="508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D9CA4D51-24AD-1D18-C10B-27620ABF2EFB}"/>
              </a:ext>
            </a:extLst>
          </p:cNvPr>
          <p:cNvSpPr txBox="1"/>
          <p:nvPr/>
        </p:nvSpPr>
        <p:spPr>
          <a:xfrm>
            <a:off x="457200" y="3352800"/>
            <a:ext cx="2540000" cy="200055"/>
          </a:xfrm>
          <a:prstGeom prst="rect">
            <a:avLst/>
          </a:prstGeom>
          <a:noFill/>
        </p:spPr>
        <p:txBody>
          <a:bodyPr vert="horz" wrap="square" rtlCol="0">
            <a:spAutoFit/>
          </a:bodyPr>
          <a:lstStyle/>
          <a:p>
            <a:r>
              <a:rPr lang="en-US" sz="700">
                <a:solidFill>
                  <a:srgbClr val="3D3D3D"/>
                </a:solidFill>
                <a:latin typeface="Segoe UI" panose="020B0502040204020203" pitchFamily="34" charset="0"/>
              </a:rPr>
              <a:t>Direct from Azure DI field confidence (0.0-1.0)</a:t>
            </a:r>
          </a:p>
        </p:txBody>
      </p:sp>
      <p:sp>
        <p:nvSpPr>
          <p:cNvPr id="53" name="Rectangle 52">
            <a:extLst>
              <a:ext uri="{FF2B5EF4-FFF2-40B4-BE49-F238E27FC236}">
                <a16:creationId xmlns:a16="http://schemas.microsoft.com/office/drawing/2014/main" id="{B425C5A0-4F0D-B519-A0A4-5E483D63875D}"/>
              </a:ext>
            </a:extLst>
          </p:cNvPr>
          <p:cNvSpPr/>
          <p:nvPr/>
        </p:nvSpPr>
        <p:spPr>
          <a:xfrm>
            <a:off x="355600" y="3683000"/>
            <a:ext cx="50800" cy="508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Box 53">
            <a:extLst>
              <a:ext uri="{FF2B5EF4-FFF2-40B4-BE49-F238E27FC236}">
                <a16:creationId xmlns:a16="http://schemas.microsoft.com/office/drawing/2014/main" id="{5DCF078B-3BA2-B8C7-1E4D-9602580858E7}"/>
              </a:ext>
            </a:extLst>
          </p:cNvPr>
          <p:cNvSpPr txBox="1"/>
          <p:nvPr/>
        </p:nvSpPr>
        <p:spPr>
          <a:xfrm>
            <a:off x="457200" y="3632200"/>
            <a:ext cx="2540000" cy="200055"/>
          </a:xfrm>
          <a:prstGeom prst="rect">
            <a:avLst/>
          </a:prstGeom>
          <a:noFill/>
        </p:spPr>
        <p:txBody>
          <a:bodyPr vert="horz" wrap="square" rtlCol="0">
            <a:spAutoFit/>
          </a:bodyPr>
          <a:lstStyle/>
          <a:p>
            <a:r>
              <a:rPr lang="en-US" sz="700">
                <a:solidFill>
                  <a:srgbClr val="3D3D3D"/>
                </a:solidFill>
                <a:latin typeface="Segoe UI" panose="020B0502040204020203" pitchFamily="34" charset="0"/>
              </a:rPr>
              <a:t>Bounding box overlap quality factored in</a:t>
            </a:r>
          </a:p>
        </p:txBody>
      </p:sp>
      <p:sp>
        <p:nvSpPr>
          <p:cNvPr id="55" name="Rectangle 54">
            <a:extLst>
              <a:ext uri="{FF2B5EF4-FFF2-40B4-BE49-F238E27FC236}">
                <a16:creationId xmlns:a16="http://schemas.microsoft.com/office/drawing/2014/main" id="{2A6250E1-2CF6-000D-C537-8F7DF1352148}"/>
              </a:ext>
            </a:extLst>
          </p:cNvPr>
          <p:cNvSpPr/>
          <p:nvPr/>
        </p:nvSpPr>
        <p:spPr>
          <a:xfrm>
            <a:off x="355600" y="3962400"/>
            <a:ext cx="50800" cy="508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a:extLst>
              <a:ext uri="{FF2B5EF4-FFF2-40B4-BE49-F238E27FC236}">
                <a16:creationId xmlns:a16="http://schemas.microsoft.com/office/drawing/2014/main" id="{12730DF1-E61D-8A3A-17C7-7A6859F35D43}"/>
              </a:ext>
            </a:extLst>
          </p:cNvPr>
          <p:cNvSpPr txBox="1"/>
          <p:nvPr/>
        </p:nvSpPr>
        <p:spPr>
          <a:xfrm>
            <a:off x="457200" y="3911600"/>
            <a:ext cx="2540000" cy="200055"/>
          </a:xfrm>
          <a:prstGeom prst="rect">
            <a:avLst/>
          </a:prstGeom>
          <a:noFill/>
        </p:spPr>
        <p:txBody>
          <a:bodyPr vert="horz" wrap="square" rtlCol="0">
            <a:spAutoFit/>
          </a:bodyPr>
          <a:lstStyle/>
          <a:p>
            <a:r>
              <a:rPr lang="en-US" sz="700">
                <a:solidFill>
                  <a:srgbClr val="3D3D3D"/>
                </a:solidFill>
                <a:latin typeface="Segoe UI" panose="020B0502040204020203" pitchFamily="34" charset="0"/>
              </a:rPr>
              <a:t>Escalates to Path B if field confidence &lt; 0.60</a:t>
            </a:r>
          </a:p>
        </p:txBody>
      </p:sp>
      <p:sp>
        <p:nvSpPr>
          <p:cNvPr id="57" name="Rectangle 56">
            <a:extLst>
              <a:ext uri="{FF2B5EF4-FFF2-40B4-BE49-F238E27FC236}">
                <a16:creationId xmlns:a16="http://schemas.microsoft.com/office/drawing/2014/main" id="{66D52512-C891-6F8D-5155-F1CB498CEA16}"/>
              </a:ext>
            </a:extLst>
          </p:cNvPr>
          <p:cNvSpPr/>
          <p:nvPr/>
        </p:nvSpPr>
        <p:spPr>
          <a:xfrm>
            <a:off x="3149600" y="3098800"/>
            <a:ext cx="2844800" cy="1879600"/>
          </a:xfrm>
          <a:prstGeom prst="rect">
            <a:avLst/>
          </a:prstGeom>
          <a:solidFill>
            <a:srgbClr val="FFFFFF"/>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79FBD544-5120-D548-9A7B-4E2694D69195}"/>
              </a:ext>
            </a:extLst>
          </p:cNvPr>
          <p:cNvSpPr/>
          <p:nvPr/>
        </p:nvSpPr>
        <p:spPr>
          <a:xfrm>
            <a:off x="3149600" y="3098800"/>
            <a:ext cx="2844800" cy="228600"/>
          </a:xfrm>
          <a:prstGeom prst="rect">
            <a:avLst/>
          </a:prstGeom>
          <a:solidFill>
            <a:srgbClr val="1E1E1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TextBox 58">
            <a:extLst>
              <a:ext uri="{FF2B5EF4-FFF2-40B4-BE49-F238E27FC236}">
                <a16:creationId xmlns:a16="http://schemas.microsoft.com/office/drawing/2014/main" id="{FCF785A6-3289-7201-EF66-B8151CF9DF8C}"/>
              </a:ext>
            </a:extLst>
          </p:cNvPr>
          <p:cNvSpPr txBox="1"/>
          <p:nvPr/>
        </p:nvSpPr>
        <p:spPr>
          <a:xfrm>
            <a:off x="3200400" y="3098800"/>
            <a:ext cx="2743200" cy="200055"/>
          </a:xfrm>
          <a:prstGeom prst="rect">
            <a:avLst/>
          </a:prstGeom>
          <a:noFill/>
        </p:spPr>
        <p:txBody>
          <a:bodyPr vert="horz" wrap="square" rtlCol="0">
            <a:spAutoFit/>
          </a:bodyPr>
          <a:lstStyle/>
          <a:p>
            <a:r>
              <a:rPr lang="en-US" sz="700" b="1">
                <a:solidFill>
                  <a:srgbClr val="FFFFFF"/>
                </a:solidFill>
                <a:latin typeface="Segoe UI" panose="020B0502040204020203" pitchFamily="34" charset="0"/>
              </a:rPr>
              <a:t>Path B -- RAG Pipeline</a:t>
            </a:r>
          </a:p>
        </p:txBody>
      </p:sp>
      <p:sp>
        <p:nvSpPr>
          <p:cNvPr id="60" name="Rectangle 59">
            <a:extLst>
              <a:ext uri="{FF2B5EF4-FFF2-40B4-BE49-F238E27FC236}">
                <a16:creationId xmlns:a16="http://schemas.microsoft.com/office/drawing/2014/main" id="{48FEC743-9012-ED3D-CCF8-6AE6DD6AF710}"/>
              </a:ext>
            </a:extLst>
          </p:cNvPr>
          <p:cNvSpPr/>
          <p:nvPr/>
        </p:nvSpPr>
        <p:spPr>
          <a:xfrm>
            <a:off x="3251200" y="3403600"/>
            <a:ext cx="50800" cy="508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extBox 60">
            <a:extLst>
              <a:ext uri="{FF2B5EF4-FFF2-40B4-BE49-F238E27FC236}">
                <a16:creationId xmlns:a16="http://schemas.microsoft.com/office/drawing/2014/main" id="{CC0791AB-B67F-9E2A-60AA-3076FDDAB73E}"/>
              </a:ext>
            </a:extLst>
          </p:cNvPr>
          <p:cNvSpPr txBox="1"/>
          <p:nvPr/>
        </p:nvSpPr>
        <p:spPr>
          <a:xfrm>
            <a:off x="3352800" y="3352800"/>
            <a:ext cx="2540000" cy="200055"/>
          </a:xfrm>
          <a:prstGeom prst="rect">
            <a:avLst/>
          </a:prstGeom>
          <a:noFill/>
        </p:spPr>
        <p:txBody>
          <a:bodyPr vert="horz" wrap="square" rtlCol="0">
            <a:spAutoFit/>
          </a:bodyPr>
          <a:lstStyle/>
          <a:p>
            <a:r>
              <a:rPr lang="en-US" sz="700">
                <a:solidFill>
                  <a:srgbClr val="3D3D3D"/>
                </a:solidFill>
                <a:latin typeface="Segoe UI" panose="020B0502040204020203" pitchFamily="34" charset="0"/>
              </a:rPr>
              <a:t>LLM self-reports confidence in JSON response</a:t>
            </a:r>
          </a:p>
        </p:txBody>
      </p:sp>
      <p:sp>
        <p:nvSpPr>
          <p:cNvPr id="62" name="Rectangle 61">
            <a:extLst>
              <a:ext uri="{FF2B5EF4-FFF2-40B4-BE49-F238E27FC236}">
                <a16:creationId xmlns:a16="http://schemas.microsoft.com/office/drawing/2014/main" id="{E8D65B21-4189-1CB5-17EE-8DC79539440E}"/>
              </a:ext>
            </a:extLst>
          </p:cNvPr>
          <p:cNvSpPr/>
          <p:nvPr/>
        </p:nvSpPr>
        <p:spPr>
          <a:xfrm>
            <a:off x="3251200" y="3683000"/>
            <a:ext cx="50800" cy="508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a:extLst>
              <a:ext uri="{FF2B5EF4-FFF2-40B4-BE49-F238E27FC236}">
                <a16:creationId xmlns:a16="http://schemas.microsoft.com/office/drawing/2014/main" id="{A95865EF-3C09-8024-E3CB-6183B5763438}"/>
              </a:ext>
            </a:extLst>
          </p:cNvPr>
          <p:cNvSpPr txBox="1"/>
          <p:nvPr/>
        </p:nvSpPr>
        <p:spPr>
          <a:xfrm>
            <a:off x="3352800" y="3632200"/>
            <a:ext cx="2540000" cy="200055"/>
          </a:xfrm>
          <a:prstGeom prst="rect">
            <a:avLst/>
          </a:prstGeom>
          <a:noFill/>
        </p:spPr>
        <p:txBody>
          <a:bodyPr vert="horz" wrap="square" rtlCol="0">
            <a:spAutoFit/>
          </a:bodyPr>
          <a:lstStyle/>
          <a:p>
            <a:r>
              <a:rPr lang="en-US" sz="700">
                <a:solidFill>
                  <a:srgbClr val="3D3D3D"/>
                </a:solidFill>
                <a:latin typeface="Segoe UI" panose="020B0502040204020203" pitchFamily="34" charset="0"/>
              </a:rPr>
              <a:t>Hybrid search BM25 + vector similarity score</a:t>
            </a:r>
          </a:p>
        </p:txBody>
      </p:sp>
      <p:sp>
        <p:nvSpPr>
          <p:cNvPr id="64" name="Rectangle 63">
            <a:extLst>
              <a:ext uri="{FF2B5EF4-FFF2-40B4-BE49-F238E27FC236}">
                <a16:creationId xmlns:a16="http://schemas.microsoft.com/office/drawing/2014/main" id="{50FBBC3E-2337-92B7-18CB-DBAB2BC1E96F}"/>
              </a:ext>
            </a:extLst>
          </p:cNvPr>
          <p:cNvSpPr/>
          <p:nvPr/>
        </p:nvSpPr>
        <p:spPr>
          <a:xfrm>
            <a:off x="3251200" y="3962400"/>
            <a:ext cx="50800" cy="508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TextBox 64">
            <a:extLst>
              <a:ext uri="{FF2B5EF4-FFF2-40B4-BE49-F238E27FC236}">
                <a16:creationId xmlns:a16="http://schemas.microsoft.com/office/drawing/2014/main" id="{20C882CE-E877-2FD6-0DA1-567B288DA029}"/>
              </a:ext>
            </a:extLst>
          </p:cNvPr>
          <p:cNvSpPr txBox="1"/>
          <p:nvPr/>
        </p:nvSpPr>
        <p:spPr>
          <a:xfrm>
            <a:off x="3352800" y="3911600"/>
            <a:ext cx="2540000" cy="200055"/>
          </a:xfrm>
          <a:prstGeom prst="rect">
            <a:avLst/>
          </a:prstGeom>
          <a:noFill/>
        </p:spPr>
        <p:txBody>
          <a:bodyPr vert="horz" wrap="square" rtlCol="0">
            <a:spAutoFit/>
          </a:bodyPr>
          <a:lstStyle/>
          <a:p>
            <a:r>
              <a:rPr lang="en-US" sz="700">
                <a:solidFill>
                  <a:srgbClr val="3D3D3D"/>
                </a:solidFill>
                <a:latin typeface="Segoe UI" panose="020B0502040204020203" pitchFamily="34" charset="0"/>
              </a:rPr>
              <a:t>0.75 default if LLM parse fails</a:t>
            </a:r>
          </a:p>
        </p:txBody>
      </p:sp>
      <p:sp>
        <p:nvSpPr>
          <p:cNvPr id="66" name="Rectangle 65">
            <a:extLst>
              <a:ext uri="{FF2B5EF4-FFF2-40B4-BE49-F238E27FC236}">
                <a16:creationId xmlns:a16="http://schemas.microsoft.com/office/drawing/2014/main" id="{E097FCED-AEC3-1CA5-3CC3-0FD16B7C712E}"/>
              </a:ext>
            </a:extLst>
          </p:cNvPr>
          <p:cNvSpPr/>
          <p:nvPr/>
        </p:nvSpPr>
        <p:spPr>
          <a:xfrm>
            <a:off x="6045200" y="3098800"/>
            <a:ext cx="2844800" cy="1879600"/>
          </a:xfrm>
          <a:prstGeom prst="rect">
            <a:avLst/>
          </a:prstGeom>
          <a:solidFill>
            <a:srgbClr val="FFFFFF"/>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1A6A2DB6-4D1B-685A-ECD6-D403DFC7C5E4}"/>
              </a:ext>
            </a:extLst>
          </p:cNvPr>
          <p:cNvSpPr/>
          <p:nvPr/>
        </p:nvSpPr>
        <p:spPr>
          <a:xfrm>
            <a:off x="6045200" y="3098800"/>
            <a:ext cx="2844800" cy="228600"/>
          </a:xfrm>
          <a:prstGeom prst="rect">
            <a:avLst/>
          </a:prstGeom>
          <a:solidFill>
            <a:srgbClr val="1E1E1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TextBox 67">
            <a:extLst>
              <a:ext uri="{FF2B5EF4-FFF2-40B4-BE49-F238E27FC236}">
                <a16:creationId xmlns:a16="http://schemas.microsoft.com/office/drawing/2014/main" id="{2032FB9B-37BD-648C-3034-71125F732D67}"/>
              </a:ext>
            </a:extLst>
          </p:cNvPr>
          <p:cNvSpPr txBox="1"/>
          <p:nvPr/>
        </p:nvSpPr>
        <p:spPr>
          <a:xfrm>
            <a:off x="6096000" y="3098800"/>
            <a:ext cx="2743200" cy="200055"/>
          </a:xfrm>
          <a:prstGeom prst="rect">
            <a:avLst/>
          </a:prstGeom>
          <a:noFill/>
        </p:spPr>
        <p:txBody>
          <a:bodyPr vert="horz" wrap="square" rtlCol="0">
            <a:spAutoFit/>
          </a:bodyPr>
          <a:lstStyle/>
          <a:p>
            <a:r>
              <a:rPr lang="en-US" sz="700" b="1">
                <a:solidFill>
                  <a:srgbClr val="FFFFFF"/>
                </a:solidFill>
                <a:latin typeface="Segoe UI" panose="020B0502040204020203" pitchFamily="34" charset="0"/>
              </a:rPr>
              <a:t>Path C -- Grounded Vision</a:t>
            </a:r>
          </a:p>
        </p:txBody>
      </p:sp>
      <p:sp>
        <p:nvSpPr>
          <p:cNvPr id="69" name="Rectangle 68">
            <a:extLst>
              <a:ext uri="{FF2B5EF4-FFF2-40B4-BE49-F238E27FC236}">
                <a16:creationId xmlns:a16="http://schemas.microsoft.com/office/drawing/2014/main" id="{A548D6BC-7C5A-02DE-7AD0-59D580D47F51}"/>
              </a:ext>
            </a:extLst>
          </p:cNvPr>
          <p:cNvSpPr/>
          <p:nvPr/>
        </p:nvSpPr>
        <p:spPr>
          <a:xfrm>
            <a:off x="6146800" y="3403600"/>
            <a:ext cx="50800" cy="508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TextBox 69">
            <a:extLst>
              <a:ext uri="{FF2B5EF4-FFF2-40B4-BE49-F238E27FC236}">
                <a16:creationId xmlns:a16="http://schemas.microsoft.com/office/drawing/2014/main" id="{1974AC84-ABB9-4933-15E2-3831E7508A3E}"/>
              </a:ext>
            </a:extLst>
          </p:cNvPr>
          <p:cNvSpPr txBox="1"/>
          <p:nvPr/>
        </p:nvSpPr>
        <p:spPr>
          <a:xfrm>
            <a:off x="6248400" y="3352800"/>
            <a:ext cx="2540000" cy="200055"/>
          </a:xfrm>
          <a:prstGeom prst="rect">
            <a:avLst/>
          </a:prstGeom>
          <a:noFill/>
        </p:spPr>
        <p:txBody>
          <a:bodyPr vert="horz" wrap="square" rtlCol="0">
            <a:spAutoFit/>
          </a:bodyPr>
          <a:lstStyle/>
          <a:p>
            <a:r>
              <a:rPr lang="en-US" sz="700">
                <a:solidFill>
                  <a:srgbClr val="3D3D3D"/>
                </a:solidFill>
                <a:latin typeface="Segoe UI" panose="020B0502040204020203" pitchFamily="34" charset="0"/>
              </a:rPr>
              <a:t>LLM self-reports per-panel confidence</a:t>
            </a:r>
          </a:p>
        </p:txBody>
      </p:sp>
      <p:sp>
        <p:nvSpPr>
          <p:cNvPr id="71" name="Rectangle 70">
            <a:extLst>
              <a:ext uri="{FF2B5EF4-FFF2-40B4-BE49-F238E27FC236}">
                <a16:creationId xmlns:a16="http://schemas.microsoft.com/office/drawing/2014/main" id="{AD57DD63-0B05-F11B-7896-50273CBF7BC0}"/>
              </a:ext>
            </a:extLst>
          </p:cNvPr>
          <p:cNvSpPr/>
          <p:nvPr/>
        </p:nvSpPr>
        <p:spPr>
          <a:xfrm>
            <a:off x="6146800" y="3683000"/>
            <a:ext cx="50800" cy="508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71">
            <a:extLst>
              <a:ext uri="{FF2B5EF4-FFF2-40B4-BE49-F238E27FC236}">
                <a16:creationId xmlns:a16="http://schemas.microsoft.com/office/drawing/2014/main" id="{AF454400-EF5A-43E5-0F8E-346BF1D898D1}"/>
              </a:ext>
            </a:extLst>
          </p:cNvPr>
          <p:cNvSpPr txBox="1"/>
          <p:nvPr/>
        </p:nvSpPr>
        <p:spPr>
          <a:xfrm>
            <a:off x="6248400" y="3632200"/>
            <a:ext cx="2540000" cy="200055"/>
          </a:xfrm>
          <a:prstGeom prst="rect">
            <a:avLst/>
          </a:prstGeom>
          <a:noFill/>
        </p:spPr>
        <p:txBody>
          <a:bodyPr vert="horz" wrap="square" rtlCol="0">
            <a:spAutoFit/>
          </a:bodyPr>
          <a:lstStyle/>
          <a:p>
            <a:r>
              <a:rPr lang="en-US" sz="700">
                <a:solidFill>
                  <a:srgbClr val="3D3D3D"/>
                </a:solidFill>
                <a:latin typeface="Segoe UI" panose="020B0502040204020203" pitchFamily="34" charset="0"/>
              </a:rPr>
              <a:t>Azure AI Vision OCR word confidence averaged</a:t>
            </a:r>
          </a:p>
        </p:txBody>
      </p:sp>
      <p:sp>
        <p:nvSpPr>
          <p:cNvPr id="73" name="Rectangle 72">
            <a:extLst>
              <a:ext uri="{FF2B5EF4-FFF2-40B4-BE49-F238E27FC236}">
                <a16:creationId xmlns:a16="http://schemas.microsoft.com/office/drawing/2014/main" id="{E4B0CC59-3066-B2C5-765B-70CC77907FDD}"/>
              </a:ext>
            </a:extLst>
          </p:cNvPr>
          <p:cNvSpPr/>
          <p:nvPr/>
        </p:nvSpPr>
        <p:spPr>
          <a:xfrm>
            <a:off x="6146800" y="3962400"/>
            <a:ext cx="50800" cy="508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TextBox 73">
            <a:extLst>
              <a:ext uri="{FF2B5EF4-FFF2-40B4-BE49-F238E27FC236}">
                <a16:creationId xmlns:a16="http://schemas.microsoft.com/office/drawing/2014/main" id="{08E67880-7A75-DFC8-5313-469138FDF54A}"/>
              </a:ext>
            </a:extLst>
          </p:cNvPr>
          <p:cNvSpPr txBox="1"/>
          <p:nvPr/>
        </p:nvSpPr>
        <p:spPr>
          <a:xfrm>
            <a:off x="6248400" y="3911600"/>
            <a:ext cx="2540000" cy="200055"/>
          </a:xfrm>
          <a:prstGeom prst="rect">
            <a:avLst/>
          </a:prstGeom>
          <a:noFill/>
        </p:spPr>
        <p:txBody>
          <a:bodyPr vert="horz" wrap="square" rtlCol="0">
            <a:spAutoFit/>
          </a:bodyPr>
          <a:lstStyle/>
          <a:p>
            <a:r>
              <a:rPr lang="en-US" sz="700">
                <a:solidFill>
                  <a:srgbClr val="3D3D3D"/>
                </a:solidFill>
                <a:latin typeface="Segoe UI" panose="020B0502040204020203" pitchFamily="34" charset="0"/>
              </a:rPr>
              <a:t>Geometric segmentation quality check</a:t>
            </a:r>
          </a:p>
        </p:txBody>
      </p:sp>
      <p:sp>
        <p:nvSpPr>
          <p:cNvPr id="75" name="Rectangle 74">
            <a:extLst>
              <a:ext uri="{FF2B5EF4-FFF2-40B4-BE49-F238E27FC236}">
                <a16:creationId xmlns:a16="http://schemas.microsoft.com/office/drawing/2014/main" id="{D0EF7815-7282-F372-5EE4-14766D1510A5}"/>
              </a:ext>
            </a:extLst>
          </p:cNvPr>
          <p:cNvSpPr/>
          <p:nvPr/>
        </p:nvSpPr>
        <p:spPr>
          <a:xfrm>
            <a:off x="254000" y="5054600"/>
            <a:ext cx="8636000" cy="584200"/>
          </a:xfrm>
          <a:prstGeom prst="rect">
            <a:avLst/>
          </a:prstGeom>
          <a:solidFill>
            <a:srgbClr val="FFFFFF"/>
          </a:solidFill>
          <a:ln w="12700">
            <a:solidFill>
              <a:srgbClr val="CCCC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TextBox 75">
            <a:extLst>
              <a:ext uri="{FF2B5EF4-FFF2-40B4-BE49-F238E27FC236}">
                <a16:creationId xmlns:a16="http://schemas.microsoft.com/office/drawing/2014/main" id="{096C7BB6-8346-C34D-FDAC-67774AD02F73}"/>
              </a:ext>
            </a:extLst>
          </p:cNvPr>
          <p:cNvSpPr txBox="1"/>
          <p:nvPr/>
        </p:nvSpPr>
        <p:spPr>
          <a:xfrm>
            <a:off x="355600" y="5105400"/>
            <a:ext cx="8432800" cy="230832"/>
          </a:xfrm>
          <a:prstGeom prst="rect">
            <a:avLst/>
          </a:prstGeom>
          <a:noFill/>
        </p:spPr>
        <p:txBody>
          <a:bodyPr vert="horz" wrap="square" rtlCol="0">
            <a:spAutoFit/>
          </a:bodyPr>
          <a:lstStyle/>
          <a:p>
            <a:r>
              <a:rPr lang="en-US" sz="900" b="1">
                <a:solidFill>
                  <a:srgbClr val="1E1E1E"/>
                </a:solidFill>
                <a:latin typeface="Segoe UI" panose="020B0502040204020203" pitchFamily="34" charset="0"/>
              </a:rPr>
              <a:t>Numeric Agreement Formula (EnsembleVotingService):</a:t>
            </a:r>
          </a:p>
        </p:txBody>
      </p:sp>
      <p:sp>
        <p:nvSpPr>
          <p:cNvPr id="77" name="TextBox 76">
            <a:extLst>
              <a:ext uri="{FF2B5EF4-FFF2-40B4-BE49-F238E27FC236}">
                <a16:creationId xmlns:a16="http://schemas.microsoft.com/office/drawing/2014/main" id="{A1B2BC51-EB47-8757-F109-BE8D85DBAD90}"/>
              </a:ext>
            </a:extLst>
          </p:cNvPr>
          <p:cNvSpPr txBox="1"/>
          <p:nvPr/>
        </p:nvSpPr>
        <p:spPr>
          <a:xfrm>
            <a:off x="355600" y="5308600"/>
            <a:ext cx="8432800" cy="246221"/>
          </a:xfrm>
          <a:prstGeom prst="rect">
            <a:avLst/>
          </a:prstGeom>
          <a:noFill/>
        </p:spPr>
        <p:txBody>
          <a:bodyPr vert="horz" wrap="square" rtlCol="0">
            <a:spAutoFit/>
          </a:bodyPr>
          <a:lstStyle/>
          <a:p>
            <a:r>
              <a:rPr lang="en-US" sz="1000">
                <a:solidFill>
                  <a:srgbClr val="880000"/>
                </a:solidFill>
                <a:latin typeface="Segoe UI" panose="020B0502040204020203" pitchFamily="34" charset="0"/>
              </a:rPr>
              <a:t>  agree  &lt;=&gt;  |a - b| / max(|a|, |b|, 1.0)  &lt;  0.05     (5% tolerance for numeric params)</a:t>
            </a:r>
          </a:p>
        </p:txBody>
      </p:sp>
      <p:sp>
        <p:nvSpPr>
          <p:cNvPr id="78" name="Rectangle 77">
            <a:extLst>
              <a:ext uri="{FF2B5EF4-FFF2-40B4-BE49-F238E27FC236}">
                <a16:creationId xmlns:a16="http://schemas.microsoft.com/office/drawing/2014/main" id="{6AA6CE39-74DB-BA6B-A86A-C6E327FA98F7}"/>
              </a:ext>
            </a:extLst>
          </p:cNvPr>
          <p:cNvSpPr/>
          <p:nvPr/>
        </p:nvSpPr>
        <p:spPr>
          <a:xfrm>
            <a:off x="254000" y="5689600"/>
            <a:ext cx="8636000" cy="660400"/>
          </a:xfrm>
          <a:prstGeom prst="rect">
            <a:avLst/>
          </a:prstGeom>
          <a:solidFill>
            <a:srgbClr val="FFFFFF"/>
          </a:solidFill>
          <a:ln w="12700">
            <a:solidFill>
              <a:srgbClr val="CCCC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TextBox 78">
            <a:extLst>
              <a:ext uri="{FF2B5EF4-FFF2-40B4-BE49-F238E27FC236}">
                <a16:creationId xmlns:a16="http://schemas.microsoft.com/office/drawing/2014/main" id="{73B3F0A2-F910-125D-2CFC-E634DD4CF716}"/>
              </a:ext>
            </a:extLst>
          </p:cNvPr>
          <p:cNvSpPr txBox="1"/>
          <p:nvPr/>
        </p:nvSpPr>
        <p:spPr>
          <a:xfrm>
            <a:off x="355600" y="5740400"/>
            <a:ext cx="8432800" cy="230832"/>
          </a:xfrm>
          <a:prstGeom prst="rect">
            <a:avLst/>
          </a:prstGeom>
          <a:noFill/>
        </p:spPr>
        <p:txBody>
          <a:bodyPr vert="horz" wrap="square" rtlCol="0">
            <a:spAutoFit/>
          </a:bodyPr>
          <a:lstStyle/>
          <a:p>
            <a:r>
              <a:rPr lang="fr-FR" sz="900" b="1">
                <a:solidFill>
                  <a:srgbClr val="1E1E1E"/>
                </a:solidFill>
                <a:latin typeface="Segoe UI" panose="020B0502040204020203" pitchFamily="34" charset="0"/>
              </a:rPr>
              <a:t>Level 2 Device Ensemble (CubicleDeviceExtractions):</a:t>
            </a:r>
            <a:endParaRPr lang="en-US" sz="900" b="1">
              <a:solidFill>
                <a:srgbClr val="1E1E1E"/>
              </a:solidFill>
              <a:latin typeface="Segoe UI" panose="020B0502040204020203" pitchFamily="34" charset="0"/>
            </a:endParaRPr>
          </a:p>
        </p:txBody>
      </p:sp>
      <p:sp>
        <p:nvSpPr>
          <p:cNvPr id="80" name="TextBox 79">
            <a:extLst>
              <a:ext uri="{FF2B5EF4-FFF2-40B4-BE49-F238E27FC236}">
                <a16:creationId xmlns:a16="http://schemas.microsoft.com/office/drawing/2014/main" id="{2BABB635-33DA-DC69-84E6-67222CD19733}"/>
              </a:ext>
            </a:extLst>
          </p:cNvPr>
          <p:cNvSpPr txBox="1"/>
          <p:nvPr/>
        </p:nvSpPr>
        <p:spPr>
          <a:xfrm>
            <a:off x="355600" y="5943600"/>
            <a:ext cx="8432800" cy="215444"/>
          </a:xfrm>
          <a:prstGeom prst="rect">
            <a:avLst/>
          </a:prstGeom>
          <a:noFill/>
        </p:spPr>
        <p:txBody>
          <a:bodyPr vert="horz" wrap="square" rtlCol="0">
            <a:spAutoFit/>
          </a:bodyPr>
          <a:lstStyle/>
          <a:p>
            <a:r>
              <a:rPr lang="en-US" sz="800">
                <a:solidFill>
                  <a:srgbClr val="3D3D3D"/>
                </a:solidFill>
                <a:latin typeface="Segoe UI" panose="020B0502040204020203" pitchFamily="34" charset="0"/>
              </a:rPr>
              <a:t>Path B + Path C both found same device =&gt; Auto-accept  |  Only one path =&gt; FlaggedForReview  |  Neither found =&gt; MissingDevice DeviationItem</a:t>
            </a:r>
          </a:p>
        </p:txBody>
      </p:sp>
    </p:spTree>
    <p:extLst>
      <p:ext uri="{BB962C8B-B14F-4D97-AF65-F5344CB8AC3E}">
        <p14:creationId xmlns:p14="http://schemas.microsoft.com/office/powerpoint/2010/main" val="41542784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4BF29AB-FC6C-8E4A-FBF8-E62DDBE1DA0A}"/>
              </a:ext>
            </a:extLst>
          </p:cNvPr>
          <p:cNvSpPr/>
          <p:nvPr/>
        </p:nvSpPr>
        <p:spPr>
          <a:xfrm>
            <a:off x="0" y="0"/>
            <a:ext cx="9144000" cy="6858000"/>
          </a:xfrm>
          <a:prstGeom prst="rect">
            <a:avLst/>
          </a:prstGeom>
          <a:solidFill>
            <a:srgbClr val="1E1E1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70272377-8D98-BE5E-0BDC-41ABC6702F30}"/>
              </a:ext>
            </a:extLst>
          </p:cNvPr>
          <p:cNvSpPr/>
          <p:nvPr/>
        </p:nvSpPr>
        <p:spPr>
          <a:xfrm>
            <a:off x="0" y="0"/>
            <a:ext cx="9144000" cy="762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EB925A5-2BAC-E145-A37F-791BD613FB36}"/>
              </a:ext>
            </a:extLst>
          </p:cNvPr>
          <p:cNvSpPr txBox="1"/>
          <p:nvPr/>
        </p:nvSpPr>
        <p:spPr>
          <a:xfrm>
            <a:off x="254000" y="177800"/>
            <a:ext cx="8636000" cy="353943"/>
          </a:xfrm>
          <a:prstGeom prst="rect">
            <a:avLst/>
          </a:prstGeom>
          <a:noFill/>
        </p:spPr>
        <p:txBody>
          <a:bodyPr vert="horz" wrap="square" rtlCol="0">
            <a:spAutoFit/>
          </a:bodyPr>
          <a:lstStyle/>
          <a:p>
            <a:r>
              <a:rPr lang="en-US" sz="1700" b="1">
                <a:solidFill>
                  <a:srgbClr val="FFFFFF"/>
                </a:solidFill>
                <a:latin typeface="Segoe UI" panose="020B0502040204020203" pitchFamily="34" charset="0"/>
              </a:rPr>
              <a:t>Data Extraction Logic -- Three-Path Deep Dive</a:t>
            </a:r>
          </a:p>
        </p:txBody>
      </p:sp>
      <p:sp>
        <p:nvSpPr>
          <p:cNvPr id="5" name="Rectangle 4">
            <a:extLst>
              <a:ext uri="{FF2B5EF4-FFF2-40B4-BE49-F238E27FC236}">
                <a16:creationId xmlns:a16="http://schemas.microsoft.com/office/drawing/2014/main" id="{21FB535A-33A3-F9A4-AB83-65B9E7CF96EE}"/>
              </a:ext>
            </a:extLst>
          </p:cNvPr>
          <p:cNvSpPr/>
          <p:nvPr/>
        </p:nvSpPr>
        <p:spPr>
          <a:xfrm>
            <a:off x="254000" y="533400"/>
            <a:ext cx="8636000" cy="12700"/>
          </a:xfrm>
          <a:prstGeom prst="rect">
            <a:avLst/>
          </a:prstGeom>
          <a:solidFill>
            <a:srgbClr val="44444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BAE796FD-C005-962C-1F6E-94F4765D057D}"/>
              </a:ext>
            </a:extLst>
          </p:cNvPr>
          <p:cNvSpPr/>
          <p:nvPr/>
        </p:nvSpPr>
        <p:spPr>
          <a:xfrm>
            <a:off x="254000" y="609600"/>
            <a:ext cx="4254500" cy="2794000"/>
          </a:xfrm>
          <a:prstGeom prst="rect">
            <a:avLst/>
          </a:prstGeom>
          <a:solidFill>
            <a:srgbClr val="1A2A1A"/>
          </a:solidFill>
          <a:ln w="12700">
            <a:solidFill>
              <a:srgbClr val="3366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79291A50-E14A-A73F-C3D0-C05C89CFE867}"/>
              </a:ext>
            </a:extLst>
          </p:cNvPr>
          <p:cNvSpPr/>
          <p:nvPr/>
        </p:nvSpPr>
        <p:spPr>
          <a:xfrm>
            <a:off x="254000" y="609600"/>
            <a:ext cx="4254500" cy="254000"/>
          </a:xfrm>
          <a:prstGeom prst="rect">
            <a:avLst/>
          </a:prstGeom>
          <a:solidFill>
            <a:srgbClr val="1E7A1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DD58D28-09A3-AA79-D57A-C5A1EA2C7BD3}"/>
              </a:ext>
            </a:extLst>
          </p:cNvPr>
          <p:cNvSpPr txBox="1"/>
          <p:nvPr/>
        </p:nvSpPr>
        <p:spPr>
          <a:xfrm>
            <a:off x="254000" y="609600"/>
            <a:ext cx="4254500" cy="230832"/>
          </a:xfrm>
          <a:prstGeom prst="rect">
            <a:avLst/>
          </a:prstGeom>
          <a:noFill/>
        </p:spPr>
        <p:txBody>
          <a:bodyPr vert="horz" wrap="square" rtlCol="0">
            <a:spAutoFit/>
          </a:bodyPr>
          <a:lstStyle/>
          <a:p>
            <a:pPr algn="ctr"/>
            <a:r>
              <a:rPr lang="en-US" sz="900" b="1">
                <a:solidFill>
                  <a:srgbClr val="1E1E1E"/>
                </a:solidFill>
                <a:latin typeface="Segoe UI" panose="020B0502040204020203" pitchFamily="34" charset="0"/>
              </a:rPr>
              <a:t>PATH B -- RAG Pipeline</a:t>
            </a:r>
          </a:p>
        </p:txBody>
      </p:sp>
      <p:sp>
        <p:nvSpPr>
          <p:cNvPr id="9" name="TextBox 8">
            <a:extLst>
              <a:ext uri="{FF2B5EF4-FFF2-40B4-BE49-F238E27FC236}">
                <a16:creationId xmlns:a16="http://schemas.microsoft.com/office/drawing/2014/main" id="{D71EA72D-D128-80D4-FC9A-3C636F009E0B}"/>
              </a:ext>
            </a:extLst>
          </p:cNvPr>
          <p:cNvSpPr txBox="1"/>
          <p:nvPr/>
        </p:nvSpPr>
        <p:spPr>
          <a:xfrm>
            <a:off x="330200" y="889000"/>
            <a:ext cx="4102100" cy="1200329"/>
          </a:xfrm>
          <a:prstGeom prst="rect">
            <a:avLst/>
          </a:prstGeom>
          <a:noFill/>
        </p:spPr>
        <p:txBody>
          <a:bodyPr vert="horz" wrap="square" rtlCol="0">
            <a:spAutoFit/>
          </a:bodyPr>
          <a:lstStyle/>
          <a:p>
            <a:r>
              <a:rPr lang="en-US" sz="800">
                <a:solidFill>
                  <a:srgbClr val="CCFFCC"/>
                </a:solidFill>
                <a:latin typeface="Segoe UI" panose="020B0502040204020203" pitchFamily="34" charset="0"/>
              </a:rPr>
              <a:t>1. Azure DI output =&gt; SemanticChunker (respects table boundaries)
2. text-embedding-3-small =&gt; Azure AI Search hybrid index
3. LEVEL 1: 11 parallel queries (one per parameter):
   - Hybrid search (vector + BM25) =&gt; top 3 chunks
   - GPT-4o-mini with JSON Schema enforcement
   - Returns: {value, unit, confidence, sourceText, found}
4. LEVEL 2: Query 'cubicle schedule equipment list table'
   - Retrieve table chunks =&gt; GPT-4o extract per-row device data
5. Multilingual: French/German/Italian via embedding similarity</a:t>
            </a:r>
          </a:p>
        </p:txBody>
      </p:sp>
      <p:sp>
        <p:nvSpPr>
          <p:cNvPr id="10" name="Rectangle 9">
            <a:extLst>
              <a:ext uri="{FF2B5EF4-FFF2-40B4-BE49-F238E27FC236}">
                <a16:creationId xmlns:a16="http://schemas.microsoft.com/office/drawing/2014/main" id="{45A10458-9A47-B5EC-4363-26024B28FC35}"/>
              </a:ext>
            </a:extLst>
          </p:cNvPr>
          <p:cNvSpPr/>
          <p:nvPr/>
        </p:nvSpPr>
        <p:spPr>
          <a:xfrm>
            <a:off x="4559300" y="609600"/>
            <a:ext cx="4330700" cy="2794000"/>
          </a:xfrm>
          <a:prstGeom prst="rect">
            <a:avLst/>
          </a:prstGeom>
          <a:solidFill>
            <a:srgbClr val="3A1A1A"/>
          </a:solidFill>
          <a:ln w="12700">
            <a:solidFill>
              <a:srgbClr val="8844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CD4F878-F97C-D7B6-B9D4-B4ED3EF8FCE5}"/>
              </a:ext>
            </a:extLst>
          </p:cNvPr>
          <p:cNvSpPr/>
          <p:nvPr/>
        </p:nvSpPr>
        <p:spPr>
          <a:xfrm>
            <a:off x="4559300" y="609600"/>
            <a:ext cx="4330700" cy="254000"/>
          </a:xfrm>
          <a:prstGeom prst="rect">
            <a:avLst/>
          </a:prstGeom>
          <a:solidFill>
            <a:srgbClr val="0078C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9B7EC001-9943-CE07-50E1-C15C7B56D075}"/>
              </a:ext>
            </a:extLst>
          </p:cNvPr>
          <p:cNvSpPr txBox="1"/>
          <p:nvPr/>
        </p:nvSpPr>
        <p:spPr>
          <a:xfrm>
            <a:off x="4559300" y="609600"/>
            <a:ext cx="4330700" cy="230832"/>
          </a:xfrm>
          <a:prstGeom prst="rect">
            <a:avLst/>
          </a:prstGeom>
          <a:noFill/>
        </p:spPr>
        <p:txBody>
          <a:bodyPr vert="horz" wrap="square" rtlCol="0">
            <a:spAutoFit/>
          </a:bodyPr>
          <a:lstStyle/>
          <a:p>
            <a:pPr algn="ctr"/>
            <a:r>
              <a:rPr lang="en-US" sz="900" b="1">
                <a:solidFill>
                  <a:srgbClr val="FFFFFF"/>
                </a:solidFill>
                <a:latin typeface="Segoe UI" panose="020B0502040204020203" pitchFamily="34" charset="0"/>
              </a:rPr>
              <a:t>PATH C -- Grounded Vision (SLD Pages)</a:t>
            </a:r>
          </a:p>
        </p:txBody>
      </p:sp>
      <p:sp>
        <p:nvSpPr>
          <p:cNvPr id="13" name="TextBox 12">
            <a:extLst>
              <a:ext uri="{FF2B5EF4-FFF2-40B4-BE49-F238E27FC236}">
                <a16:creationId xmlns:a16="http://schemas.microsoft.com/office/drawing/2014/main" id="{C40BC2AD-4569-FF1C-7DAB-344DA127113C}"/>
              </a:ext>
            </a:extLst>
          </p:cNvPr>
          <p:cNvSpPr txBox="1"/>
          <p:nvPr/>
        </p:nvSpPr>
        <p:spPr>
          <a:xfrm>
            <a:off x="4635500" y="889000"/>
            <a:ext cx="4178300" cy="1938992"/>
          </a:xfrm>
          <a:prstGeom prst="rect">
            <a:avLst/>
          </a:prstGeom>
          <a:noFill/>
        </p:spPr>
        <p:txBody>
          <a:bodyPr vert="horz" wrap="square" rtlCol="0">
            <a:spAutoFit/>
          </a:bodyPr>
          <a:lstStyle/>
          <a:p>
            <a:r>
              <a:rPr lang="en-US" sz="800">
                <a:solidFill>
                  <a:srgbClr val="FFDDCC"/>
                </a:solidFill>
                <a:latin typeface="Segoe UI" panose="020B0502040204020203" pitchFamily="34" charset="0"/>
              </a:rPr>
              <a:t>Detection: text &lt; 200 chars + page &gt; 2 + has figure region
=&gt; PDFtoImage at 300 DPI =&gt; PNG
=&gt; Azure AI Vision Read API (shared OCR for all sub-flows)
Sub-flow 1 -- System Parameters:
  SldRegionClassifier =&gt; TitleBlock / PanelHeaders
  GPT-4o text-only =&gt; 11 system params (incl. IP + IAC)
Sub-flow 2 -- Device-Level:
  SldPanelSegmentationService =&gt; vertical column boundaries
  GPT-4o per-panel: {panelType, cbModel, ctRatio, relay}
Sub-flow 3 -- Topology:
  SldTopologyService =&gt; multilingual panel classification
  BusbarSections = couplers + 1</a:t>
            </a:r>
          </a:p>
        </p:txBody>
      </p:sp>
      <p:sp>
        <p:nvSpPr>
          <p:cNvPr id="14" name="Rectangle 13">
            <a:extLst>
              <a:ext uri="{FF2B5EF4-FFF2-40B4-BE49-F238E27FC236}">
                <a16:creationId xmlns:a16="http://schemas.microsoft.com/office/drawing/2014/main" id="{0B7E5CD6-D537-3EB1-D269-7AA2BFA7DCF1}"/>
              </a:ext>
            </a:extLst>
          </p:cNvPr>
          <p:cNvSpPr/>
          <p:nvPr/>
        </p:nvSpPr>
        <p:spPr>
          <a:xfrm>
            <a:off x="254000" y="3479800"/>
            <a:ext cx="8636000" cy="1016000"/>
          </a:xfrm>
          <a:prstGeom prst="rect">
            <a:avLst/>
          </a:prstGeom>
          <a:solidFill>
            <a:srgbClr val="001A2A"/>
          </a:solidFill>
          <a:ln w="12700">
            <a:solidFill>
              <a:srgbClr val="0044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6A24FB59-1A1A-731D-2381-96ACC3A127EC}"/>
              </a:ext>
            </a:extLst>
          </p:cNvPr>
          <p:cNvSpPr/>
          <p:nvPr/>
        </p:nvSpPr>
        <p:spPr>
          <a:xfrm>
            <a:off x="254000" y="3479800"/>
            <a:ext cx="8636000" cy="228600"/>
          </a:xfrm>
          <a:prstGeom prst="rect">
            <a:avLst/>
          </a:prstGeom>
          <a:solidFill>
            <a:srgbClr val="00446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90131C39-3591-C2D2-4897-6CE7A8791C21}"/>
              </a:ext>
            </a:extLst>
          </p:cNvPr>
          <p:cNvSpPr txBox="1"/>
          <p:nvPr/>
        </p:nvSpPr>
        <p:spPr>
          <a:xfrm>
            <a:off x="254000" y="3479800"/>
            <a:ext cx="8636000" cy="230832"/>
          </a:xfrm>
          <a:prstGeom prst="rect">
            <a:avLst/>
          </a:prstGeom>
          <a:noFill/>
        </p:spPr>
        <p:txBody>
          <a:bodyPr vert="horz" wrap="square" rtlCol="0">
            <a:spAutoFit/>
          </a:bodyPr>
          <a:lstStyle/>
          <a:p>
            <a:pPr algn="ctr"/>
            <a:r>
              <a:rPr lang="en-US" sz="900" b="1">
                <a:solidFill>
                  <a:srgbClr val="FF8000"/>
                </a:solidFill>
                <a:latin typeface="Segoe UI" panose="020B0502040204020203" pitchFamily="34" charset="0"/>
              </a:rPr>
              <a:t>GAP RESOLUTION -- When All Paths Return found: false</a:t>
            </a:r>
          </a:p>
        </p:txBody>
      </p:sp>
      <p:sp>
        <p:nvSpPr>
          <p:cNvPr id="17" name="TextBox 16">
            <a:extLst>
              <a:ext uri="{FF2B5EF4-FFF2-40B4-BE49-F238E27FC236}">
                <a16:creationId xmlns:a16="http://schemas.microsoft.com/office/drawing/2014/main" id="{1C25FDD4-2BB5-A77F-648E-3DEAACAF06C0}"/>
              </a:ext>
            </a:extLst>
          </p:cNvPr>
          <p:cNvSpPr txBox="1"/>
          <p:nvPr/>
        </p:nvSpPr>
        <p:spPr>
          <a:xfrm>
            <a:off x="355600" y="3733800"/>
            <a:ext cx="8432800" cy="584775"/>
          </a:xfrm>
          <a:prstGeom prst="rect">
            <a:avLst/>
          </a:prstGeom>
          <a:noFill/>
        </p:spPr>
        <p:txBody>
          <a:bodyPr vert="horz" wrap="square" rtlCol="0">
            <a:spAutoFit/>
          </a:bodyPr>
          <a:lstStyle/>
          <a:p>
            <a:r>
              <a:rPr lang="en-US" sz="800">
                <a:solidFill>
                  <a:srgbClr val="AADDFF"/>
                </a:solidFill>
                <a:latin typeface="Segoe UI" panose="020B0502040204020203" pitchFamily="34" charset="0"/>
              </a:rPr>
              <a:t>1. Context-aware retry -- re-query Path B using already-found params as context clues
2. Cross-parameter inference -- IEC 62271 reference =&gt; Market=IEC; French language =&gt; likely IEC 50Hz
3. Mandatory human input -- show most relevant source page + inline input field =&gt; stored as ManualEntry
4. Export unblocked only after all MissingData DeviationItems resolved by engineer</a:t>
            </a:r>
          </a:p>
        </p:txBody>
      </p:sp>
      <p:sp>
        <p:nvSpPr>
          <p:cNvPr id="18" name="Rectangle 17">
            <a:extLst>
              <a:ext uri="{FF2B5EF4-FFF2-40B4-BE49-F238E27FC236}">
                <a16:creationId xmlns:a16="http://schemas.microsoft.com/office/drawing/2014/main" id="{BB7FC831-6985-851B-4AEC-74422BD6927D}"/>
              </a:ext>
            </a:extLst>
          </p:cNvPr>
          <p:cNvSpPr/>
          <p:nvPr/>
        </p:nvSpPr>
        <p:spPr>
          <a:xfrm>
            <a:off x="254000" y="4572000"/>
            <a:ext cx="8636000" cy="711200"/>
          </a:xfrm>
          <a:prstGeom prst="rect">
            <a:avLst/>
          </a:prstGeom>
          <a:solidFill>
            <a:srgbClr val="1A1A1A"/>
          </a:solidFill>
          <a:ln w="12700">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8FA4CD07-C03D-DC39-D93A-E2FF7BE4E161}"/>
              </a:ext>
            </a:extLst>
          </p:cNvPr>
          <p:cNvSpPr txBox="1"/>
          <p:nvPr/>
        </p:nvSpPr>
        <p:spPr>
          <a:xfrm>
            <a:off x="355600" y="4622800"/>
            <a:ext cx="8432800" cy="230832"/>
          </a:xfrm>
          <a:prstGeom prst="rect">
            <a:avLst/>
          </a:prstGeom>
          <a:noFill/>
        </p:spPr>
        <p:txBody>
          <a:bodyPr vert="horz" wrap="square" rtlCol="0">
            <a:spAutoFit/>
          </a:bodyPr>
          <a:lstStyle/>
          <a:p>
            <a:r>
              <a:rPr lang="en-US" sz="900" b="1">
                <a:solidFill>
                  <a:srgbClr val="888888"/>
                </a:solidFill>
                <a:latin typeface="Segoe UI" panose="020B0502040204020203" pitchFamily="34" charset="0"/>
              </a:rPr>
              <a:t>Source Evidence -- Every Extracted Value Stores:</a:t>
            </a:r>
          </a:p>
        </p:txBody>
      </p:sp>
      <p:sp>
        <p:nvSpPr>
          <p:cNvPr id="20" name="TextBox 19">
            <a:extLst>
              <a:ext uri="{FF2B5EF4-FFF2-40B4-BE49-F238E27FC236}">
                <a16:creationId xmlns:a16="http://schemas.microsoft.com/office/drawing/2014/main" id="{C6715354-643B-4663-F429-7CDE70F115D9}"/>
              </a:ext>
            </a:extLst>
          </p:cNvPr>
          <p:cNvSpPr txBox="1"/>
          <p:nvPr/>
        </p:nvSpPr>
        <p:spPr>
          <a:xfrm>
            <a:off x="355600" y="4826000"/>
            <a:ext cx="8432800" cy="200055"/>
          </a:xfrm>
          <a:prstGeom prst="rect">
            <a:avLst/>
          </a:prstGeom>
          <a:noFill/>
        </p:spPr>
        <p:txBody>
          <a:bodyPr vert="horz" wrap="square" rtlCol="0">
            <a:spAutoFit/>
          </a:bodyPr>
          <a:lstStyle/>
          <a:p>
            <a:r>
              <a:rPr lang="en-US" sz="700">
                <a:solidFill>
                  <a:srgbClr val="888888"/>
                </a:solidFill>
                <a:latin typeface="Segoe UI" panose="020B0502040204020203" pitchFamily="34" charset="0"/>
              </a:rPr>
              <a:t>ExtractionPath (A/B/C/Inferred/ManualEntry) | ExtractionLevel (1 or 2) | SourcePage | SourceBoundingBox (pixels) | SourceText (verbatim) | ValidationStatus</a:t>
            </a:r>
          </a:p>
        </p:txBody>
      </p:sp>
      <p:sp>
        <p:nvSpPr>
          <p:cNvPr id="21" name="Rectangle 20">
            <a:extLst>
              <a:ext uri="{FF2B5EF4-FFF2-40B4-BE49-F238E27FC236}">
                <a16:creationId xmlns:a16="http://schemas.microsoft.com/office/drawing/2014/main" id="{BA4BAA2C-5401-49D6-94F8-BA5003715B98}"/>
              </a:ext>
            </a:extLst>
          </p:cNvPr>
          <p:cNvSpPr/>
          <p:nvPr/>
        </p:nvSpPr>
        <p:spPr>
          <a:xfrm>
            <a:off x="254000" y="5359400"/>
            <a:ext cx="8636000" cy="330200"/>
          </a:xfrm>
          <a:prstGeom prst="rect">
            <a:avLst/>
          </a:prstGeom>
          <a:solidFill>
            <a:srgbClr val="0D0D0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74A8C3CB-F491-AD0B-2D97-CCFBC0EC88A4}"/>
              </a:ext>
            </a:extLst>
          </p:cNvPr>
          <p:cNvSpPr txBox="1"/>
          <p:nvPr/>
        </p:nvSpPr>
        <p:spPr>
          <a:xfrm>
            <a:off x="355600" y="5384800"/>
            <a:ext cx="8432800" cy="200055"/>
          </a:xfrm>
          <a:prstGeom prst="rect">
            <a:avLst/>
          </a:prstGeom>
          <a:noFill/>
        </p:spPr>
        <p:txBody>
          <a:bodyPr vert="horz" wrap="square" rtlCol="0">
            <a:spAutoFit/>
          </a:bodyPr>
          <a:lstStyle/>
          <a:p>
            <a:r>
              <a:rPr lang="en-US" sz="700">
                <a:solidFill>
                  <a:srgbClr val="666666"/>
                </a:solidFill>
                <a:latin typeface="Segoe UI" panose="020B0502040204020203" pitchFamily="34" charset="0"/>
              </a:rPr>
              <a:t>Known Constraints: gpt-4o-mini 8K token hard cap =&gt; MaxTextChars=24000 + IsSpecPage() pre-filter | PdfPig for true page count | No blob storage -- only extracted text stored in DB</a:t>
            </a:r>
          </a:p>
        </p:txBody>
      </p:sp>
    </p:spTree>
    <p:extLst>
      <p:ext uri="{BB962C8B-B14F-4D97-AF65-F5344CB8AC3E}">
        <p14:creationId xmlns:p14="http://schemas.microsoft.com/office/powerpoint/2010/main" val="23316852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1D63824-F44D-1E95-8465-11B9C266B952}"/>
              </a:ext>
            </a:extLst>
          </p:cNvPr>
          <p:cNvSpPr/>
          <p:nvPr/>
        </p:nvSpPr>
        <p:spPr>
          <a:xfrm>
            <a:off x="0" y="0"/>
            <a:ext cx="9144000" cy="6858000"/>
          </a:xfrm>
          <a:prstGeom prst="rect">
            <a:avLst/>
          </a:prstGeom>
          <a:solidFill>
            <a:srgbClr val="F0F0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01A0BE5-3013-E0CA-9631-E66511613E02}"/>
              </a:ext>
            </a:extLst>
          </p:cNvPr>
          <p:cNvSpPr/>
          <p:nvPr/>
        </p:nvSpPr>
        <p:spPr>
          <a:xfrm>
            <a:off x="0" y="0"/>
            <a:ext cx="9144000" cy="762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1CFF07D-3F00-17B8-408F-A11DBEE66A8C}"/>
              </a:ext>
            </a:extLst>
          </p:cNvPr>
          <p:cNvSpPr txBox="1"/>
          <p:nvPr/>
        </p:nvSpPr>
        <p:spPr>
          <a:xfrm>
            <a:off x="254000" y="177800"/>
            <a:ext cx="8636000" cy="400110"/>
          </a:xfrm>
          <a:prstGeom prst="rect">
            <a:avLst/>
          </a:prstGeom>
          <a:noFill/>
        </p:spPr>
        <p:txBody>
          <a:bodyPr vert="horz" wrap="square" rtlCol="0">
            <a:spAutoFit/>
          </a:bodyPr>
          <a:lstStyle/>
          <a:p>
            <a:r>
              <a:rPr lang="en-US" sz="2000" b="1">
                <a:solidFill>
                  <a:srgbClr val="1E1E1E"/>
                </a:solidFill>
                <a:latin typeface="Segoe UI" panose="020B0502040204020203" pitchFamily="34" charset="0"/>
              </a:rPr>
              <a:t>Multilingual Extraction -- EN / FR / IT / DE</a:t>
            </a:r>
          </a:p>
        </p:txBody>
      </p:sp>
      <p:sp>
        <p:nvSpPr>
          <p:cNvPr id="5" name="Rectangle 4">
            <a:extLst>
              <a:ext uri="{FF2B5EF4-FFF2-40B4-BE49-F238E27FC236}">
                <a16:creationId xmlns:a16="http://schemas.microsoft.com/office/drawing/2014/main" id="{FF1CD9A4-BDE2-68B9-EF59-AFEB017FCA46}"/>
              </a:ext>
            </a:extLst>
          </p:cNvPr>
          <p:cNvSpPr/>
          <p:nvPr/>
        </p:nvSpPr>
        <p:spPr>
          <a:xfrm>
            <a:off x="254000" y="533400"/>
            <a:ext cx="8636000" cy="254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FA4BEFC-9F7D-64D3-DB30-4FC19B9C3728}"/>
              </a:ext>
            </a:extLst>
          </p:cNvPr>
          <p:cNvSpPr txBox="1"/>
          <p:nvPr/>
        </p:nvSpPr>
        <p:spPr>
          <a:xfrm>
            <a:off x="254000" y="635000"/>
            <a:ext cx="8636000" cy="261610"/>
          </a:xfrm>
          <a:prstGeom prst="rect">
            <a:avLst/>
          </a:prstGeom>
          <a:noFill/>
        </p:spPr>
        <p:txBody>
          <a:bodyPr vert="horz" wrap="square" rtlCol="0">
            <a:spAutoFit/>
          </a:bodyPr>
          <a:lstStyle/>
          <a:p>
            <a:r>
              <a:rPr lang="en-US" sz="1100" b="1">
                <a:solidFill>
                  <a:srgbClr val="1E1E1E"/>
                </a:solidFill>
                <a:latin typeface="Segoe UI" panose="020B0502040204020203" pitchFamily="34" charset="0"/>
              </a:rPr>
              <a:t>How Each Path Handles Multiple Languages</a:t>
            </a:r>
          </a:p>
        </p:txBody>
      </p:sp>
      <p:sp>
        <p:nvSpPr>
          <p:cNvPr id="7" name="Rectangle 6">
            <a:extLst>
              <a:ext uri="{FF2B5EF4-FFF2-40B4-BE49-F238E27FC236}">
                <a16:creationId xmlns:a16="http://schemas.microsoft.com/office/drawing/2014/main" id="{BCFA3C31-D010-334B-3C97-B0627375880A}"/>
              </a:ext>
            </a:extLst>
          </p:cNvPr>
          <p:cNvSpPr/>
          <p:nvPr/>
        </p:nvSpPr>
        <p:spPr>
          <a:xfrm>
            <a:off x="254000" y="889000"/>
            <a:ext cx="2844800" cy="1244600"/>
          </a:xfrm>
          <a:prstGeom prst="rect">
            <a:avLst/>
          </a:prstGeom>
          <a:solidFill>
            <a:srgbClr val="FFFFFF"/>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91E6D71-FDAF-48E0-BE40-68DBC4CF95B0}"/>
              </a:ext>
            </a:extLst>
          </p:cNvPr>
          <p:cNvSpPr/>
          <p:nvPr/>
        </p:nvSpPr>
        <p:spPr>
          <a:xfrm>
            <a:off x="254000" y="889000"/>
            <a:ext cx="2844800" cy="228600"/>
          </a:xfrm>
          <a:prstGeom prst="rect">
            <a:avLst/>
          </a:prstGeom>
          <a:solidFill>
            <a:srgbClr val="1E7A1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8C2A083-7AC9-B68C-2F1E-C8C76C5439D6}"/>
              </a:ext>
            </a:extLst>
          </p:cNvPr>
          <p:cNvSpPr txBox="1"/>
          <p:nvPr/>
        </p:nvSpPr>
        <p:spPr>
          <a:xfrm>
            <a:off x="304800" y="889000"/>
            <a:ext cx="2743200" cy="215444"/>
          </a:xfrm>
          <a:prstGeom prst="rect">
            <a:avLst/>
          </a:prstGeom>
          <a:noFill/>
        </p:spPr>
        <p:txBody>
          <a:bodyPr vert="horz" wrap="square" rtlCol="0">
            <a:spAutoFit/>
          </a:bodyPr>
          <a:lstStyle/>
          <a:p>
            <a:r>
              <a:rPr lang="en-US" sz="800" b="1">
                <a:solidFill>
                  <a:srgbClr val="FFFFFF"/>
                </a:solidFill>
                <a:latin typeface="Segoe UI" panose="020B0502040204020203" pitchFamily="34" charset="0"/>
              </a:rPr>
              <a:t>Path B -- Semantic Embedding</a:t>
            </a:r>
          </a:p>
        </p:txBody>
      </p:sp>
      <p:sp>
        <p:nvSpPr>
          <p:cNvPr id="10" name="TextBox 9">
            <a:extLst>
              <a:ext uri="{FF2B5EF4-FFF2-40B4-BE49-F238E27FC236}">
                <a16:creationId xmlns:a16="http://schemas.microsoft.com/office/drawing/2014/main" id="{FD70DA61-6EB2-4FD6-D142-AF63C98B3DFC}"/>
              </a:ext>
            </a:extLst>
          </p:cNvPr>
          <p:cNvSpPr txBox="1"/>
          <p:nvPr/>
        </p:nvSpPr>
        <p:spPr>
          <a:xfrm>
            <a:off x="330200" y="1143000"/>
            <a:ext cx="2692400" cy="707886"/>
          </a:xfrm>
          <a:prstGeom prst="rect">
            <a:avLst/>
          </a:prstGeom>
          <a:noFill/>
        </p:spPr>
        <p:txBody>
          <a:bodyPr vert="horz" wrap="square" rtlCol="0">
            <a:spAutoFit/>
          </a:bodyPr>
          <a:lstStyle/>
          <a:p>
            <a:r>
              <a:rPr lang="en-US" sz="800">
                <a:solidFill>
                  <a:srgbClr val="3D3D3D"/>
                </a:solidFill>
                <a:latin typeface="Segoe UI" panose="020B0502040204020203" pitchFamily="34" charset="0"/>
              </a:rPr>
              <a:t>text-embedding-3-small is inherently multilingual. No language detection or translation step needed. French 'indice de protection' and German 'Schutzart' and English 'ingress protection' all map to the same vector space -- retrieved by the same query.</a:t>
            </a:r>
          </a:p>
        </p:txBody>
      </p:sp>
      <p:sp>
        <p:nvSpPr>
          <p:cNvPr id="11" name="Rectangle 10">
            <a:extLst>
              <a:ext uri="{FF2B5EF4-FFF2-40B4-BE49-F238E27FC236}">
                <a16:creationId xmlns:a16="http://schemas.microsoft.com/office/drawing/2014/main" id="{10E215FA-FC86-FA5F-CD5A-A251B9BBD2E7}"/>
              </a:ext>
            </a:extLst>
          </p:cNvPr>
          <p:cNvSpPr/>
          <p:nvPr/>
        </p:nvSpPr>
        <p:spPr>
          <a:xfrm>
            <a:off x="3149600" y="889000"/>
            <a:ext cx="2844800" cy="1244600"/>
          </a:xfrm>
          <a:prstGeom prst="rect">
            <a:avLst/>
          </a:prstGeom>
          <a:solidFill>
            <a:srgbClr val="FFFFFF"/>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06939F7-478D-46FF-5371-FC36250246C0}"/>
              </a:ext>
            </a:extLst>
          </p:cNvPr>
          <p:cNvSpPr/>
          <p:nvPr/>
        </p:nvSpPr>
        <p:spPr>
          <a:xfrm>
            <a:off x="3149600" y="889000"/>
            <a:ext cx="2844800" cy="228600"/>
          </a:xfrm>
          <a:prstGeom prst="rect">
            <a:avLst/>
          </a:prstGeom>
          <a:solidFill>
            <a:srgbClr val="0078C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8F0259F7-EA59-2A97-E015-8A9A006275B7}"/>
              </a:ext>
            </a:extLst>
          </p:cNvPr>
          <p:cNvSpPr txBox="1"/>
          <p:nvPr/>
        </p:nvSpPr>
        <p:spPr>
          <a:xfrm>
            <a:off x="3200400" y="889000"/>
            <a:ext cx="2743200" cy="215444"/>
          </a:xfrm>
          <a:prstGeom prst="rect">
            <a:avLst/>
          </a:prstGeom>
          <a:noFill/>
        </p:spPr>
        <p:txBody>
          <a:bodyPr vert="horz" wrap="square" rtlCol="0">
            <a:spAutoFit/>
          </a:bodyPr>
          <a:lstStyle/>
          <a:p>
            <a:r>
              <a:rPr lang="en-US" sz="800" b="1">
                <a:solidFill>
                  <a:srgbClr val="FFFFFF"/>
                </a:solidFill>
                <a:latin typeface="Segoe UI" panose="020B0502040204020203" pitchFamily="34" charset="0"/>
              </a:rPr>
              <a:t>Path C -- GPT-4o Vision</a:t>
            </a:r>
          </a:p>
        </p:txBody>
      </p:sp>
      <p:sp>
        <p:nvSpPr>
          <p:cNvPr id="14" name="TextBox 13">
            <a:extLst>
              <a:ext uri="{FF2B5EF4-FFF2-40B4-BE49-F238E27FC236}">
                <a16:creationId xmlns:a16="http://schemas.microsoft.com/office/drawing/2014/main" id="{B8B74DA6-0BBC-4C49-AADF-01DE05070E42}"/>
              </a:ext>
            </a:extLst>
          </p:cNvPr>
          <p:cNvSpPr txBox="1"/>
          <p:nvPr/>
        </p:nvSpPr>
        <p:spPr>
          <a:xfrm>
            <a:off x="3225800" y="1143000"/>
            <a:ext cx="2692400" cy="584775"/>
          </a:xfrm>
          <a:prstGeom prst="rect">
            <a:avLst/>
          </a:prstGeom>
          <a:noFill/>
        </p:spPr>
        <p:txBody>
          <a:bodyPr vert="horz" wrap="square" rtlCol="0">
            <a:spAutoFit/>
          </a:bodyPr>
          <a:lstStyle/>
          <a:p>
            <a:r>
              <a:rPr lang="en-US" sz="800">
                <a:solidFill>
                  <a:srgbClr val="3D3D3D"/>
                </a:solidFill>
                <a:latin typeface="Segoe UI" panose="020B0502040204020203" pitchFamily="34" charset="0"/>
              </a:rPr>
              <a:t>Vision LLM reads text directly from the image regardless of language. System prompt instructs it to normalise values to English canonical names. IEC symbol notation (QB, QC, QZ, BC) is language-agnostic.</a:t>
            </a:r>
          </a:p>
        </p:txBody>
      </p:sp>
      <p:sp>
        <p:nvSpPr>
          <p:cNvPr id="15" name="Rectangle 14">
            <a:extLst>
              <a:ext uri="{FF2B5EF4-FFF2-40B4-BE49-F238E27FC236}">
                <a16:creationId xmlns:a16="http://schemas.microsoft.com/office/drawing/2014/main" id="{74C2CC04-B045-B5D3-8132-3C095A7C4214}"/>
              </a:ext>
            </a:extLst>
          </p:cNvPr>
          <p:cNvSpPr/>
          <p:nvPr/>
        </p:nvSpPr>
        <p:spPr>
          <a:xfrm>
            <a:off x="6045200" y="889000"/>
            <a:ext cx="2844800" cy="1244600"/>
          </a:xfrm>
          <a:prstGeom prst="rect">
            <a:avLst/>
          </a:prstGeom>
          <a:solidFill>
            <a:srgbClr val="FFFFFF"/>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E6483EB-83F8-602A-3277-691031C282F3}"/>
              </a:ext>
            </a:extLst>
          </p:cNvPr>
          <p:cNvSpPr/>
          <p:nvPr/>
        </p:nvSpPr>
        <p:spPr>
          <a:xfrm>
            <a:off x="6045200" y="889000"/>
            <a:ext cx="2844800" cy="2286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BC1C4C35-508C-4A3E-C810-DFCB5941CDF7}"/>
              </a:ext>
            </a:extLst>
          </p:cNvPr>
          <p:cNvSpPr txBox="1"/>
          <p:nvPr/>
        </p:nvSpPr>
        <p:spPr>
          <a:xfrm>
            <a:off x="6096000" y="889000"/>
            <a:ext cx="2743200" cy="215444"/>
          </a:xfrm>
          <a:prstGeom prst="rect">
            <a:avLst/>
          </a:prstGeom>
          <a:noFill/>
        </p:spPr>
        <p:txBody>
          <a:bodyPr vert="horz" wrap="square" rtlCol="0">
            <a:spAutoFit/>
          </a:bodyPr>
          <a:lstStyle/>
          <a:p>
            <a:r>
              <a:rPr lang="it-IT" sz="800" b="1">
                <a:solidFill>
                  <a:srgbClr val="FFFFFF"/>
                </a:solidFill>
                <a:latin typeface="Segoe UI" panose="020B0502040204020203" pitchFamily="34" charset="0"/>
              </a:rPr>
              <a:t>Path A -- DI Custom Model</a:t>
            </a:r>
            <a:endParaRPr lang="en-US" sz="800" b="1">
              <a:solidFill>
                <a:srgbClr val="FFFFFF"/>
              </a:solidFill>
              <a:latin typeface="Segoe UI" panose="020B0502040204020203" pitchFamily="34" charset="0"/>
            </a:endParaRPr>
          </a:p>
        </p:txBody>
      </p:sp>
      <p:sp>
        <p:nvSpPr>
          <p:cNvPr id="18" name="TextBox 17">
            <a:extLst>
              <a:ext uri="{FF2B5EF4-FFF2-40B4-BE49-F238E27FC236}">
                <a16:creationId xmlns:a16="http://schemas.microsoft.com/office/drawing/2014/main" id="{E38D69DD-A965-5CEB-2D8C-DEBB31573964}"/>
              </a:ext>
            </a:extLst>
          </p:cNvPr>
          <p:cNvSpPr txBox="1"/>
          <p:nvPr/>
        </p:nvSpPr>
        <p:spPr>
          <a:xfrm>
            <a:off x="6121400" y="1143000"/>
            <a:ext cx="2692400" cy="584775"/>
          </a:xfrm>
          <a:prstGeom prst="rect">
            <a:avLst/>
          </a:prstGeom>
          <a:noFill/>
        </p:spPr>
        <p:txBody>
          <a:bodyPr vert="horz" wrap="square" rtlCol="0">
            <a:spAutoFit/>
          </a:bodyPr>
          <a:lstStyle/>
          <a:p>
            <a:r>
              <a:rPr lang="en-US" sz="800">
                <a:solidFill>
                  <a:srgbClr val="3D3D3D"/>
                </a:solidFill>
                <a:latin typeface="Segoe UI" panose="020B0502040204020203" pitchFamily="34" charset="0"/>
              </a:rPr>
              <a:t>Trained on labelled documents per customer template. If training docs include multilingual examples, the model learns field positions independent of language. Template matching uses first-page text rules.</a:t>
            </a:r>
          </a:p>
        </p:txBody>
      </p:sp>
      <p:sp>
        <p:nvSpPr>
          <p:cNvPr id="19" name="TextBox 18">
            <a:extLst>
              <a:ext uri="{FF2B5EF4-FFF2-40B4-BE49-F238E27FC236}">
                <a16:creationId xmlns:a16="http://schemas.microsoft.com/office/drawing/2014/main" id="{722E640F-4743-362A-1D47-EACA95062FBA}"/>
              </a:ext>
            </a:extLst>
          </p:cNvPr>
          <p:cNvSpPr txBox="1"/>
          <p:nvPr/>
        </p:nvSpPr>
        <p:spPr>
          <a:xfrm>
            <a:off x="254000" y="2260600"/>
            <a:ext cx="8636000" cy="246221"/>
          </a:xfrm>
          <a:prstGeom prst="rect">
            <a:avLst/>
          </a:prstGeom>
          <a:noFill/>
        </p:spPr>
        <p:txBody>
          <a:bodyPr vert="horz" wrap="square" rtlCol="0">
            <a:spAutoFit/>
          </a:bodyPr>
          <a:lstStyle/>
          <a:p>
            <a:r>
              <a:rPr lang="en-US" sz="1000" b="1">
                <a:solidFill>
                  <a:srgbClr val="1E1E1E"/>
                </a:solidFill>
                <a:latin typeface="Segoe UI" panose="020B0502040204020203" pitchFamily="34" charset="0"/>
              </a:rPr>
              <a:t>Multilingual Labels -- Key Parameters (Path B search queries + Path C system prompt)</a:t>
            </a:r>
          </a:p>
        </p:txBody>
      </p:sp>
      <p:sp>
        <p:nvSpPr>
          <p:cNvPr id="20" name="Rectangle 19">
            <a:extLst>
              <a:ext uri="{FF2B5EF4-FFF2-40B4-BE49-F238E27FC236}">
                <a16:creationId xmlns:a16="http://schemas.microsoft.com/office/drawing/2014/main" id="{EB8F7001-C4D7-6D4D-91C5-00EDC6450743}"/>
              </a:ext>
            </a:extLst>
          </p:cNvPr>
          <p:cNvSpPr/>
          <p:nvPr/>
        </p:nvSpPr>
        <p:spPr>
          <a:xfrm>
            <a:off x="254000" y="2489200"/>
            <a:ext cx="1625600" cy="228600"/>
          </a:xfrm>
          <a:prstGeom prst="rect">
            <a:avLst/>
          </a:prstGeom>
          <a:solidFill>
            <a:srgbClr val="3D3D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B41EAA67-2A5C-6C55-6E34-FB787C0309DF}"/>
              </a:ext>
            </a:extLst>
          </p:cNvPr>
          <p:cNvSpPr txBox="1"/>
          <p:nvPr/>
        </p:nvSpPr>
        <p:spPr>
          <a:xfrm>
            <a:off x="304800" y="2489200"/>
            <a:ext cx="1524000" cy="200055"/>
          </a:xfrm>
          <a:prstGeom prst="rect">
            <a:avLst/>
          </a:prstGeom>
          <a:noFill/>
        </p:spPr>
        <p:txBody>
          <a:bodyPr vert="horz" wrap="square" rtlCol="0">
            <a:spAutoFit/>
          </a:bodyPr>
          <a:lstStyle/>
          <a:p>
            <a:r>
              <a:rPr lang="en-US" sz="700" b="1">
                <a:solidFill>
                  <a:srgbClr val="FFFFFF"/>
                </a:solidFill>
                <a:latin typeface="Segoe UI" panose="020B0502040204020203" pitchFamily="34" charset="0"/>
              </a:rPr>
              <a:t>Parameter</a:t>
            </a:r>
          </a:p>
        </p:txBody>
      </p:sp>
      <p:sp>
        <p:nvSpPr>
          <p:cNvPr id="22" name="Rectangle 21">
            <a:extLst>
              <a:ext uri="{FF2B5EF4-FFF2-40B4-BE49-F238E27FC236}">
                <a16:creationId xmlns:a16="http://schemas.microsoft.com/office/drawing/2014/main" id="{8CF6B800-FFA3-93B2-E693-34D621470B05}"/>
              </a:ext>
            </a:extLst>
          </p:cNvPr>
          <p:cNvSpPr/>
          <p:nvPr/>
        </p:nvSpPr>
        <p:spPr>
          <a:xfrm>
            <a:off x="1905000" y="2489200"/>
            <a:ext cx="1854200" cy="228600"/>
          </a:xfrm>
          <a:prstGeom prst="rect">
            <a:avLst/>
          </a:prstGeom>
          <a:solidFill>
            <a:srgbClr val="3D3D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22D29A53-F4ED-0BC9-AB9F-60C85D24451F}"/>
              </a:ext>
            </a:extLst>
          </p:cNvPr>
          <p:cNvSpPr txBox="1"/>
          <p:nvPr/>
        </p:nvSpPr>
        <p:spPr>
          <a:xfrm>
            <a:off x="1955800" y="2489200"/>
            <a:ext cx="1752600" cy="200055"/>
          </a:xfrm>
          <a:prstGeom prst="rect">
            <a:avLst/>
          </a:prstGeom>
          <a:noFill/>
        </p:spPr>
        <p:txBody>
          <a:bodyPr vert="horz" wrap="square" rtlCol="0">
            <a:spAutoFit/>
          </a:bodyPr>
          <a:lstStyle/>
          <a:p>
            <a:r>
              <a:rPr lang="en-US" sz="700" b="1">
                <a:solidFill>
                  <a:srgbClr val="FFFFFF"/>
                </a:solidFill>
                <a:latin typeface="Segoe UI" panose="020B0502040204020203" pitchFamily="34" charset="0"/>
              </a:rPr>
              <a:t>English</a:t>
            </a:r>
          </a:p>
        </p:txBody>
      </p:sp>
      <p:sp>
        <p:nvSpPr>
          <p:cNvPr id="24" name="Rectangle 23">
            <a:extLst>
              <a:ext uri="{FF2B5EF4-FFF2-40B4-BE49-F238E27FC236}">
                <a16:creationId xmlns:a16="http://schemas.microsoft.com/office/drawing/2014/main" id="{CAB9DDD8-6731-2B10-57FA-566990922E8A}"/>
              </a:ext>
            </a:extLst>
          </p:cNvPr>
          <p:cNvSpPr/>
          <p:nvPr/>
        </p:nvSpPr>
        <p:spPr>
          <a:xfrm>
            <a:off x="3784600" y="2489200"/>
            <a:ext cx="1854200" cy="228600"/>
          </a:xfrm>
          <a:prstGeom prst="rect">
            <a:avLst/>
          </a:prstGeom>
          <a:solidFill>
            <a:srgbClr val="3D3D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C5033EA4-E480-6B96-2404-4B7807F0DBF3}"/>
              </a:ext>
            </a:extLst>
          </p:cNvPr>
          <p:cNvSpPr txBox="1"/>
          <p:nvPr/>
        </p:nvSpPr>
        <p:spPr>
          <a:xfrm>
            <a:off x="3835400" y="2489200"/>
            <a:ext cx="1752600" cy="200055"/>
          </a:xfrm>
          <a:prstGeom prst="rect">
            <a:avLst/>
          </a:prstGeom>
          <a:noFill/>
        </p:spPr>
        <p:txBody>
          <a:bodyPr vert="horz" wrap="square" rtlCol="0">
            <a:spAutoFit/>
          </a:bodyPr>
          <a:lstStyle/>
          <a:p>
            <a:r>
              <a:rPr lang="en-US" sz="700" b="1">
                <a:solidFill>
                  <a:srgbClr val="FFFFFF"/>
                </a:solidFill>
                <a:latin typeface="Segoe UI" panose="020B0502040204020203" pitchFamily="34" charset="0"/>
              </a:rPr>
              <a:t>French</a:t>
            </a:r>
          </a:p>
        </p:txBody>
      </p:sp>
      <p:sp>
        <p:nvSpPr>
          <p:cNvPr id="26" name="Rectangle 25">
            <a:extLst>
              <a:ext uri="{FF2B5EF4-FFF2-40B4-BE49-F238E27FC236}">
                <a16:creationId xmlns:a16="http://schemas.microsoft.com/office/drawing/2014/main" id="{F7049599-26AF-E76D-5473-E38C8E0BD0AF}"/>
              </a:ext>
            </a:extLst>
          </p:cNvPr>
          <p:cNvSpPr/>
          <p:nvPr/>
        </p:nvSpPr>
        <p:spPr>
          <a:xfrm>
            <a:off x="5664200" y="2489200"/>
            <a:ext cx="1854200" cy="228600"/>
          </a:xfrm>
          <a:prstGeom prst="rect">
            <a:avLst/>
          </a:prstGeom>
          <a:solidFill>
            <a:srgbClr val="3D3D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99816BEF-8ADE-9E2B-597A-6ADDCA88D023}"/>
              </a:ext>
            </a:extLst>
          </p:cNvPr>
          <p:cNvSpPr txBox="1"/>
          <p:nvPr/>
        </p:nvSpPr>
        <p:spPr>
          <a:xfrm>
            <a:off x="5715000" y="2489200"/>
            <a:ext cx="1752600" cy="200055"/>
          </a:xfrm>
          <a:prstGeom prst="rect">
            <a:avLst/>
          </a:prstGeom>
          <a:noFill/>
        </p:spPr>
        <p:txBody>
          <a:bodyPr vert="horz" wrap="square" rtlCol="0">
            <a:spAutoFit/>
          </a:bodyPr>
          <a:lstStyle/>
          <a:p>
            <a:r>
              <a:rPr lang="en-US" sz="700" b="1">
                <a:solidFill>
                  <a:srgbClr val="FFFFFF"/>
                </a:solidFill>
                <a:latin typeface="Segoe UI" panose="020B0502040204020203" pitchFamily="34" charset="0"/>
              </a:rPr>
              <a:t>Italian</a:t>
            </a:r>
          </a:p>
        </p:txBody>
      </p:sp>
      <p:sp>
        <p:nvSpPr>
          <p:cNvPr id="28" name="Rectangle 27">
            <a:extLst>
              <a:ext uri="{FF2B5EF4-FFF2-40B4-BE49-F238E27FC236}">
                <a16:creationId xmlns:a16="http://schemas.microsoft.com/office/drawing/2014/main" id="{746EB533-5781-45D2-7727-7DD507521E14}"/>
              </a:ext>
            </a:extLst>
          </p:cNvPr>
          <p:cNvSpPr/>
          <p:nvPr/>
        </p:nvSpPr>
        <p:spPr>
          <a:xfrm>
            <a:off x="7543800" y="2489200"/>
            <a:ext cx="1498600" cy="228600"/>
          </a:xfrm>
          <a:prstGeom prst="rect">
            <a:avLst/>
          </a:prstGeom>
          <a:solidFill>
            <a:srgbClr val="3D3D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032150E2-62E0-183F-45BC-413526947F50}"/>
              </a:ext>
            </a:extLst>
          </p:cNvPr>
          <p:cNvSpPr txBox="1"/>
          <p:nvPr/>
        </p:nvSpPr>
        <p:spPr>
          <a:xfrm>
            <a:off x="7594600" y="2489200"/>
            <a:ext cx="1397000" cy="200055"/>
          </a:xfrm>
          <a:prstGeom prst="rect">
            <a:avLst/>
          </a:prstGeom>
          <a:noFill/>
        </p:spPr>
        <p:txBody>
          <a:bodyPr vert="horz" wrap="square" rtlCol="0">
            <a:spAutoFit/>
          </a:bodyPr>
          <a:lstStyle/>
          <a:p>
            <a:r>
              <a:rPr lang="en-US" sz="700" b="1">
                <a:solidFill>
                  <a:srgbClr val="FFFFFF"/>
                </a:solidFill>
                <a:latin typeface="Segoe UI" panose="020B0502040204020203" pitchFamily="34" charset="0"/>
              </a:rPr>
              <a:t>German</a:t>
            </a:r>
          </a:p>
        </p:txBody>
      </p:sp>
      <p:sp>
        <p:nvSpPr>
          <p:cNvPr id="30" name="Rectangle 29">
            <a:extLst>
              <a:ext uri="{FF2B5EF4-FFF2-40B4-BE49-F238E27FC236}">
                <a16:creationId xmlns:a16="http://schemas.microsoft.com/office/drawing/2014/main" id="{F536A2B6-25E2-57DE-2B28-14BCE9F7AED6}"/>
              </a:ext>
            </a:extLst>
          </p:cNvPr>
          <p:cNvSpPr/>
          <p:nvPr/>
        </p:nvSpPr>
        <p:spPr>
          <a:xfrm>
            <a:off x="254000" y="2743200"/>
            <a:ext cx="1625600" cy="254000"/>
          </a:xfrm>
          <a:prstGeom prst="rect">
            <a:avLst/>
          </a:prstGeom>
          <a:solidFill>
            <a:srgbClr val="F8F8F8"/>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9F067C02-5C74-1E18-CBB6-71F9FA019640}"/>
              </a:ext>
            </a:extLst>
          </p:cNvPr>
          <p:cNvSpPr txBox="1"/>
          <p:nvPr/>
        </p:nvSpPr>
        <p:spPr>
          <a:xfrm>
            <a:off x="304800" y="2743200"/>
            <a:ext cx="1524000" cy="200055"/>
          </a:xfrm>
          <a:prstGeom prst="rect">
            <a:avLst/>
          </a:prstGeom>
          <a:noFill/>
        </p:spPr>
        <p:txBody>
          <a:bodyPr vert="horz" wrap="square" rtlCol="0">
            <a:spAutoFit/>
          </a:bodyPr>
          <a:lstStyle/>
          <a:p>
            <a:r>
              <a:rPr lang="en-US" sz="700" b="1">
                <a:solidFill>
                  <a:srgbClr val="3D3D3D"/>
                </a:solidFill>
                <a:latin typeface="Segoe UI" panose="020B0502040204020203" pitchFamily="34" charset="0"/>
              </a:rPr>
              <a:t>IngressProtection</a:t>
            </a:r>
          </a:p>
        </p:txBody>
      </p:sp>
      <p:sp>
        <p:nvSpPr>
          <p:cNvPr id="32" name="Rectangle 31">
            <a:extLst>
              <a:ext uri="{FF2B5EF4-FFF2-40B4-BE49-F238E27FC236}">
                <a16:creationId xmlns:a16="http://schemas.microsoft.com/office/drawing/2014/main" id="{D40507B0-EE67-0C35-49F5-2DAA10BF0958}"/>
              </a:ext>
            </a:extLst>
          </p:cNvPr>
          <p:cNvSpPr/>
          <p:nvPr/>
        </p:nvSpPr>
        <p:spPr>
          <a:xfrm>
            <a:off x="1905000" y="2743200"/>
            <a:ext cx="1854200" cy="254000"/>
          </a:xfrm>
          <a:prstGeom prst="rect">
            <a:avLst/>
          </a:prstGeom>
          <a:solidFill>
            <a:srgbClr val="F8F8F8"/>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09E0ED13-3A55-D1C4-8966-9356ADBDCEF0}"/>
              </a:ext>
            </a:extLst>
          </p:cNvPr>
          <p:cNvSpPr txBox="1"/>
          <p:nvPr/>
        </p:nvSpPr>
        <p:spPr>
          <a:xfrm>
            <a:off x="1955800" y="2743200"/>
            <a:ext cx="1752600" cy="200055"/>
          </a:xfrm>
          <a:prstGeom prst="rect">
            <a:avLst/>
          </a:prstGeom>
          <a:noFill/>
        </p:spPr>
        <p:txBody>
          <a:bodyPr vert="horz" wrap="square" rtlCol="0">
            <a:spAutoFit/>
          </a:bodyPr>
          <a:lstStyle/>
          <a:p>
            <a:r>
              <a:rPr lang="en-US" sz="700">
                <a:solidFill>
                  <a:srgbClr val="3D3D3D"/>
                </a:solidFill>
                <a:latin typeface="Segoe UI" panose="020B0502040204020203" pitchFamily="34" charset="0"/>
              </a:rPr>
              <a:t>ingress protection IP</a:t>
            </a:r>
          </a:p>
        </p:txBody>
      </p:sp>
      <p:sp>
        <p:nvSpPr>
          <p:cNvPr id="34" name="Rectangle 33">
            <a:extLst>
              <a:ext uri="{FF2B5EF4-FFF2-40B4-BE49-F238E27FC236}">
                <a16:creationId xmlns:a16="http://schemas.microsoft.com/office/drawing/2014/main" id="{CBDD0980-DAAD-65AD-E6B8-710E6CB48E9E}"/>
              </a:ext>
            </a:extLst>
          </p:cNvPr>
          <p:cNvSpPr/>
          <p:nvPr/>
        </p:nvSpPr>
        <p:spPr>
          <a:xfrm>
            <a:off x="3784600" y="2743200"/>
            <a:ext cx="1854200" cy="254000"/>
          </a:xfrm>
          <a:prstGeom prst="rect">
            <a:avLst/>
          </a:prstGeom>
          <a:solidFill>
            <a:srgbClr val="F8F8F8"/>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52E42348-CFBB-398B-F8B9-E9336A974969}"/>
              </a:ext>
            </a:extLst>
          </p:cNvPr>
          <p:cNvSpPr txBox="1"/>
          <p:nvPr/>
        </p:nvSpPr>
        <p:spPr>
          <a:xfrm>
            <a:off x="3835400" y="2743200"/>
            <a:ext cx="1752600" cy="200055"/>
          </a:xfrm>
          <a:prstGeom prst="rect">
            <a:avLst/>
          </a:prstGeom>
          <a:noFill/>
        </p:spPr>
        <p:txBody>
          <a:bodyPr vert="horz" wrap="square" rtlCol="0">
            <a:spAutoFit/>
          </a:bodyPr>
          <a:lstStyle/>
          <a:p>
            <a:r>
              <a:rPr lang="en-US" sz="700">
                <a:solidFill>
                  <a:srgbClr val="3D3D3D"/>
                </a:solidFill>
                <a:latin typeface="Segoe UI" panose="020B0502040204020203" pitchFamily="34" charset="0"/>
              </a:rPr>
              <a:t>indice de protection</a:t>
            </a:r>
          </a:p>
        </p:txBody>
      </p:sp>
      <p:sp>
        <p:nvSpPr>
          <p:cNvPr id="36" name="Rectangle 35">
            <a:extLst>
              <a:ext uri="{FF2B5EF4-FFF2-40B4-BE49-F238E27FC236}">
                <a16:creationId xmlns:a16="http://schemas.microsoft.com/office/drawing/2014/main" id="{D7AC4DA8-6AC5-CC9E-91E4-11BBA0523488}"/>
              </a:ext>
            </a:extLst>
          </p:cNvPr>
          <p:cNvSpPr/>
          <p:nvPr/>
        </p:nvSpPr>
        <p:spPr>
          <a:xfrm>
            <a:off x="5664200" y="2743200"/>
            <a:ext cx="1854200" cy="254000"/>
          </a:xfrm>
          <a:prstGeom prst="rect">
            <a:avLst/>
          </a:prstGeom>
          <a:solidFill>
            <a:srgbClr val="F8F8F8"/>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CACACA4F-DB26-698C-EDB5-189A6C0E9A81}"/>
              </a:ext>
            </a:extLst>
          </p:cNvPr>
          <p:cNvSpPr txBox="1"/>
          <p:nvPr/>
        </p:nvSpPr>
        <p:spPr>
          <a:xfrm>
            <a:off x="5715000" y="2743200"/>
            <a:ext cx="1752600" cy="200055"/>
          </a:xfrm>
          <a:prstGeom prst="rect">
            <a:avLst/>
          </a:prstGeom>
          <a:noFill/>
        </p:spPr>
        <p:txBody>
          <a:bodyPr vert="horz" wrap="square" rtlCol="0">
            <a:spAutoFit/>
          </a:bodyPr>
          <a:lstStyle/>
          <a:p>
            <a:r>
              <a:rPr lang="en-US" sz="700">
                <a:solidFill>
                  <a:srgbClr val="3D3D3D"/>
                </a:solidFill>
                <a:latin typeface="Segoe UI" panose="020B0502040204020203" pitchFamily="34" charset="0"/>
              </a:rPr>
              <a:t>grado di protezione</a:t>
            </a:r>
          </a:p>
        </p:txBody>
      </p:sp>
      <p:sp>
        <p:nvSpPr>
          <p:cNvPr id="38" name="Rectangle 37">
            <a:extLst>
              <a:ext uri="{FF2B5EF4-FFF2-40B4-BE49-F238E27FC236}">
                <a16:creationId xmlns:a16="http://schemas.microsoft.com/office/drawing/2014/main" id="{E98E531E-23BA-ED73-801F-F4D58AABAFCA}"/>
              </a:ext>
            </a:extLst>
          </p:cNvPr>
          <p:cNvSpPr/>
          <p:nvPr/>
        </p:nvSpPr>
        <p:spPr>
          <a:xfrm>
            <a:off x="7543800" y="2743200"/>
            <a:ext cx="1498600" cy="254000"/>
          </a:xfrm>
          <a:prstGeom prst="rect">
            <a:avLst/>
          </a:prstGeom>
          <a:solidFill>
            <a:srgbClr val="F8F8F8"/>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B1EA2633-9D95-1A08-5607-074B4E768AE9}"/>
              </a:ext>
            </a:extLst>
          </p:cNvPr>
          <p:cNvSpPr txBox="1"/>
          <p:nvPr/>
        </p:nvSpPr>
        <p:spPr>
          <a:xfrm>
            <a:off x="7594600" y="2743200"/>
            <a:ext cx="1397000" cy="200055"/>
          </a:xfrm>
          <a:prstGeom prst="rect">
            <a:avLst/>
          </a:prstGeom>
          <a:noFill/>
        </p:spPr>
        <p:txBody>
          <a:bodyPr vert="horz" wrap="square" rtlCol="0">
            <a:spAutoFit/>
          </a:bodyPr>
          <a:lstStyle/>
          <a:p>
            <a:r>
              <a:rPr lang="en-US" sz="700">
                <a:solidFill>
                  <a:srgbClr val="3D3D3D"/>
                </a:solidFill>
                <a:latin typeface="Segoe UI" panose="020B0502040204020203" pitchFamily="34" charset="0"/>
              </a:rPr>
              <a:t>Schutzart</a:t>
            </a:r>
          </a:p>
        </p:txBody>
      </p:sp>
      <p:sp>
        <p:nvSpPr>
          <p:cNvPr id="40" name="Rectangle 39">
            <a:extLst>
              <a:ext uri="{FF2B5EF4-FFF2-40B4-BE49-F238E27FC236}">
                <a16:creationId xmlns:a16="http://schemas.microsoft.com/office/drawing/2014/main" id="{077603E5-C8E5-36A3-ADD8-F48860B9B18F}"/>
              </a:ext>
            </a:extLst>
          </p:cNvPr>
          <p:cNvSpPr/>
          <p:nvPr/>
        </p:nvSpPr>
        <p:spPr>
          <a:xfrm>
            <a:off x="254000" y="3022600"/>
            <a:ext cx="1625600" cy="254000"/>
          </a:xfrm>
          <a:prstGeom prst="rect">
            <a:avLst/>
          </a:prstGeom>
          <a:solidFill>
            <a:srgbClr val="F8F8F8"/>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1ACEE903-2DFB-A42B-0C53-4D0551C17AE8}"/>
              </a:ext>
            </a:extLst>
          </p:cNvPr>
          <p:cNvSpPr txBox="1"/>
          <p:nvPr/>
        </p:nvSpPr>
        <p:spPr>
          <a:xfrm>
            <a:off x="304800" y="3022600"/>
            <a:ext cx="1524000" cy="200055"/>
          </a:xfrm>
          <a:prstGeom prst="rect">
            <a:avLst/>
          </a:prstGeom>
          <a:noFill/>
        </p:spPr>
        <p:txBody>
          <a:bodyPr vert="horz" wrap="square" rtlCol="0">
            <a:spAutoFit/>
          </a:bodyPr>
          <a:lstStyle/>
          <a:p>
            <a:r>
              <a:rPr lang="en-US" sz="700" b="1">
                <a:solidFill>
                  <a:srgbClr val="3D3D3D"/>
                </a:solidFill>
                <a:latin typeface="Segoe UI" panose="020B0502040204020203" pitchFamily="34" charset="0"/>
              </a:rPr>
              <a:t>InternalArcClassification</a:t>
            </a:r>
          </a:p>
        </p:txBody>
      </p:sp>
      <p:sp>
        <p:nvSpPr>
          <p:cNvPr id="42" name="Rectangle 41">
            <a:extLst>
              <a:ext uri="{FF2B5EF4-FFF2-40B4-BE49-F238E27FC236}">
                <a16:creationId xmlns:a16="http://schemas.microsoft.com/office/drawing/2014/main" id="{A465424A-48D7-35BA-BB10-34CA2926CE42}"/>
              </a:ext>
            </a:extLst>
          </p:cNvPr>
          <p:cNvSpPr/>
          <p:nvPr/>
        </p:nvSpPr>
        <p:spPr>
          <a:xfrm>
            <a:off x="1905000" y="3022600"/>
            <a:ext cx="1854200" cy="254000"/>
          </a:xfrm>
          <a:prstGeom prst="rect">
            <a:avLst/>
          </a:prstGeom>
          <a:solidFill>
            <a:srgbClr val="F8F8F8"/>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6FBF1C9F-55B1-9643-ED84-5B4DDF5CFF55}"/>
              </a:ext>
            </a:extLst>
          </p:cNvPr>
          <p:cNvSpPr txBox="1"/>
          <p:nvPr/>
        </p:nvSpPr>
        <p:spPr>
          <a:xfrm>
            <a:off x="1955800" y="3022600"/>
            <a:ext cx="1752600" cy="200055"/>
          </a:xfrm>
          <a:prstGeom prst="rect">
            <a:avLst/>
          </a:prstGeom>
          <a:noFill/>
        </p:spPr>
        <p:txBody>
          <a:bodyPr vert="horz" wrap="square" rtlCol="0">
            <a:spAutoFit/>
          </a:bodyPr>
          <a:lstStyle/>
          <a:p>
            <a:r>
              <a:rPr lang="en-US" sz="700">
                <a:solidFill>
                  <a:srgbClr val="3D3D3D"/>
                </a:solidFill>
                <a:latin typeface="Segoe UI" panose="020B0502040204020203" pitchFamily="34" charset="0"/>
              </a:rPr>
              <a:t>internal arc IAC</a:t>
            </a:r>
          </a:p>
        </p:txBody>
      </p:sp>
      <p:sp>
        <p:nvSpPr>
          <p:cNvPr id="44" name="Rectangle 43">
            <a:extLst>
              <a:ext uri="{FF2B5EF4-FFF2-40B4-BE49-F238E27FC236}">
                <a16:creationId xmlns:a16="http://schemas.microsoft.com/office/drawing/2014/main" id="{6727277F-1B0E-E843-9EBD-E5063A53125D}"/>
              </a:ext>
            </a:extLst>
          </p:cNvPr>
          <p:cNvSpPr/>
          <p:nvPr/>
        </p:nvSpPr>
        <p:spPr>
          <a:xfrm>
            <a:off x="3784600" y="3022600"/>
            <a:ext cx="1854200" cy="254000"/>
          </a:xfrm>
          <a:prstGeom prst="rect">
            <a:avLst/>
          </a:prstGeom>
          <a:solidFill>
            <a:srgbClr val="F8F8F8"/>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ED81B8EB-D27C-3085-6EDD-2EB734CCE76F}"/>
              </a:ext>
            </a:extLst>
          </p:cNvPr>
          <p:cNvSpPr txBox="1"/>
          <p:nvPr/>
        </p:nvSpPr>
        <p:spPr>
          <a:xfrm>
            <a:off x="3835400" y="3022600"/>
            <a:ext cx="1752600" cy="200055"/>
          </a:xfrm>
          <a:prstGeom prst="rect">
            <a:avLst/>
          </a:prstGeom>
          <a:noFill/>
        </p:spPr>
        <p:txBody>
          <a:bodyPr vert="horz" wrap="square" rtlCol="0">
            <a:spAutoFit/>
          </a:bodyPr>
          <a:lstStyle/>
          <a:p>
            <a:r>
              <a:rPr lang="en-US" sz="700">
                <a:solidFill>
                  <a:srgbClr val="3D3D3D"/>
                </a:solidFill>
                <a:latin typeface="Segoe UI" panose="020B0502040204020203" pitchFamily="34" charset="0"/>
              </a:rPr>
              <a:t>tenue a l arc interne</a:t>
            </a:r>
          </a:p>
        </p:txBody>
      </p:sp>
      <p:sp>
        <p:nvSpPr>
          <p:cNvPr id="46" name="Rectangle 45">
            <a:extLst>
              <a:ext uri="{FF2B5EF4-FFF2-40B4-BE49-F238E27FC236}">
                <a16:creationId xmlns:a16="http://schemas.microsoft.com/office/drawing/2014/main" id="{2D80A24E-9868-95F8-98F6-35105479CC86}"/>
              </a:ext>
            </a:extLst>
          </p:cNvPr>
          <p:cNvSpPr/>
          <p:nvPr/>
        </p:nvSpPr>
        <p:spPr>
          <a:xfrm>
            <a:off x="5664200" y="3022600"/>
            <a:ext cx="1854200" cy="254000"/>
          </a:xfrm>
          <a:prstGeom prst="rect">
            <a:avLst/>
          </a:prstGeom>
          <a:solidFill>
            <a:srgbClr val="F8F8F8"/>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3003E418-DEA2-9471-4FED-A3AB6F92B665}"/>
              </a:ext>
            </a:extLst>
          </p:cNvPr>
          <p:cNvSpPr txBox="1"/>
          <p:nvPr/>
        </p:nvSpPr>
        <p:spPr>
          <a:xfrm>
            <a:off x="5715000" y="3022600"/>
            <a:ext cx="1752600" cy="200055"/>
          </a:xfrm>
          <a:prstGeom prst="rect">
            <a:avLst/>
          </a:prstGeom>
          <a:noFill/>
        </p:spPr>
        <p:txBody>
          <a:bodyPr vert="horz" wrap="square" rtlCol="0">
            <a:spAutoFit/>
          </a:bodyPr>
          <a:lstStyle/>
          <a:p>
            <a:r>
              <a:rPr lang="en-US" sz="700">
                <a:solidFill>
                  <a:srgbClr val="3D3D3D"/>
                </a:solidFill>
                <a:latin typeface="Segoe UI" panose="020B0502040204020203" pitchFamily="34" charset="0"/>
              </a:rPr>
              <a:t>classificazione arco</a:t>
            </a:r>
          </a:p>
        </p:txBody>
      </p:sp>
      <p:sp>
        <p:nvSpPr>
          <p:cNvPr id="48" name="Rectangle 47">
            <a:extLst>
              <a:ext uri="{FF2B5EF4-FFF2-40B4-BE49-F238E27FC236}">
                <a16:creationId xmlns:a16="http://schemas.microsoft.com/office/drawing/2014/main" id="{B789DBB3-CF5D-8180-8086-F32D565C9B95}"/>
              </a:ext>
            </a:extLst>
          </p:cNvPr>
          <p:cNvSpPr/>
          <p:nvPr/>
        </p:nvSpPr>
        <p:spPr>
          <a:xfrm>
            <a:off x="7543800" y="3022600"/>
            <a:ext cx="1498600" cy="254000"/>
          </a:xfrm>
          <a:prstGeom prst="rect">
            <a:avLst/>
          </a:prstGeom>
          <a:solidFill>
            <a:srgbClr val="F8F8F8"/>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a:extLst>
              <a:ext uri="{FF2B5EF4-FFF2-40B4-BE49-F238E27FC236}">
                <a16:creationId xmlns:a16="http://schemas.microsoft.com/office/drawing/2014/main" id="{0C3BC267-462E-EAD2-A07A-67A13F6B154E}"/>
              </a:ext>
            </a:extLst>
          </p:cNvPr>
          <p:cNvSpPr txBox="1"/>
          <p:nvPr/>
        </p:nvSpPr>
        <p:spPr>
          <a:xfrm>
            <a:off x="7594600" y="3022600"/>
            <a:ext cx="1397000" cy="200055"/>
          </a:xfrm>
          <a:prstGeom prst="rect">
            <a:avLst/>
          </a:prstGeom>
          <a:noFill/>
        </p:spPr>
        <p:txBody>
          <a:bodyPr vert="horz" wrap="square" rtlCol="0">
            <a:spAutoFit/>
          </a:bodyPr>
          <a:lstStyle/>
          <a:p>
            <a:r>
              <a:rPr lang="en-US" sz="700">
                <a:solidFill>
                  <a:srgbClr val="3D3D3D"/>
                </a:solidFill>
                <a:latin typeface="Segoe UI" panose="020B0502040204020203" pitchFamily="34" charset="0"/>
              </a:rPr>
              <a:t>Lichtbogenklassifizierung</a:t>
            </a:r>
          </a:p>
        </p:txBody>
      </p:sp>
      <p:sp>
        <p:nvSpPr>
          <p:cNvPr id="50" name="Rectangle 49">
            <a:extLst>
              <a:ext uri="{FF2B5EF4-FFF2-40B4-BE49-F238E27FC236}">
                <a16:creationId xmlns:a16="http://schemas.microsoft.com/office/drawing/2014/main" id="{636C4411-9A4E-614A-8C06-F3FB6D77882C}"/>
              </a:ext>
            </a:extLst>
          </p:cNvPr>
          <p:cNvSpPr/>
          <p:nvPr/>
        </p:nvSpPr>
        <p:spPr>
          <a:xfrm>
            <a:off x="254000" y="3302000"/>
            <a:ext cx="1625600" cy="254000"/>
          </a:xfrm>
          <a:prstGeom prst="rect">
            <a:avLst/>
          </a:prstGeom>
          <a:solidFill>
            <a:srgbClr val="F8F8F8"/>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8AB05A21-4C86-1A26-D9BD-71F581BAE2E5}"/>
              </a:ext>
            </a:extLst>
          </p:cNvPr>
          <p:cNvSpPr txBox="1"/>
          <p:nvPr/>
        </p:nvSpPr>
        <p:spPr>
          <a:xfrm>
            <a:off x="304800" y="3302000"/>
            <a:ext cx="1524000" cy="200055"/>
          </a:xfrm>
          <a:prstGeom prst="rect">
            <a:avLst/>
          </a:prstGeom>
          <a:noFill/>
        </p:spPr>
        <p:txBody>
          <a:bodyPr vert="horz" wrap="square" rtlCol="0">
            <a:spAutoFit/>
          </a:bodyPr>
          <a:lstStyle/>
          <a:p>
            <a:r>
              <a:rPr lang="en-US" sz="700" b="1">
                <a:solidFill>
                  <a:srgbClr val="3D3D3D"/>
                </a:solidFill>
                <a:latin typeface="Segoe UI" panose="020B0502040204020203" pitchFamily="34" charset="0"/>
              </a:rPr>
              <a:t>OperatingVoltage</a:t>
            </a:r>
          </a:p>
        </p:txBody>
      </p:sp>
      <p:sp>
        <p:nvSpPr>
          <p:cNvPr id="52" name="Rectangle 51">
            <a:extLst>
              <a:ext uri="{FF2B5EF4-FFF2-40B4-BE49-F238E27FC236}">
                <a16:creationId xmlns:a16="http://schemas.microsoft.com/office/drawing/2014/main" id="{3F2DA55A-BC5E-1229-2187-88A36FAEA115}"/>
              </a:ext>
            </a:extLst>
          </p:cNvPr>
          <p:cNvSpPr/>
          <p:nvPr/>
        </p:nvSpPr>
        <p:spPr>
          <a:xfrm>
            <a:off x="1905000" y="3302000"/>
            <a:ext cx="1854200" cy="254000"/>
          </a:xfrm>
          <a:prstGeom prst="rect">
            <a:avLst/>
          </a:prstGeom>
          <a:solidFill>
            <a:srgbClr val="F8F8F8"/>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D7C17223-8860-D2CC-146F-149877136E86}"/>
              </a:ext>
            </a:extLst>
          </p:cNvPr>
          <p:cNvSpPr txBox="1"/>
          <p:nvPr/>
        </p:nvSpPr>
        <p:spPr>
          <a:xfrm>
            <a:off x="1955800" y="3302000"/>
            <a:ext cx="1752600" cy="200055"/>
          </a:xfrm>
          <a:prstGeom prst="rect">
            <a:avLst/>
          </a:prstGeom>
          <a:noFill/>
        </p:spPr>
        <p:txBody>
          <a:bodyPr vert="horz" wrap="square" rtlCol="0">
            <a:spAutoFit/>
          </a:bodyPr>
          <a:lstStyle/>
          <a:p>
            <a:r>
              <a:rPr lang="en-US" sz="700">
                <a:solidFill>
                  <a:srgbClr val="3D3D3D"/>
                </a:solidFill>
                <a:latin typeface="Segoe UI" panose="020B0502040204020203" pitchFamily="34" charset="0"/>
              </a:rPr>
              <a:t>operating voltage kV</a:t>
            </a:r>
          </a:p>
        </p:txBody>
      </p:sp>
      <p:sp>
        <p:nvSpPr>
          <p:cNvPr id="54" name="Rectangle 53">
            <a:extLst>
              <a:ext uri="{FF2B5EF4-FFF2-40B4-BE49-F238E27FC236}">
                <a16:creationId xmlns:a16="http://schemas.microsoft.com/office/drawing/2014/main" id="{7971E4E6-70E9-39FA-9398-201678C72AF6}"/>
              </a:ext>
            </a:extLst>
          </p:cNvPr>
          <p:cNvSpPr/>
          <p:nvPr/>
        </p:nvSpPr>
        <p:spPr>
          <a:xfrm>
            <a:off x="3784600" y="3302000"/>
            <a:ext cx="1854200" cy="254000"/>
          </a:xfrm>
          <a:prstGeom prst="rect">
            <a:avLst/>
          </a:prstGeom>
          <a:solidFill>
            <a:srgbClr val="F8F8F8"/>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855A9EDE-5700-35AC-317B-457D437C0420}"/>
              </a:ext>
            </a:extLst>
          </p:cNvPr>
          <p:cNvSpPr txBox="1"/>
          <p:nvPr/>
        </p:nvSpPr>
        <p:spPr>
          <a:xfrm>
            <a:off x="3835400" y="3302000"/>
            <a:ext cx="1752600" cy="200055"/>
          </a:xfrm>
          <a:prstGeom prst="rect">
            <a:avLst/>
          </a:prstGeom>
          <a:noFill/>
        </p:spPr>
        <p:txBody>
          <a:bodyPr vert="horz" wrap="square" rtlCol="0">
            <a:spAutoFit/>
          </a:bodyPr>
          <a:lstStyle/>
          <a:p>
            <a:r>
              <a:rPr lang="en-US" sz="700">
                <a:solidFill>
                  <a:srgbClr val="3D3D3D"/>
                </a:solidFill>
                <a:latin typeface="Segoe UI" panose="020B0502040204020203" pitchFamily="34" charset="0"/>
              </a:rPr>
              <a:t>tension nominale, Un</a:t>
            </a:r>
          </a:p>
        </p:txBody>
      </p:sp>
      <p:sp>
        <p:nvSpPr>
          <p:cNvPr id="56" name="Rectangle 55">
            <a:extLst>
              <a:ext uri="{FF2B5EF4-FFF2-40B4-BE49-F238E27FC236}">
                <a16:creationId xmlns:a16="http://schemas.microsoft.com/office/drawing/2014/main" id="{3A012D44-9DB9-26E0-EFA7-B67A2AE8EDDF}"/>
              </a:ext>
            </a:extLst>
          </p:cNvPr>
          <p:cNvSpPr/>
          <p:nvPr/>
        </p:nvSpPr>
        <p:spPr>
          <a:xfrm>
            <a:off x="5664200" y="3302000"/>
            <a:ext cx="1854200" cy="254000"/>
          </a:xfrm>
          <a:prstGeom prst="rect">
            <a:avLst/>
          </a:prstGeom>
          <a:solidFill>
            <a:srgbClr val="F8F8F8"/>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TextBox 56">
            <a:extLst>
              <a:ext uri="{FF2B5EF4-FFF2-40B4-BE49-F238E27FC236}">
                <a16:creationId xmlns:a16="http://schemas.microsoft.com/office/drawing/2014/main" id="{93A6BBA6-F5B9-B1E9-BA57-CCA64DB7944B}"/>
              </a:ext>
            </a:extLst>
          </p:cNvPr>
          <p:cNvSpPr txBox="1"/>
          <p:nvPr/>
        </p:nvSpPr>
        <p:spPr>
          <a:xfrm>
            <a:off x="5715000" y="3302000"/>
            <a:ext cx="1752600" cy="200055"/>
          </a:xfrm>
          <a:prstGeom prst="rect">
            <a:avLst/>
          </a:prstGeom>
          <a:noFill/>
        </p:spPr>
        <p:txBody>
          <a:bodyPr vert="horz" wrap="square" rtlCol="0">
            <a:spAutoFit/>
          </a:bodyPr>
          <a:lstStyle/>
          <a:p>
            <a:r>
              <a:rPr lang="en-US" sz="700">
                <a:solidFill>
                  <a:srgbClr val="3D3D3D"/>
                </a:solidFill>
                <a:latin typeface="Segoe UI" panose="020B0502040204020203" pitchFamily="34" charset="0"/>
              </a:rPr>
              <a:t>tensione nominale</a:t>
            </a:r>
          </a:p>
        </p:txBody>
      </p:sp>
      <p:sp>
        <p:nvSpPr>
          <p:cNvPr id="58" name="Rectangle 57">
            <a:extLst>
              <a:ext uri="{FF2B5EF4-FFF2-40B4-BE49-F238E27FC236}">
                <a16:creationId xmlns:a16="http://schemas.microsoft.com/office/drawing/2014/main" id="{30EE059E-8CB3-E6F3-8F1D-A24EBC2FEE2A}"/>
              </a:ext>
            </a:extLst>
          </p:cNvPr>
          <p:cNvSpPr/>
          <p:nvPr/>
        </p:nvSpPr>
        <p:spPr>
          <a:xfrm>
            <a:off x="7543800" y="3302000"/>
            <a:ext cx="1498600" cy="254000"/>
          </a:xfrm>
          <a:prstGeom prst="rect">
            <a:avLst/>
          </a:prstGeom>
          <a:solidFill>
            <a:srgbClr val="F8F8F8"/>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TextBox 58">
            <a:extLst>
              <a:ext uri="{FF2B5EF4-FFF2-40B4-BE49-F238E27FC236}">
                <a16:creationId xmlns:a16="http://schemas.microsoft.com/office/drawing/2014/main" id="{D495A4DB-AE54-4712-C157-DD4C14EF00FC}"/>
              </a:ext>
            </a:extLst>
          </p:cNvPr>
          <p:cNvSpPr txBox="1"/>
          <p:nvPr/>
        </p:nvSpPr>
        <p:spPr>
          <a:xfrm>
            <a:off x="7594600" y="3302000"/>
            <a:ext cx="1397000" cy="200055"/>
          </a:xfrm>
          <a:prstGeom prst="rect">
            <a:avLst/>
          </a:prstGeom>
          <a:noFill/>
        </p:spPr>
        <p:txBody>
          <a:bodyPr vert="horz" wrap="square" rtlCol="0">
            <a:spAutoFit/>
          </a:bodyPr>
          <a:lstStyle/>
          <a:p>
            <a:r>
              <a:rPr lang="en-US" sz="700">
                <a:solidFill>
                  <a:srgbClr val="3D3D3D"/>
                </a:solidFill>
                <a:latin typeface="Segoe UI" panose="020B0502040204020203" pitchFamily="34" charset="0"/>
              </a:rPr>
              <a:t>Nennspannung</a:t>
            </a:r>
          </a:p>
        </p:txBody>
      </p:sp>
      <p:sp>
        <p:nvSpPr>
          <p:cNvPr id="60" name="Rectangle 59">
            <a:extLst>
              <a:ext uri="{FF2B5EF4-FFF2-40B4-BE49-F238E27FC236}">
                <a16:creationId xmlns:a16="http://schemas.microsoft.com/office/drawing/2014/main" id="{5D076FB2-259F-2F17-3E74-EFC5EECBD67E}"/>
              </a:ext>
            </a:extLst>
          </p:cNvPr>
          <p:cNvSpPr/>
          <p:nvPr/>
        </p:nvSpPr>
        <p:spPr>
          <a:xfrm>
            <a:off x="254000" y="3581400"/>
            <a:ext cx="1625600" cy="254000"/>
          </a:xfrm>
          <a:prstGeom prst="rect">
            <a:avLst/>
          </a:prstGeom>
          <a:solidFill>
            <a:srgbClr val="F8F8F8"/>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extBox 60">
            <a:extLst>
              <a:ext uri="{FF2B5EF4-FFF2-40B4-BE49-F238E27FC236}">
                <a16:creationId xmlns:a16="http://schemas.microsoft.com/office/drawing/2014/main" id="{7B3C8178-8607-F47C-D8C0-6FB2BA8CD91C}"/>
              </a:ext>
            </a:extLst>
          </p:cNvPr>
          <p:cNvSpPr txBox="1"/>
          <p:nvPr/>
        </p:nvSpPr>
        <p:spPr>
          <a:xfrm>
            <a:off x="304800" y="3581400"/>
            <a:ext cx="1524000" cy="200055"/>
          </a:xfrm>
          <a:prstGeom prst="rect">
            <a:avLst/>
          </a:prstGeom>
          <a:noFill/>
        </p:spPr>
        <p:txBody>
          <a:bodyPr vert="horz" wrap="square" rtlCol="0">
            <a:spAutoFit/>
          </a:bodyPr>
          <a:lstStyle/>
          <a:p>
            <a:r>
              <a:rPr lang="en-US" sz="700" b="1">
                <a:solidFill>
                  <a:srgbClr val="3D3D3D"/>
                </a:solidFill>
                <a:latin typeface="Segoe UI" panose="020B0502040204020203" pitchFamily="34" charset="0"/>
              </a:rPr>
              <a:t>ShortCircuitLevel</a:t>
            </a:r>
          </a:p>
        </p:txBody>
      </p:sp>
      <p:sp>
        <p:nvSpPr>
          <p:cNvPr id="62" name="Rectangle 61">
            <a:extLst>
              <a:ext uri="{FF2B5EF4-FFF2-40B4-BE49-F238E27FC236}">
                <a16:creationId xmlns:a16="http://schemas.microsoft.com/office/drawing/2014/main" id="{513880EA-5BF5-4558-69CB-DDAD7FBD24B7}"/>
              </a:ext>
            </a:extLst>
          </p:cNvPr>
          <p:cNvSpPr/>
          <p:nvPr/>
        </p:nvSpPr>
        <p:spPr>
          <a:xfrm>
            <a:off x="1905000" y="3581400"/>
            <a:ext cx="1854200" cy="254000"/>
          </a:xfrm>
          <a:prstGeom prst="rect">
            <a:avLst/>
          </a:prstGeom>
          <a:solidFill>
            <a:srgbClr val="F8F8F8"/>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a:extLst>
              <a:ext uri="{FF2B5EF4-FFF2-40B4-BE49-F238E27FC236}">
                <a16:creationId xmlns:a16="http://schemas.microsoft.com/office/drawing/2014/main" id="{DC07D472-B716-2AFF-2D76-07C09E0D5F3E}"/>
              </a:ext>
            </a:extLst>
          </p:cNvPr>
          <p:cNvSpPr txBox="1"/>
          <p:nvPr/>
        </p:nvSpPr>
        <p:spPr>
          <a:xfrm>
            <a:off x="1955800" y="3581400"/>
            <a:ext cx="1752600" cy="200055"/>
          </a:xfrm>
          <a:prstGeom prst="rect">
            <a:avLst/>
          </a:prstGeom>
          <a:noFill/>
        </p:spPr>
        <p:txBody>
          <a:bodyPr vert="horz" wrap="square" rtlCol="0">
            <a:spAutoFit/>
          </a:bodyPr>
          <a:lstStyle/>
          <a:p>
            <a:r>
              <a:rPr lang="en-US" sz="700">
                <a:solidFill>
                  <a:srgbClr val="3D3D3D"/>
                </a:solidFill>
                <a:latin typeface="Segoe UI" panose="020B0502040204020203" pitchFamily="34" charset="0"/>
              </a:rPr>
              <a:t>short circuit kA Icc</a:t>
            </a:r>
          </a:p>
        </p:txBody>
      </p:sp>
      <p:sp>
        <p:nvSpPr>
          <p:cNvPr id="64" name="Rectangle 63">
            <a:extLst>
              <a:ext uri="{FF2B5EF4-FFF2-40B4-BE49-F238E27FC236}">
                <a16:creationId xmlns:a16="http://schemas.microsoft.com/office/drawing/2014/main" id="{9F88BDF3-EB3F-AA96-24F4-2F02CA9BBC3B}"/>
              </a:ext>
            </a:extLst>
          </p:cNvPr>
          <p:cNvSpPr/>
          <p:nvPr/>
        </p:nvSpPr>
        <p:spPr>
          <a:xfrm>
            <a:off x="3784600" y="3581400"/>
            <a:ext cx="1854200" cy="254000"/>
          </a:xfrm>
          <a:prstGeom prst="rect">
            <a:avLst/>
          </a:prstGeom>
          <a:solidFill>
            <a:srgbClr val="F8F8F8"/>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TextBox 64">
            <a:extLst>
              <a:ext uri="{FF2B5EF4-FFF2-40B4-BE49-F238E27FC236}">
                <a16:creationId xmlns:a16="http://schemas.microsoft.com/office/drawing/2014/main" id="{C80CB848-9645-22E1-02EC-C4947740F559}"/>
              </a:ext>
            </a:extLst>
          </p:cNvPr>
          <p:cNvSpPr txBox="1"/>
          <p:nvPr/>
        </p:nvSpPr>
        <p:spPr>
          <a:xfrm>
            <a:off x="3835400" y="3581400"/>
            <a:ext cx="1752600" cy="200055"/>
          </a:xfrm>
          <a:prstGeom prst="rect">
            <a:avLst/>
          </a:prstGeom>
          <a:noFill/>
        </p:spPr>
        <p:txBody>
          <a:bodyPr vert="horz" wrap="square" rtlCol="0">
            <a:spAutoFit/>
          </a:bodyPr>
          <a:lstStyle/>
          <a:p>
            <a:r>
              <a:rPr lang="en-US" sz="700">
                <a:solidFill>
                  <a:srgbClr val="3D3D3D"/>
                </a:solidFill>
                <a:latin typeface="Segoe UI" panose="020B0502040204020203" pitchFamily="34" charset="0"/>
              </a:rPr>
              <a:t>courant de court-circuit</a:t>
            </a:r>
          </a:p>
        </p:txBody>
      </p:sp>
      <p:sp>
        <p:nvSpPr>
          <p:cNvPr id="66" name="Rectangle 65">
            <a:extLst>
              <a:ext uri="{FF2B5EF4-FFF2-40B4-BE49-F238E27FC236}">
                <a16:creationId xmlns:a16="http://schemas.microsoft.com/office/drawing/2014/main" id="{60A3E4FD-0E75-5517-4BCD-5B19FA422A4E}"/>
              </a:ext>
            </a:extLst>
          </p:cNvPr>
          <p:cNvSpPr/>
          <p:nvPr/>
        </p:nvSpPr>
        <p:spPr>
          <a:xfrm>
            <a:off x="5664200" y="3581400"/>
            <a:ext cx="1854200" cy="254000"/>
          </a:xfrm>
          <a:prstGeom prst="rect">
            <a:avLst/>
          </a:prstGeom>
          <a:solidFill>
            <a:srgbClr val="F8F8F8"/>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TextBox 66">
            <a:extLst>
              <a:ext uri="{FF2B5EF4-FFF2-40B4-BE49-F238E27FC236}">
                <a16:creationId xmlns:a16="http://schemas.microsoft.com/office/drawing/2014/main" id="{1FBC620F-49E1-8A0F-F81D-0A110B295AE5}"/>
              </a:ext>
            </a:extLst>
          </p:cNvPr>
          <p:cNvSpPr txBox="1"/>
          <p:nvPr/>
        </p:nvSpPr>
        <p:spPr>
          <a:xfrm>
            <a:off x="5715000" y="3581400"/>
            <a:ext cx="1752600" cy="200055"/>
          </a:xfrm>
          <a:prstGeom prst="rect">
            <a:avLst/>
          </a:prstGeom>
          <a:noFill/>
        </p:spPr>
        <p:txBody>
          <a:bodyPr vert="horz" wrap="square" rtlCol="0">
            <a:spAutoFit/>
          </a:bodyPr>
          <a:lstStyle/>
          <a:p>
            <a:r>
              <a:rPr lang="en-US" sz="700">
                <a:solidFill>
                  <a:srgbClr val="3D3D3D"/>
                </a:solidFill>
                <a:latin typeface="Segoe UI" panose="020B0502040204020203" pitchFamily="34" charset="0"/>
              </a:rPr>
              <a:t>corrente di cc Icc</a:t>
            </a:r>
          </a:p>
        </p:txBody>
      </p:sp>
      <p:sp>
        <p:nvSpPr>
          <p:cNvPr id="68" name="Rectangle 67">
            <a:extLst>
              <a:ext uri="{FF2B5EF4-FFF2-40B4-BE49-F238E27FC236}">
                <a16:creationId xmlns:a16="http://schemas.microsoft.com/office/drawing/2014/main" id="{027DCF8A-04EC-CAA9-CE4C-B91F5FC7D6C6}"/>
              </a:ext>
            </a:extLst>
          </p:cNvPr>
          <p:cNvSpPr/>
          <p:nvPr/>
        </p:nvSpPr>
        <p:spPr>
          <a:xfrm>
            <a:off x="7543800" y="3581400"/>
            <a:ext cx="1498600" cy="254000"/>
          </a:xfrm>
          <a:prstGeom prst="rect">
            <a:avLst/>
          </a:prstGeom>
          <a:solidFill>
            <a:srgbClr val="F8F8F8"/>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TextBox 68">
            <a:extLst>
              <a:ext uri="{FF2B5EF4-FFF2-40B4-BE49-F238E27FC236}">
                <a16:creationId xmlns:a16="http://schemas.microsoft.com/office/drawing/2014/main" id="{6E9DEC5F-C0C6-8D65-21B5-B23A5CC3DEB9}"/>
              </a:ext>
            </a:extLst>
          </p:cNvPr>
          <p:cNvSpPr txBox="1"/>
          <p:nvPr/>
        </p:nvSpPr>
        <p:spPr>
          <a:xfrm>
            <a:off x="7594600" y="3581400"/>
            <a:ext cx="1397000" cy="200055"/>
          </a:xfrm>
          <a:prstGeom prst="rect">
            <a:avLst/>
          </a:prstGeom>
          <a:noFill/>
        </p:spPr>
        <p:txBody>
          <a:bodyPr vert="horz" wrap="square" rtlCol="0">
            <a:spAutoFit/>
          </a:bodyPr>
          <a:lstStyle/>
          <a:p>
            <a:r>
              <a:rPr lang="en-US" sz="700">
                <a:solidFill>
                  <a:srgbClr val="3D3D3D"/>
                </a:solidFill>
                <a:latin typeface="Segoe UI" panose="020B0502040204020203" pitchFamily="34" charset="0"/>
              </a:rPr>
              <a:t>Kurzschlussstrom</a:t>
            </a:r>
          </a:p>
        </p:txBody>
      </p:sp>
      <p:sp>
        <p:nvSpPr>
          <p:cNvPr id="70" name="Rectangle 69">
            <a:extLst>
              <a:ext uri="{FF2B5EF4-FFF2-40B4-BE49-F238E27FC236}">
                <a16:creationId xmlns:a16="http://schemas.microsoft.com/office/drawing/2014/main" id="{7EDAE906-A982-D3E4-B0EC-42C660118CE5}"/>
              </a:ext>
            </a:extLst>
          </p:cNvPr>
          <p:cNvSpPr/>
          <p:nvPr/>
        </p:nvSpPr>
        <p:spPr>
          <a:xfrm>
            <a:off x="254000" y="3860800"/>
            <a:ext cx="1625600" cy="254000"/>
          </a:xfrm>
          <a:prstGeom prst="rect">
            <a:avLst/>
          </a:prstGeom>
          <a:solidFill>
            <a:srgbClr val="F8F8F8"/>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TextBox 70">
            <a:extLst>
              <a:ext uri="{FF2B5EF4-FFF2-40B4-BE49-F238E27FC236}">
                <a16:creationId xmlns:a16="http://schemas.microsoft.com/office/drawing/2014/main" id="{5EA7370D-EB0E-AC4E-CEA4-F2BEAEDCF83A}"/>
              </a:ext>
            </a:extLst>
          </p:cNvPr>
          <p:cNvSpPr txBox="1"/>
          <p:nvPr/>
        </p:nvSpPr>
        <p:spPr>
          <a:xfrm>
            <a:off x="304800" y="3860800"/>
            <a:ext cx="1524000" cy="200055"/>
          </a:xfrm>
          <a:prstGeom prst="rect">
            <a:avLst/>
          </a:prstGeom>
          <a:noFill/>
        </p:spPr>
        <p:txBody>
          <a:bodyPr vert="horz" wrap="square" rtlCol="0">
            <a:spAutoFit/>
          </a:bodyPr>
          <a:lstStyle/>
          <a:p>
            <a:r>
              <a:rPr lang="en-US" sz="700" b="1">
                <a:solidFill>
                  <a:srgbClr val="3D3D3D"/>
                </a:solidFill>
                <a:latin typeface="Segoe UI" panose="020B0502040204020203" pitchFamily="34" charset="0"/>
              </a:rPr>
              <a:t>RatedBusbarCurrent</a:t>
            </a:r>
          </a:p>
        </p:txBody>
      </p:sp>
      <p:sp>
        <p:nvSpPr>
          <p:cNvPr id="72" name="Rectangle 71">
            <a:extLst>
              <a:ext uri="{FF2B5EF4-FFF2-40B4-BE49-F238E27FC236}">
                <a16:creationId xmlns:a16="http://schemas.microsoft.com/office/drawing/2014/main" id="{5E0CFE7C-B0E5-3016-5628-CFB51869A592}"/>
              </a:ext>
            </a:extLst>
          </p:cNvPr>
          <p:cNvSpPr/>
          <p:nvPr/>
        </p:nvSpPr>
        <p:spPr>
          <a:xfrm>
            <a:off x="1905000" y="3860800"/>
            <a:ext cx="1854200" cy="254000"/>
          </a:xfrm>
          <a:prstGeom prst="rect">
            <a:avLst/>
          </a:prstGeom>
          <a:solidFill>
            <a:srgbClr val="F8F8F8"/>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TextBox 72">
            <a:extLst>
              <a:ext uri="{FF2B5EF4-FFF2-40B4-BE49-F238E27FC236}">
                <a16:creationId xmlns:a16="http://schemas.microsoft.com/office/drawing/2014/main" id="{FA556D87-93F6-770C-87AC-E2D5C8997D8F}"/>
              </a:ext>
            </a:extLst>
          </p:cNvPr>
          <p:cNvSpPr txBox="1"/>
          <p:nvPr/>
        </p:nvSpPr>
        <p:spPr>
          <a:xfrm>
            <a:off x="1955800" y="3860800"/>
            <a:ext cx="1752600" cy="200055"/>
          </a:xfrm>
          <a:prstGeom prst="rect">
            <a:avLst/>
          </a:prstGeom>
          <a:noFill/>
        </p:spPr>
        <p:txBody>
          <a:bodyPr vert="horz" wrap="square" rtlCol="0">
            <a:spAutoFit/>
          </a:bodyPr>
          <a:lstStyle/>
          <a:p>
            <a:r>
              <a:rPr lang="en-US" sz="700">
                <a:solidFill>
                  <a:srgbClr val="3D3D3D"/>
                </a:solidFill>
                <a:latin typeface="Segoe UI" panose="020B0502040204020203" pitchFamily="34" charset="0"/>
              </a:rPr>
              <a:t>busbar current (A)</a:t>
            </a:r>
          </a:p>
        </p:txBody>
      </p:sp>
      <p:sp>
        <p:nvSpPr>
          <p:cNvPr id="74" name="Rectangle 73">
            <a:extLst>
              <a:ext uri="{FF2B5EF4-FFF2-40B4-BE49-F238E27FC236}">
                <a16:creationId xmlns:a16="http://schemas.microsoft.com/office/drawing/2014/main" id="{7C6C75D5-633C-AF55-4FD3-F0FB74EE9B22}"/>
              </a:ext>
            </a:extLst>
          </p:cNvPr>
          <p:cNvSpPr/>
          <p:nvPr/>
        </p:nvSpPr>
        <p:spPr>
          <a:xfrm>
            <a:off x="3784600" y="3860800"/>
            <a:ext cx="1854200" cy="254000"/>
          </a:xfrm>
          <a:prstGeom prst="rect">
            <a:avLst/>
          </a:prstGeom>
          <a:solidFill>
            <a:srgbClr val="F8F8F8"/>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TextBox 74">
            <a:extLst>
              <a:ext uri="{FF2B5EF4-FFF2-40B4-BE49-F238E27FC236}">
                <a16:creationId xmlns:a16="http://schemas.microsoft.com/office/drawing/2014/main" id="{34F9AE04-6CB7-8C7D-5551-B6941D362908}"/>
              </a:ext>
            </a:extLst>
          </p:cNvPr>
          <p:cNvSpPr txBox="1"/>
          <p:nvPr/>
        </p:nvSpPr>
        <p:spPr>
          <a:xfrm>
            <a:off x="3835400" y="3860800"/>
            <a:ext cx="1752600" cy="200055"/>
          </a:xfrm>
          <a:prstGeom prst="rect">
            <a:avLst/>
          </a:prstGeom>
          <a:noFill/>
        </p:spPr>
        <p:txBody>
          <a:bodyPr vert="horz" wrap="square" rtlCol="0">
            <a:spAutoFit/>
          </a:bodyPr>
          <a:lstStyle/>
          <a:p>
            <a:r>
              <a:rPr lang="fr-FR" sz="700">
                <a:solidFill>
                  <a:srgbClr val="3D3D3D"/>
                </a:solidFill>
                <a:latin typeface="Segoe UI" panose="020B0502040204020203" pitchFamily="34" charset="0"/>
              </a:rPr>
              <a:t>courant de jeu de barres</a:t>
            </a:r>
            <a:endParaRPr lang="en-US" sz="700">
              <a:solidFill>
                <a:srgbClr val="3D3D3D"/>
              </a:solidFill>
              <a:latin typeface="Segoe UI" panose="020B0502040204020203" pitchFamily="34" charset="0"/>
            </a:endParaRPr>
          </a:p>
        </p:txBody>
      </p:sp>
      <p:sp>
        <p:nvSpPr>
          <p:cNvPr id="76" name="Rectangle 75">
            <a:extLst>
              <a:ext uri="{FF2B5EF4-FFF2-40B4-BE49-F238E27FC236}">
                <a16:creationId xmlns:a16="http://schemas.microsoft.com/office/drawing/2014/main" id="{0C73597D-4318-D392-54E0-5074FEDFD35E}"/>
              </a:ext>
            </a:extLst>
          </p:cNvPr>
          <p:cNvSpPr/>
          <p:nvPr/>
        </p:nvSpPr>
        <p:spPr>
          <a:xfrm>
            <a:off x="5664200" y="3860800"/>
            <a:ext cx="1854200" cy="254000"/>
          </a:xfrm>
          <a:prstGeom prst="rect">
            <a:avLst/>
          </a:prstGeom>
          <a:solidFill>
            <a:srgbClr val="F8F8F8"/>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TextBox 76">
            <a:extLst>
              <a:ext uri="{FF2B5EF4-FFF2-40B4-BE49-F238E27FC236}">
                <a16:creationId xmlns:a16="http://schemas.microsoft.com/office/drawing/2014/main" id="{35BB6959-F60C-7610-0BA6-647AA3CE64DC}"/>
              </a:ext>
            </a:extLst>
          </p:cNvPr>
          <p:cNvSpPr txBox="1"/>
          <p:nvPr/>
        </p:nvSpPr>
        <p:spPr>
          <a:xfrm>
            <a:off x="5715000" y="3860800"/>
            <a:ext cx="1752600" cy="200055"/>
          </a:xfrm>
          <a:prstGeom prst="rect">
            <a:avLst/>
          </a:prstGeom>
          <a:noFill/>
        </p:spPr>
        <p:txBody>
          <a:bodyPr vert="horz" wrap="square" rtlCol="0">
            <a:spAutoFit/>
          </a:bodyPr>
          <a:lstStyle/>
          <a:p>
            <a:r>
              <a:rPr lang="en-US" sz="700">
                <a:solidFill>
                  <a:srgbClr val="3D3D3D"/>
                </a:solidFill>
                <a:latin typeface="Segoe UI" panose="020B0502040204020203" pitchFamily="34" charset="0"/>
              </a:rPr>
              <a:t>corrente di sbarra</a:t>
            </a:r>
          </a:p>
        </p:txBody>
      </p:sp>
      <p:sp>
        <p:nvSpPr>
          <p:cNvPr id="78" name="Rectangle 77">
            <a:extLst>
              <a:ext uri="{FF2B5EF4-FFF2-40B4-BE49-F238E27FC236}">
                <a16:creationId xmlns:a16="http://schemas.microsoft.com/office/drawing/2014/main" id="{21E2042E-1DA3-A894-8FA3-500EF67C6A23}"/>
              </a:ext>
            </a:extLst>
          </p:cNvPr>
          <p:cNvSpPr/>
          <p:nvPr/>
        </p:nvSpPr>
        <p:spPr>
          <a:xfrm>
            <a:off x="7543800" y="3860800"/>
            <a:ext cx="1498600" cy="254000"/>
          </a:xfrm>
          <a:prstGeom prst="rect">
            <a:avLst/>
          </a:prstGeom>
          <a:solidFill>
            <a:srgbClr val="F8F8F8"/>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TextBox 78">
            <a:extLst>
              <a:ext uri="{FF2B5EF4-FFF2-40B4-BE49-F238E27FC236}">
                <a16:creationId xmlns:a16="http://schemas.microsoft.com/office/drawing/2014/main" id="{02942CD1-425E-93CF-9BAB-B43E3879A6A5}"/>
              </a:ext>
            </a:extLst>
          </p:cNvPr>
          <p:cNvSpPr txBox="1"/>
          <p:nvPr/>
        </p:nvSpPr>
        <p:spPr>
          <a:xfrm>
            <a:off x="7594600" y="3860800"/>
            <a:ext cx="1397000" cy="200055"/>
          </a:xfrm>
          <a:prstGeom prst="rect">
            <a:avLst/>
          </a:prstGeom>
          <a:noFill/>
        </p:spPr>
        <p:txBody>
          <a:bodyPr vert="horz" wrap="square" rtlCol="0">
            <a:spAutoFit/>
          </a:bodyPr>
          <a:lstStyle/>
          <a:p>
            <a:r>
              <a:rPr lang="en-US" sz="700">
                <a:solidFill>
                  <a:srgbClr val="3D3D3D"/>
                </a:solidFill>
                <a:latin typeface="Segoe UI" panose="020B0502040204020203" pitchFamily="34" charset="0"/>
              </a:rPr>
              <a:t>Sammelschienenstrom</a:t>
            </a:r>
          </a:p>
        </p:txBody>
      </p:sp>
      <p:sp>
        <p:nvSpPr>
          <p:cNvPr id="80" name="Rectangle 79">
            <a:extLst>
              <a:ext uri="{FF2B5EF4-FFF2-40B4-BE49-F238E27FC236}">
                <a16:creationId xmlns:a16="http://schemas.microsoft.com/office/drawing/2014/main" id="{2C526B66-8311-0784-6D3C-4D09C72E2B4B}"/>
              </a:ext>
            </a:extLst>
          </p:cNvPr>
          <p:cNvSpPr/>
          <p:nvPr/>
        </p:nvSpPr>
        <p:spPr>
          <a:xfrm>
            <a:off x="254000" y="4140200"/>
            <a:ext cx="1625600" cy="254000"/>
          </a:xfrm>
          <a:prstGeom prst="rect">
            <a:avLst/>
          </a:prstGeom>
          <a:solidFill>
            <a:srgbClr val="F8F8F8"/>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TextBox 80">
            <a:extLst>
              <a:ext uri="{FF2B5EF4-FFF2-40B4-BE49-F238E27FC236}">
                <a16:creationId xmlns:a16="http://schemas.microsoft.com/office/drawing/2014/main" id="{83975BE1-BB94-1488-99A9-DF547D1605D3}"/>
              </a:ext>
            </a:extLst>
          </p:cNvPr>
          <p:cNvSpPr txBox="1"/>
          <p:nvPr/>
        </p:nvSpPr>
        <p:spPr>
          <a:xfrm>
            <a:off x="304800" y="4140200"/>
            <a:ext cx="1524000" cy="200055"/>
          </a:xfrm>
          <a:prstGeom prst="rect">
            <a:avLst/>
          </a:prstGeom>
          <a:noFill/>
        </p:spPr>
        <p:txBody>
          <a:bodyPr vert="horz" wrap="square" rtlCol="0">
            <a:spAutoFit/>
          </a:bodyPr>
          <a:lstStyle/>
          <a:p>
            <a:r>
              <a:rPr lang="en-US" sz="700" b="1">
                <a:solidFill>
                  <a:srgbClr val="3D3D3D"/>
                </a:solidFill>
                <a:latin typeface="Segoe UI" panose="020B0502040204020203" pitchFamily="34" charset="0"/>
              </a:rPr>
              <a:t>BusbarArrangement</a:t>
            </a:r>
          </a:p>
        </p:txBody>
      </p:sp>
      <p:sp>
        <p:nvSpPr>
          <p:cNvPr id="82" name="Rectangle 81">
            <a:extLst>
              <a:ext uri="{FF2B5EF4-FFF2-40B4-BE49-F238E27FC236}">
                <a16:creationId xmlns:a16="http://schemas.microsoft.com/office/drawing/2014/main" id="{07B88D0A-2CD2-6BA2-A63D-C9162118705D}"/>
              </a:ext>
            </a:extLst>
          </p:cNvPr>
          <p:cNvSpPr/>
          <p:nvPr/>
        </p:nvSpPr>
        <p:spPr>
          <a:xfrm>
            <a:off x="1905000" y="4140200"/>
            <a:ext cx="1854200" cy="254000"/>
          </a:xfrm>
          <a:prstGeom prst="rect">
            <a:avLst/>
          </a:prstGeom>
          <a:solidFill>
            <a:srgbClr val="F8F8F8"/>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TextBox 82">
            <a:extLst>
              <a:ext uri="{FF2B5EF4-FFF2-40B4-BE49-F238E27FC236}">
                <a16:creationId xmlns:a16="http://schemas.microsoft.com/office/drawing/2014/main" id="{F6C98BFA-D9F0-C1C6-9B6C-6423FDCE09C7}"/>
              </a:ext>
            </a:extLst>
          </p:cNvPr>
          <p:cNvSpPr txBox="1"/>
          <p:nvPr/>
        </p:nvSpPr>
        <p:spPr>
          <a:xfrm>
            <a:off x="1955800" y="4140200"/>
            <a:ext cx="1752600" cy="200055"/>
          </a:xfrm>
          <a:prstGeom prst="rect">
            <a:avLst/>
          </a:prstGeom>
          <a:noFill/>
        </p:spPr>
        <p:txBody>
          <a:bodyPr vert="horz" wrap="square" rtlCol="0">
            <a:spAutoFit/>
          </a:bodyPr>
          <a:lstStyle/>
          <a:p>
            <a:r>
              <a:rPr lang="en-US" sz="700">
                <a:solidFill>
                  <a:srgbClr val="3D3D3D"/>
                </a:solidFill>
                <a:latin typeface="Segoe UI" panose="020B0502040204020203" pitchFamily="34" charset="0"/>
              </a:rPr>
              <a:t>single/double busbar</a:t>
            </a:r>
          </a:p>
        </p:txBody>
      </p:sp>
      <p:sp>
        <p:nvSpPr>
          <p:cNvPr id="84" name="Rectangle 83">
            <a:extLst>
              <a:ext uri="{FF2B5EF4-FFF2-40B4-BE49-F238E27FC236}">
                <a16:creationId xmlns:a16="http://schemas.microsoft.com/office/drawing/2014/main" id="{3957F8E2-C11F-7069-5AAC-5473D4AFF354}"/>
              </a:ext>
            </a:extLst>
          </p:cNvPr>
          <p:cNvSpPr/>
          <p:nvPr/>
        </p:nvSpPr>
        <p:spPr>
          <a:xfrm>
            <a:off x="3784600" y="4140200"/>
            <a:ext cx="1854200" cy="254000"/>
          </a:xfrm>
          <a:prstGeom prst="rect">
            <a:avLst/>
          </a:prstGeom>
          <a:solidFill>
            <a:srgbClr val="F8F8F8"/>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TextBox 84">
            <a:extLst>
              <a:ext uri="{FF2B5EF4-FFF2-40B4-BE49-F238E27FC236}">
                <a16:creationId xmlns:a16="http://schemas.microsoft.com/office/drawing/2014/main" id="{33E5A457-1E54-C259-98C5-C0771C7017D4}"/>
              </a:ext>
            </a:extLst>
          </p:cNvPr>
          <p:cNvSpPr txBox="1"/>
          <p:nvPr/>
        </p:nvSpPr>
        <p:spPr>
          <a:xfrm>
            <a:off x="3835400" y="4140200"/>
            <a:ext cx="1752600" cy="200055"/>
          </a:xfrm>
          <a:prstGeom prst="rect">
            <a:avLst/>
          </a:prstGeom>
          <a:noFill/>
        </p:spPr>
        <p:txBody>
          <a:bodyPr vert="horz" wrap="square" rtlCol="0">
            <a:spAutoFit/>
          </a:bodyPr>
          <a:lstStyle/>
          <a:p>
            <a:r>
              <a:rPr lang="fr-FR" sz="700">
                <a:solidFill>
                  <a:srgbClr val="3D3D3D"/>
                </a:solidFill>
                <a:latin typeface="Segoe UI" panose="020B0502040204020203" pitchFamily="34" charset="0"/>
              </a:rPr>
              <a:t>simple/double jeu de barres</a:t>
            </a:r>
            <a:endParaRPr lang="en-US" sz="700">
              <a:solidFill>
                <a:srgbClr val="3D3D3D"/>
              </a:solidFill>
              <a:latin typeface="Segoe UI" panose="020B0502040204020203" pitchFamily="34" charset="0"/>
            </a:endParaRPr>
          </a:p>
        </p:txBody>
      </p:sp>
      <p:sp>
        <p:nvSpPr>
          <p:cNvPr id="86" name="Rectangle 85">
            <a:extLst>
              <a:ext uri="{FF2B5EF4-FFF2-40B4-BE49-F238E27FC236}">
                <a16:creationId xmlns:a16="http://schemas.microsoft.com/office/drawing/2014/main" id="{5E03495E-239C-5702-9EEE-3CC520D8E64B}"/>
              </a:ext>
            </a:extLst>
          </p:cNvPr>
          <p:cNvSpPr/>
          <p:nvPr/>
        </p:nvSpPr>
        <p:spPr>
          <a:xfrm>
            <a:off x="5664200" y="4140200"/>
            <a:ext cx="1854200" cy="254000"/>
          </a:xfrm>
          <a:prstGeom prst="rect">
            <a:avLst/>
          </a:prstGeom>
          <a:solidFill>
            <a:srgbClr val="F8F8F8"/>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TextBox 86">
            <a:extLst>
              <a:ext uri="{FF2B5EF4-FFF2-40B4-BE49-F238E27FC236}">
                <a16:creationId xmlns:a16="http://schemas.microsoft.com/office/drawing/2014/main" id="{C0A7CCE9-134D-6546-FED7-4F6A654F7C55}"/>
              </a:ext>
            </a:extLst>
          </p:cNvPr>
          <p:cNvSpPr txBox="1"/>
          <p:nvPr/>
        </p:nvSpPr>
        <p:spPr>
          <a:xfrm>
            <a:off x="5715000" y="4140200"/>
            <a:ext cx="1752600" cy="200055"/>
          </a:xfrm>
          <a:prstGeom prst="rect">
            <a:avLst/>
          </a:prstGeom>
          <a:noFill/>
        </p:spPr>
        <p:txBody>
          <a:bodyPr vert="horz" wrap="square" rtlCol="0">
            <a:spAutoFit/>
          </a:bodyPr>
          <a:lstStyle/>
          <a:p>
            <a:r>
              <a:rPr lang="en-US" sz="700">
                <a:solidFill>
                  <a:srgbClr val="3D3D3D"/>
                </a:solidFill>
                <a:latin typeface="Segoe UI" panose="020B0502040204020203" pitchFamily="34" charset="0"/>
              </a:rPr>
              <a:t>sbarra singola/doppia</a:t>
            </a:r>
          </a:p>
        </p:txBody>
      </p:sp>
      <p:sp>
        <p:nvSpPr>
          <p:cNvPr id="88" name="Rectangle 87">
            <a:extLst>
              <a:ext uri="{FF2B5EF4-FFF2-40B4-BE49-F238E27FC236}">
                <a16:creationId xmlns:a16="http://schemas.microsoft.com/office/drawing/2014/main" id="{4E713ABE-99E2-9D00-F5D5-84692C2E1587}"/>
              </a:ext>
            </a:extLst>
          </p:cNvPr>
          <p:cNvSpPr/>
          <p:nvPr/>
        </p:nvSpPr>
        <p:spPr>
          <a:xfrm>
            <a:off x="7543800" y="4140200"/>
            <a:ext cx="1498600" cy="254000"/>
          </a:xfrm>
          <a:prstGeom prst="rect">
            <a:avLst/>
          </a:prstGeom>
          <a:solidFill>
            <a:srgbClr val="F8F8F8"/>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TextBox 88">
            <a:extLst>
              <a:ext uri="{FF2B5EF4-FFF2-40B4-BE49-F238E27FC236}">
                <a16:creationId xmlns:a16="http://schemas.microsoft.com/office/drawing/2014/main" id="{73931837-A9E0-97FD-1BB7-04BED10A6339}"/>
              </a:ext>
            </a:extLst>
          </p:cNvPr>
          <p:cNvSpPr txBox="1"/>
          <p:nvPr/>
        </p:nvSpPr>
        <p:spPr>
          <a:xfrm>
            <a:off x="7594600" y="4140200"/>
            <a:ext cx="1397000" cy="200055"/>
          </a:xfrm>
          <a:prstGeom prst="rect">
            <a:avLst/>
          </a:prstGeom>
          <a:noFill/>
        </p:spPr>
        <p:txBody>
          <a:bodyPr vert="horz" wrap="square" rtlCol="0">
            <a:spAutoFit/>
          </a:bodyPr>
          <a:lstStyle/>
          <a:p>
            <a:r>
              <a:rPr lang="en-US" sz="700">
                <a:solidFill>
                  <a:srgbClr val="3D3D3D"/>
                </a:solidFill>
                <a:latin typeface="Segoe UI" panose="020B0502040204020203" pitchFamily="34" charset="0"/>
              </a:rPr>
              <a:t>einfache Sammelschiene</a:t>
            </a:r>
          </a:p>
        </p:txBody>
      </p:sp>
      <p:sp>
        <p:nvSpPr>
          <p:cNvPr id="90" name="TextBox 89">
            <a:extLst>
              <a:ext uri="{FF2B5EF4-FFF2-40B4-BE49-F238E27FC236}">
                <a16:creationId xmlns:a16="http://schemas.microsoft.com/office/drawing/2014/main" id="{F596BE6F-CBAF-E747-0F97-18DC3978E673}"/>
              </a:ext>
            </a:extLst>
          </p:cNvPr>
          <p:cNvSpPr txBox="1"/>
          <p:nvPr/>
        </p:nvSpPr>
        <p:spPr>
          <a:xfrm>
            <a:off x="254000" y="4572000"/>
            <a:ext cx="8636000" cy="246221"/>
          </a:xfrm>
          <a:prstGeom prst="rect">
            <a:avLst/>
          </a:prstGeom>
          <a:noFill/>
        </p:spPr>
        <p:txBody>
          <a:bodyPr vert="horz" wrap="square" rtlCol="0">
            <a:spAutoFit/>
          </a:bodyPr>
          <a:lstStyle/>
          <a:p>
            <a:r>
              <a:rPr lang="en-US" sz="1000" b="1">
                <a:solidFill>
                  <a:srgbClr val="1E1E1E"/>
                </a:solidFill>
                <a:latin typeface="Segoe UI" panose="020B0502040204020203" pitchFamily="34" charset="0"/>
              </a:rPr>
              <a:t>Panel Type Classification -- Multilingual Keywords (SldTopologyService)</a:t>
            </a:r>
          </a:p>
        </p:txBody>
      </p:sp>
      <p:sp>
        <p:nvSpPr>
          <p:cNvPr id="91" name="Rectangle 90">
            <a:extLst>
              <a:ext uri="{FF2B5EF4-FFF2-40B4-BE49-F238E27FC236}">
                <a16:creationId xmlns:a16="http://schemas.microsoft.com/office/drawing/2014/main" id="{0A3CAF0E-41E3-9DAE-D81F-CDC0FBF272D3}"/>
              </a:ext>
            </a:extLst>
          </p:cNvPr>
          <p:cNvSpPr/>
          <p:nvPr/>
        </p:nvSpPr>
        <p:spPr>
          <a:xfrm>
            <a:off x="254000" y="4800600"/>
            <a:ext cx="1219200" cy="2540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TextBox 91">
            <a:extLst>
              <a:ext uri="{FF2B5EF4-FFF2-40B4-BE49-F238E27FC236}">
                <a16:creationId xmlns:a16="http://schemas.microsoft.com/office/drawing/2014/main" id="{C952857A-A185-8C45-79E0-0776FBB4635A}"/>
              </a:ext>
            </a:extLst>
          </p:cNvPr>
          <p:cNvSpPr txBox="1"/>
          <p:nvPr/>
        </p:nvSpPr>
        <p:spPr>
          <a:xfrm>
            <a:off x="254000" y="4800600"/>
            <a:ext cx="1219200" cy="215444"/>
          </a:xfrm>
          <a:prstGeom prst="rect">
            <a:avLst/>
          </a:prstGeom>
          <a:noFill/>
        </p:spPr>
        <p:txBody>
          <a:bodyPr vert="horz" wrap="square" rtlCol="0">
            <a:spAutoFit/>
          </a:bodyPr>
          <a:lstStyle/>
          <a:p>
            <a:pPr algn="ctr"/>
            <a:r>
              <a:rPr lang="en-US" sz="800" b="1">
                <a:solidFill>
                  <a:srgbClr val="FFFFFF"/>
                </a:solidFill>
                <a:latin typeface="Segoe UI" panose="020B0502040204020203" pitchFamily="34" charset="0"/>
              </a:rPr>
              <a:t>Incomer</a:t>
            </a:r>
          </a:p>
        </p:txBody>
      </p:sp>
      <p:sp>
        <p:nvSpPr>
          <p:cNvPr id="93" name="Rectangle 92">
            <a:extLst>
              <a:ext uri="{FF2B5EF4-FFF2-40B4-BE49-F238E27FC236}">
                <a16:creationId xmlns:a16="http://schemas.microsoft.com/office/drawing/2014/main" id="{574FFDE0-3B19-0EE5-E07E-BFCF6C3882DD}"/>
              </a:ext>
            </a:extLst>
          </p:cNvPr>
          <p:cNvSpPr/>
          <p:nvPr/>
        </p:nvSpPr>
        <p:spPr>
          <a:xfrm>
            <a:off x="1498600" y="4800600"/>
            <a:ext cx="7391400" cy="254000"/>
          </a:xfrm>
          <a:prstGeom prst="rect">
            <a:avLst/>
          </a:prstGeom>
          <a:solidFill>
            <a:srgbClr val="FFFFFF"/>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TextBox 93">
            <a:extLst>
              <a:ext uri="{FF2B5EF4-FFF2-40B4-BE49-F238E27FC236}">
                <a16:creationId xmlns:a16="http://schemas.microsoft.com/office/drawing/2014/main" id="{D9F43D0E-D9F3-914B-14AA-1FB4E765F964}"/>
              </a:ext>
            </a:extLst>
          </p:cNvPr>
          <p:cNvSpPr txBox="1"/>
          <p:nvPr/>
        </p:nvSpPr>
        <p:spPr>
          <a:xfrm>
            <a:off x="1574800" y="4800600"/>
            <a:ext cx="7239000" cy="215444"/>
          </a:xfrm>
          <a:prstGeom prst="rect">
            <a:avLst/>
          </a:prstGeom>
          <a:noFill/>
        </p:spPr>
        <p:txBody>
          <a:bodyPr vert="horz" wrap="square" rtlCol="0">
            <a:spAutoFit/>
          </a:bodyPr>
          <a:lstStyle/>
          <a:p>
            <a:r>
              <a:rPr lang="en-US" sz="800">
                <a:solidFill>
                  <a:srgbClr val="3D3D3D"/>
                </a:solidFill>
                <a:latin typeface="Segoe UI" panose="020B0502040204020203" pitchFamily="34" charset="0"/>
              </a:rPr>
              <a:t>arriv, incom, arrivee, arrivo, einspeise, incoming, supply, feed-in</a:t>
            </a:r>
          </a:p>
        </p:txBody>
      </p:sp>
      <p:sp>
        <p:nvSpPr>
          <p:cNvPr id="95" name="Rectangle 94">
            <a:extLst>
              <a:ext uri="{FF2B5EF4-FFF2-40B4-BE49-F238E27FC236}">
                <a16:creationId xmlns:a16="http://schemas.microsoft.com/office/drawing/2014/main" id="{8F9F17C4-EAFC-E1B4-3D0E-F46DF882113B}"/>
              </a:ext>
            </a:extLst>
          </p:cNvPr>
          <p:cNvSpPr/>
          <p:nvPr/>
        </p:nvSpPr>
        <p:spPr>
          <a:xfrm>
            <a:off x="254000" y="5105400"/>
            <a:ext cx="1219200" cy="254000"/>
          </a:xfrm>
          <a:prstGeom prst="rect">
            <a:avLst/>
          </a:prstGeom>
          <a:solidFill>
            <a:srgbClr val="0078C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TextBox 95">
            <a:extLst>
              <a:ext uri="{FF2B5EF4-FFF2-40B4-BE49-F238E27FC236}">
                <a16:creationId xmlns:a16="http://schemas.microsoft.com/office/drawing/2014/main" id="{043C8E29-9017-6CCD-DA21-ADAD7A05B71E}"/>
              </a:ext>
            </a:extLst>
          </p:cNvPr>
          <p:cNvSpPr txBox="1"/>
          <p:nvPr/>
        </p:nvSpPr>
        <p:spPr>
          <a:xfrm>
            <a:off x="254000" y="5105400"/>
            <a:ext cx="1219200" cy="215444"/>
          </a:xfrm>
          <a:prstGeom prst="rect">
            <a:avLst/>
          </a:prstGeom>
          <a:noFill/>
        </p:spPr>
        <p:txBody>
          <a:bodyPr vert="horz" wrap="square" rtlCol="0">
            <a:spAutoFit/>
          </a:bodyPr>
          <a:lstStyle/>
          <a:p>
            <a:pPr algn="ctr"/>
            <a:r>
              <a:rPr lang="en-US" sz="800" b="1">
                <a:solidFill>
                  <a:srgbClr val="FFFFFF"/>
                </a:solidFill>
                <a:latin typeface="Segoe UI" panose="020B0502040204020203" pitchFamily="34" charset="0"/>
              </a:rPr>
              <a:t>Feeder</a:t>
            </a:r>
          </a:p>
        </p:txBody>
      </p:sp>
      <p:sp>
        <p:nvSpPr>
          <p:cNvPr id="97" name="Rectangle 96">
            <a:extLst>
              <a:ext uri="{FF2B5EF4-FFF2-40B4-BE49-F238E27FC236}">
                <a16:creationId xmlns:a16="http://schemas.microsoft.com/office/drawing/2014/main" id="{6AEE1E5A-EBCA-0EC6-41A2-3F34B31F5876}"/>
              </a:ext>
            </a:extLst>
          </p:cNvPr>
          <p:cNvSpPr/>
          <p:nvPr/>
        </p:nvSpPr>
        <p:spPr>
          <a:xfrm>
            <a:off x="1498600" y="5105400"/>
            <a:ext cx="7391400" cy="254000"/>
          </a:xfrm>
          <a:prstGeom prst="rect">
            <a:avLst/>
          </a:prstGeom>
          <a:solidFill>
            <a:srgbClr val="FFFFFF"/>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TextBox 97">
            <a:extLst>
              <a:ext uri="{FF2B5EF4-FFF2-40B4-BE49-F238E27FC236}">
                <a16:creationId xmlns:a16="http://schemas.microsoft.com/office/drawing/2014/main" id="{924512DE-E34D-3321-E3CC-DE818549CCC9}"/>
              </a:ext>
            </a:extLst>
          </p:cNvPr>
          <p:cNvSpPr txBox="1"/>
          <p:nvPr/>
        </p:nvSpPr>
        <p:spPr>
          <a:xfrm>
            <a:off x="1574800" y="5105400"/>
            <a:ext cx="7239000" cy="215444"/>
          </a:xfrm>
          <a:prstGeom prst="rect">
            <a:avLst/>
          </a:prstGeom>
          <a:noFill/>
        </p:spPr>
        <p:txBody>
          <a:bodyPr vert="horz" wrap="square" rtlCol="0">
            <a:spAutoFit/>
          </a:bodyPr>
          <a:lstStyle/>
          <a:p>
            <a:r>
              <a:rPr lang="en-US" sz="800">
                <a:solidFill>
                  <a:srgbClr val="3D3D3D"/>
                </a:solidFill>
                <a:latin typeface="Segoe UI" panose="020B0502040204020203" pitchFamily="34" charset="0"/>
              </a:rPr>
              <a:t>depart, feeder, sortie, partenza, abgang, outgoing, distribution</a:t>
            </a:r>
          </a:p>
        </p:txBody>
      </p:sp>
      <p:sp>
        <p:nvSpPr>
          <p:cNvPr id="99" name="Rectangle 98">
            <a:extLst>
              <a:ext uri="{FF2B5EF4-FFF2-40B4-BE49-F238E27FC236}">
                <a16:creationId xmlns:a16="http://schemas.microsoft.com/office/drawing/2014/main" id="{FC4B026E-4AEE-A0AC-6BC9-EE249A9ED31D}"/>
              </a:ext>
            </a:extLst>
          </p:cNvPr>
          <p:cNvSpPr/>
          <p:nvPr/>
        </p:nvSpPr>
        <p:spPr>
          <a:xfrm>
            <a:off x="254000" y="5410200"/>
            <a:ext cx="1219200" cy="254000"/>
          </a:xfrm>
          <a:prstGeom prst="rect">
            <a:avLst/>
          </a:prstGeom>
          <a:solidFill>
            <a:srgbClr val="1E7A1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TextBox 99">
            <a:extLst>
              <a:ext uri="{FF2B5EF4-FFF2-40B4-BE49-F238E27FC236}">
                <a16:creationId xmlns:a16="http://schemas.microsoft.com/office/drawing/2014/main" id="{E5A65EEC-D454-4289-C703-AA77C2166ACC}"/>
              </a:ext>
            </a:extLst>
          </p:cNvPr>
          <p:cNvSpPr txBox="1"/>
          <p:nvPr/>
        </p:nvSpPr>
        <p:spPr>
          <a:xfrm>
            <a:off x="254000" y="5410200"/>
            <a:ext cx="1219200" cy="215444"/>
          </a:xfrm>
          <a:prstGeom prst="rect">
            <a:avLst/>
          </a:prstGeom>
          <a:noFill/>
        </p:spPr>
        <p:txBody>
          <a:bodyPr vert="horz" wrap="square" rtlCol="0">
            <a:spAutoFit/>
          </a:bodyPr>
          <a:lstStyle/>
          <a:p>
            <a:pPr algn="ctr"/>
            <a:r>
              <a:rPr lang="en-US" sz="800" b="1">
                <a:solidFill>
                  <a:srgbClr val="FFFFFF"/>
                </a:solidFill>
                <a:latin typeface="Segoe UI" panose="020B0502040204020203" pitchFamily="34" charset="0"/>
              </a:rPr>
              <a:t>Coupler</a:t>
            </a:r>
          </a:p>
        </p:txBody>
      </p:sp>
      <p:sp>
        <p:nvSpPr>
          <p:cNvPr id="101" name="Rectangle 100">
            <a:extLst>
              <a:ext uri="{FF2B5EF4-FFF2-40B4-BE49-F238E27FC236}">
                <a16:creationId xmlns:a16="http://schemas.microsoft.com/office/drawing/2014/main" id="{E5C889AB-6C54-EAF3-3879-D358B71ADF5A}"/>
              </a:ext>
            </a:extLst>
          </p:cNvPr>
          <p:cNvSpPr/>
          <p:nvPr/>
        </p:nvSpPr>
        <p:spPr>
          <a:xfrm>
            <a:off x="1498600" y="5410200"/>
            <a:ext cx="7391400" cy="254000"/>
          </a:xfrm>
          <a:prstGeom prst="rect">
            <a:avLst/>
          </a:prstGeom>
          <a:solidFill>
            <a:srgbClr val="FFFFFF"/>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TextBox 101">
            <a:extLst>
              <a:ext uri="{FF2B5EF4-FFF2-40B4-BE49-F238E27FC236}">
                <a16:creationId xmlns:a16="http://schemas.microsoft.com/office/drawing/2014/main" id="{8388344E-2A38-4105-B922-22651A01F831}"/>
              </a:ext>
            </a:extLst>
          </p:cNvPr>
          <p:cNvSpPr txBox="1"/>
          <p:nvPr/>
        </p:nvSpPr>
        <p:spPr>
          <a:xfrm>
            <a:off x="1574800" y="5410200"/>
            <a:ext cx="7239000" cy="215444"/>
          </a:xfrm>
          <a:prstGeom prst="rect">
            <a:avLst/>
          </a:prstGeom>
          <a:noFill/>
        </p:spPr>
        <p:txBody>
          <a:bodyPr vert="horz" wrap="square" rtlCol="0">
            <a:spAutoFit/>
          </a:bodyPr>
          <a:lstStyle/>
          <a:p>
            <a:r>
              <a:rPr lang="en-US" sz="800">
                <a:solidFill>
                  <a:srgbClr val="3D3D3D"/>
                </a:solidFill>
                <a:latin typeface="Segoe UI" panose="020B0502040204020203" pitchFamily="34" charset="0"/>
              </a:rPr>
              <a:t>couplage, coupler, bus-tie, accoppiatore, kupplung, tie, sectionalizer</a:t>
            </a:r>
          </a:p>
        </p:txBody>
      </p:sp>
      <p:sp>
        <p:nvSpPr>
          <p:cNvPr id="103" name="Rectangle 102">
            <a:extLst>
              <a:ext uri="{FF2B5EF4-FFF2-40B4-BE49-F238E27FC236}">
                <a16:creationId xmlns:a16="http://schemas.microsoft.com/office/drawing/2014/main" id="{6DF31D96-BFDB-D9B1-23C4-651DDA33CBA9}"/>
              </a:ext>
            </a:extLst>
          </p:cNvPr>
          <p:cNvSpPr/>
          <p:nvPr/>
        </p:nvSpPr>
        <p:spPr>
          <a:xfrm>
            <a:off x="254000" y="5715000"/>
            <a:ext cx="1219200" cy="254000"/>
          </a:xfrm>
          <a:prstGeom prst="rect">
            <a:avLst/>
          </a:prstGeom>
          <a:solidFill>
            <a:srgbClr val="00556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TextBox 103">
            <a:extLst>
              <a:ext uri="{FF2B5EF4-FFF2-40B4-BE49-F238E27FC236}">
                <a16:creationId xmlns:a16="http://schemas.microsoft.com/office/drawing/2014/main" id="{0CA6D476-D252-01BA-618D-3C98392F1FC8}"/>
              </a:ext>
            </a:extLst>
          </p:cNvPr>
          <p:cNvSpPr txBox="1"/>
          <p:nvPr/>
        </p:nvSpPr>
        <p:spPr>
          <a:xfrm>
            <a:off x="254000" y="5715000"/>
            <a:ext cx="1219200" cy="215444"/>
          </a:xfrm>
          <a:prstGeom prst="rect">
            <a:avLst/>
          </a:prstGeom>
          <a:noFill/>
        </p:spPr>
        <p:txBody>
          <a:bodyPr vert="horz" wrap="square" rtlCol="0">
            <a:spAutoFit/>
          </a:bodyPr>
          <a:lstStyle/>
          <a:p>
            <a:pPr algn="ctr"/>
            <a:r>
              <a:rPr lang="en-US" sz="800" b="1">
                <a:solidFill>
                  <a:srgbClr val="FFFFFF"/>
                </a:solidFill>
                <a:latin typeface="Segoe UI" panose="020B0502040204020203" pitchFamily="34" charset="0"/>
              </a:rPr>
              <a:t>Metering</a:t>
            </a:r>
          </a:p>
        </p:txBody>
      </p:sp>
      <p:sp>
        <p:nvSpPr>
          <p:cNvPr id="105" name="Rectangle 104">
            <a:extLst>
              <a:ext uri="{FF2B5EF4-FFF2-40B4-BE49-F238E27FC236}">
                <a16:creationId xmlns:a16="http://schemas.microsoft.com/office/drawing/2014/main" id="{03455BC8-18DB-0D9A-2F32-ECDE3F061FD2}"/>
              </a:ext>
            </a:extLst>
          </p:cNvPr>
          <p:cNvSpPr/>
          <p:nvPr/>
        </p:nvSpPr>
        <p:spPr>
          <a:xfrm>
            <a:off x="1498600" y="5715000"/>
            <a:ext cx="7391400" cy="254000"/>
          </a:xfrm>
          <a:prstGeom prst="rect">
            <a:avLst/>
          </a:prstGeom>
          <a:solidFill>
            <a:srgbClr val="FFFFFF"/>
          </a:solidFill>
          <a:ln w="12700">
            <a:solidFill>
              <a:srgbClr val="DDDD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TextBox 105">
            <a:extLst>
              <a:ext uri="{FF2B5EF4-FFF2-40B4-BE49-F238E27FC236}">
                <a16:creationId xmlns:a16="http://schemas.microsoft.com/office/drawing/2014/main" id="{6DADA16E-D585-5198-50E8-A64E885FF255}"/>
              </a:ext>
            </a:extLst>
          </p:cNvPr>
          <p:cNvSpPr txBox="1"/>
          <p:nvPr/>
        </p:nvSpPr>
        <p:spPr>
          <a:xfrm>
            <a:off x="1574800" y="5715000"/>
            <a:ext cx="7239000" cy="215444"/>
          </a:xfrm>
          <a:prstGeom prst="rect">
            <a:avLst/>
          </a:prstGeom>
          <a:noFill/>
        </p:spPr>
        <p:txBody>
          <a:bodyPr vert="horz" wrap="square" rtlCol="0">
            <a:spAutoFit/>
          </a:bodyPr>
          <a:lstStyle/>
          <a:p>
            <a:r>
              <a:rPr lang="fr-FR" sz="800">
                <a:solidFill>
                  <a:srgbClr val="3D3D3D"/>
                </a:solidFill>
                <a:latin typeface="Segoe UI" panose="020B0502040204020203" pitchFamily="34" charset="0"/>
              </a:rPr>
              <a:t>comptage, metering, mesure, misura, messung, measurement, compteur</a:t>
            </a:r>
            <a:endParaRPr lang="en-US" sz="800">
              <a:solidFill>
                <a:srgbClr val="3D3D3D"/>
              </a:solidFill>
              <a:latin typeface="Segoe UI" panose="020B0502040204020203" pitchFamily="34" charset="0"/>
            </a:endParaRPr>
          </a:p>
        </p:txBody>
      </p:sp>
      <p:sp>
        <p:nvSpPr>
          <p:cNvPr id="107" name="Rectangle 106">
            <a:extLst>
              <a:ext uri="{FF2B5EF4-FFF2-40B4-BE49-F238E27FC236}">
                <a16:creationId xmlns:a16="http://schemas.microsoft.com/office/drawing/2014/main" id="{1DDC82A1-A351-4D24-1367-3A2420FBF0A9}"/>
              </a:ext>
            </a:extLst>
          </p:cNvPr>
          <p:cNvSpPr/>
          <p:nvPr/>
        </p:nvSpPr>
        <p:spPr>
          <a:xfrm>
            <a:off x="254000" y="6121400"/>
            <a:ext cx="8636000" cy="508000"/>
          </a:xfrm>
          <a:prstGeom prst="rect">
            <a:avLst/>
          </a:prstGeom>
          <a:solidFill>
            <a:srgbClr val="E8E8E8"/>
          </a:solidFill>
          <a:ln w="12700">
            <a:solidFill>
              <a:srgbClr val="CCCC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TextBox 107">
            <a:extLst>
              <a:ext uri="{FF2B5EF4-FFF2-40B4-BE49-F238E27FC236}">
                <a16:creationId xmlns:a16="http://schemas.microsoft.com/office/drawing/2014/main" id="{C7EAFDE2-59C6-D393-6342-04CB6B52E994}"/>
              </a:ext>
            </a:extLst>
          </p:cNvPr>
          <p:cNvSpPr txBox="1"/>
          <p:nvPr/>
        </p:nvSpPr>
        <p:spPr>
          <a:xfrm>
            <a:off x="355600" y="6172200"/>
            <a:ext cx="8432800" cy="338554"/>
          </a:xfrm>
          <a:prstGeom prst="rect">
            <a:avLst/>
          </a:prstGeom>
          <a:noFill/>
        </p:spPr>
        <p:txBody>
          <a:bodyPr vert="horz" wrap="square" rtlCol="0">
            <a:spAutoFit/>
          </a:bodyPr>
          <a:lstStyle/>
          <a:p>
            <a:r>
              <a:rPr lang="en-US" sz="800">
                <a:solidFill>
                  <a:srgbClr val="3D3D3D"/>
                </a:solidFill>
                <a:latin typeface="Segoe UI" panose="020B0502040204020203" pitchFamily="34" charset="0"/>
              </a:rPr>
              <a:t>BusbarSections formula: BusbarSections = CouplersCount + 1
Example: 1 coupler =&gt; 2 busbar sections | 0 couplers =&gt; single busbar | 2 couplers =&gt; 3 sections</a:t>
            </a:r>
          </a:p>
        </p:txBody>
      </p:sp>
    </p:spTree>
    <p:extLst>
      <p:ext uri="{BB962C8B-B14F-4D97-AF65-F5344CB8AC3E}">
        <p14:creationId xmlns:p14="http://schemas.microsoft.com/office/powerpoint/2010/main" val="1224381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2396501-35EB-2474-6AB9-F9FAFA5BCCA4}"/>
              </a:ext>
            </a:extLst>
          </p:cNvPr>
          <p:cNvSpPr/>
          <p:nvPr/>
        </p:nvSpPr>
        <p:spPr>
          <a:xfrm>
            <a:off x="0" y="0"/>
            <a:ext cx="9144000" cy="6858000"/>
          </a:xfrm>
          <a:prstGeom prst="rect">
            <a:avLst/>
          </a:prstGeom>
          <a:solidFill>
            <a:srgbClr val="1E1E1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33571AB2-1361-6C07-371F-B07315E2E967}"/>
              </a:ext>
            </a:extLst>
          </p:cNvPr>
          <p:cNvSpPr/>
          <p:nvPr/>
        </p:nvSpPr>
        <p:spPr>
          <a:xfrm>
            <a:off x="0" y="0"/>
            <a:ext cx="9144000" cy="762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4A22A199-453D-E187-41FF-423FE81467B8}"/>
              </a:ext>
            </a:extLst>
          </p:cNvPr>
          <p:cNvSpPr txBox="1"/>
          <p:nvPr/>
        </p:nvSpPr>
        <p:spPr>
          <a:xfrm>
            <a:off x="254000" y="177800"/>
            <a:ext cx="8636000" cy="400110"/>
          </a:xfrm>
          <a:prstGeom prst="rect">
            <a:avLst/>
          </a:prstGeom>
          <a:noFill/>
        </p:spPr>
        <p:txBody>
          <a:bodyPr vert="horz" wrap="square" rtlCol="0">
            <a:spAutoFit/>
          </a:bodyPr>
          <a:lstStyle/>
          <a:p>
            <a:r>
              <a:rPr lang="en-US" sz="2000" b="1">
                <a:solidFill>
                  <a:srgbClr val="FFFFFF"/>
                </a:solidFill>
                <a:latin typeface="Segoe UI" panose="020B0502040204020203" pitchFamily="34" charset="0"/>
              </a:rPr>
              <a:t>What Is Implemented -- Current State</a:t>
            </a:r>
          </a:p>
        </p:txBody>
      </p:sp>
      <p:sp>
        <p:nvSpPr>
          <p:cNvPr id="5" name="Rectangle 4">
            <a:extLst>
              <a:ext uri="{FF2B5EF4-FFF2-40B4-BE49-F238E27FC236}">
                <a16:creationId xmlns:a16="http://schemas.microsoft.com/office/drawing/2014/main" id="{F47AC5D5-D596-5503-E55B-F74FE2D7D74B}"/>
              </a:ext>
            </a:extLst>
          </p:cNvPr>
          <p:cNvSpPr/>
          <p:nvPr/>
        </p:nvSpPr>
        <p:spPr>
          <a:xfrm>
            <a:off x="254000" y="533400"/>
            <a:ext cx="8636000" cy="12700"/>
          </a:xfrm>
          <a:prstGeom prst="rect">
            <a:avLst/>
          </a:prstGeom>
          <a:solidFill>
            <a:srgbClr val="44444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5F678F77-F321-8506-044C-79E480F19BBD}"/>
              </a:ext>
            </a:extLst>
          </p:cNvPr>
          <p:cNvSpPr/>
          <p:nvPr/>
        </p:nvSpPr>
        <p:spPr>
          <a:xfrm>
            <a:off x="254000" y="635000"/>
            <a:ext cx="4318000" cy="2286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EA53D54E-8D2E-277B-923A-EBD6EA737582}"/>
              </a:ext>
            </a:extLst>
          </p:cNvPr>
          <p:cNvSpPr txBox="1"/>
          <p:nvPr/>
        </p:nvSpPr>
        <p:spPr>
          <a:xfrm>
            <a:off x="330200" y="635000"/>
            <a:ext cx="4165600" cy="215444"/>
          </a:xfrm>
          <a:prstGeom prst="rect">
            <a:avLst/>
          </a:prstGeom>
          <a:noFill/>
        </p:spPr>
        <p:txBody>
          <a:bodyPr vert="horz" wrap="square" rtlCol="0">
            <a:spAutoFit/>
          </a:bodyPr>
          <a:lstStyle/>
          <a:p>
            <a:r>
              <a:rPr lang="en-US" sz="800" b="1">
                <a:solidFill>
                  <a:srgbClr val="FFFFFF"/>
                </a:solidFill>
                <a:latin typeface="Segoe UI" panose="020B0502040204020203" pitchFamily="34" charset="0"/>
              </a:rPr>
              <a:t>Backend Services (C# .NET 9)</a:t>
            </a:r>
          </a:p>
        </p:txBody>
      </p:sp>
      <p:sp>
        <p:nvSpPr>
          <p:cNvPr id="8" name="Rectangle 7">
            <a:extLst>
              <a:ext uri="{FF2B5EF4-FFF2-40B4-BE49-F238E27FC236}">
                <a16:creationId xmlns:a16="http://schemas.microsoft.com/office/drawing/2014/main" id="{49DA0AE8-5B9D-941B-6CD8-1E64936BC162}"/>
              </a:ext>
            </a:extLst>
          </p:cNvPr>
          <p:cNvSpPr/>
          <p:nvPr/>
        </p:nvSpPr>
        <p:spPr>
          <a:xfrm>
            <a:off x="330200" y="952500"/>
            <a:ext cx="50800" cy="50800"/>
          </a:xfrm>
          <a:prstGeom prst="rect">
            <a:avLst/>
          </a:prstGeom>
          <a:solidFill>
            <a:srgbClr val="1E7A1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46FCD8AD-9EAF-9D05-043C-2B689F1BAFD3}"/>
              </a:ext>
            </a:extLst>
          </p:cNvPr>
          <p:cNvSpPr txBox="1"/>
          <p:nvPr/>
        </p:nvSpPr>
        <p:spPr>
          <a:xfrm>
            <a:off x="431800" y="889000"/>
            <a:ext cx="4064000" cy="200055"/>
          </a:xfrm>
          <a:prstGeom prst="rect">
            <a:avLst/>
          </a:prstGeom>
          <a:noFill/>
        </p:spPr>
        <p:txBody>
          <a:bodyPr vert="horz" wrap="square" rtlCol="0">
            <a:spAutoFit/>
          </a:bodyPr>
          <a:lstStyle/>
          <a:p>
            <a:r>
              <a:rPr lang="en-US" sz="700">
                <a:solidFill>
                  <a:srgbClr val="CCCCCC"/>
                </a:solidFill>
                <a:latin typeface="Segoe UI" panose="020B0502040204020203" pitchFamily="34" charset="0"/>
              </a:rPr>
              <a:t>DocumentIntelligenceService -- Azure DI prebuilt-layout + iText7 fallback</a:t>
            </a:r>
          </a:p>
        </p:txBody>
      </p:sp>
      <p:sp>
        <p:nvSpPr>
          <p:cNvPr id="10" name="Rectangle 9">
            <a:extLst>
              <a:ext uri="{FF2B5EF4-FFF2-40B4-BE49-F238E27FC236}">
                <a16:creationId xmlns:a16="http://schemas.microsoft.com/office/drawing/2014/main" id="{7AE1E2FB-C443-A683-D5B3-42635E2F525F}"/>
              </a:ext>
            </a:extLst>
          </p:cNvPr>
          <p:cNvSpPr/>
          <p:nvPr/>
        </p:nvSpPr>
        <p:spPr>
          <a:xfrm>
            <a:off x="330200" y="1168400"/>
            <a:ext cx="50800" cy="50800"/>
          </a:xfrm>
          <a:prstGeom prst="rect">
            <a:avLst/>
          </a:prstGeom>
          <a:solidFill>
            <a:srgbClr val="1E7A1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A988D517-0AA1-249B-AAAD-6143480ED1AE}"/>
              </a:ext>
            </a:extLst>
          </p:cNvPr>
          <p:cNvSpPr txBox="1"/>
          <p:nvPr/>
        </p:nvSpPr>
        <p:spPr>
          <a:xfrm>
            <a:off x="431800" y="1104900"/>
            <a:ext cx="4064000" cy="200055"/>
          </a:xfrm>
          <a:prstGeom prst="rect">
            <a:avLst/>
          </a:prstGeom>
          <a:noFill/>
        </p:spPr>
        <p:txBody>
          <a:bodyPr vert="horz" wrap="square" rtlCol="0">
            <a:spAutoFit/>
          </a:bodyPr>
          <a:lstStyle/>
          <a:p>
            <a:r>
              <a:rPr lang="en-US" sz="700">
                <a:solidFill>
                  <a:srgbClr val="CCCCCC"/>
                </a:solidFill>
                <a:latin typeface="Segoe UI" panose="020B0502040204020203" pitchFamily="34" charset="0"/>
              </a:rPr>
              <a:t>DocumentProcessingService -- upload, OCR, SLD page detect, PDFtoImage</a:t>
            </a:r>
          </a:p>
        </p:txBody>
      </p:sp>
      <p:sp>
        <p:nvSpPr>
          <p:cNvPr id="12" name="Rectangle 11">
            <a:extLst>
              <a:ext uri="{FF2B5EF4-FFF2-40B4-BE49-F238E27FC236}">
                <a16:creationId xmlns:a16="http://schemas.microsoft.com/office/drawing/2014/main" id="{D3E78898-4295-9B72-F29F-95B9269AF7CE}"/>
              </a:ext>
            </a:extLst>
          </p:cNvPr>
          <p:cNvSpPr/>
          <p:nvPr/>
        </p:nvSpPr>
        <p:spPr>
          <a:xfrm>
            <a:off x="330200" y="1384300"/>
            <a:ext cx="50800" cy="50800"/>
          </a:xfrm>
          <a:prstGeom prst="rect">
            <a:avLst/>
          </a:prstGeom>
          <a:solidFill>
            <a:srgbClr val="1E7A1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485257CF-B462-45A9-BDF1-773418EB9802}"/>
              </a:ext>
            </a:extLst>
          </p:cNvPr>
          <p:cNvSpPr txBox="1"/>
          <p:nvPr/>
        </p:nvSpPr>
        <p:spPr>
          <a:xfrm>
            <a:off x="431800" y="1320800"/>
            <a:ext cx="4064000" cy="200055"/>
          </a:xfrm>
          <a:prstGeom prst="rect">
            <a:avLst/>
          </a:prstGeom>
          <a:noFill/>
        </p:spPr>
        <p:txBody>
          <a:bodyPr vert="horz" wrap="square" rtlCol="0">
            <a:spAutoFit/>
          </a:bodyPr>
          <a:lstStyle/>
          <a:p>
            <a:r>
              <a:rPr lang="en-US" sz="700">
                <a:solidFill>
                  <a:srgbClr val="CCCCCC"/>
                </a:solidFill>
                <a:latin typeface="Segoe UI" panose="020B0502040204020203" pitchFamily="34" charset="0"/>
              </a:rPr>
              <a:t>MultiInstanceExtractionService -- detects multiple installations in one RFQ</a:t>
            </a:r>
          </a:p>
        </p:txBody>
      </p:sp>
      <p:sp>
        <p:nvSpPr>
          <p:cNvPr id="14" name="Rectangle 13">
            <a:extLst>
              <a:ext uri="{FF2B5EF4-FFF2-40B4-BE49-F238E27FC236}">
                <a16:creationId xmlns:a16="http://schemas.microsoft.com/office/drawing/2014/main" id="{ECADE980-8BE6-AF1C-3416-519077B2F3F5}"/>
              </a:ext>
            </a:extLst>
          </p:cNvPr>
          <p:cNvSpPr/>
          <p:nvPr/>
        </p:nvSpPr>
        <p:spPr>
          <a:xfrm>
            <a:off x="330200" y="1600200"/>
            <a:ext cx="50800" cy="50800"/>
          </a:xfrm>
          <a:prstGeom prst="rect">
            <a:avLst/>
          </a:prstGeom>
          <a:solidFill>
            <a:srgbClr val="1E7A1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504727A5-87FE-D3C8-6D9A-7C7596A8FEDB}"/>
              </a:ext>
            </a:extLst>
          </p:cNvPr>
          <p:cNvSpPr txBox="1"/>
          <p:nvPr/>
        </p:nvSpPr>
        <p:spPr>
          <a:xfrm>
            <a:off x="431800" y="1536700"/>
            <a:ext cx="4064000" cy="200055"/>
          </a:xfrm>
          <a:prstGeom prst="rect">
            <a:avLst/>
          </a:prstGeom>
          <a:noFill/>
        </p:spPr>
        <p:txBody>
          <a:bodyPr vert="horz" wrap="square" rtlCol="0">
            <a:spAutoFit/>
          </a:bodyPr>
          <a:lstStyle/>
          <a:p>
            <a:r>
              <a:rPr lang="en-US" sz="700">
                <a:solidFill>
                  <a:srgbClr val="CCCCCC"/>
                </a:solidFill>
                <a:latin typeface="Segoe UI" panose="020B0502040204020203" pitchFamily="34" charset="0"/>
              </a:rPr>
              <a:t>PipelineOrchestrationService -- 5-stage pipeline coordinator</a:t>
            </a:r>
          </a:p>
        </p:txBody>
      </p:sp>
      <p:sp>
        <p:nvSpPr>
          <p:cNvPr id="16" name="Rectangle 15">
            <a:extLst>
              <a:ext uri="{FF2B5EF4-FFF2-40B4-BE49-F238E27FC236}">
                <a16:creationId xmlns:a16="http://schemas.microsoft.com/office/drawing/2014/main" id="{C592CAE9-AEE3-6059-7A49-751D13EEDF6A}"/>
              </a:ext>
            </a:extLst>
          </p:cNvPr>
          <p:cNvSpPr/>
          <p:nvPr/>
        </p:nvSpPr>
        <p:spPr>
          <a:xfrm>
            <a:off x="330200" y="1816100"/>
            <a:ext cx="50800" cy="50800"/>
          </a:xfrm>
          <a:prstGeom prst="rect">
            <a:avLst/>
          </a:prstGeom>
          <a:solidFill>
            <a:srgbClr val="1E7A1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0A6BED7B-5877-1D1F-085D-9915D7D6CECB}"/>
              </a:ext>
            </a:extLst>
          </p:cNvPr>
          <p:cNvSpPr txBox="1"/>
          <p:nvPr/>
        </p:nvSpPr>
        <p:spPr>
          <a:xfrm>
            <a:off x="431800" y="1752600"/>
            <a:ext cx="4064000" cy="200055"/>
          </a:xfrm>
          <a:prstGeom prst="rect">
            <a:avLst/>
          </a:prstGeom>
          <a:noFill/>
        </p:spPr>
        <p:txBody>
          <a:bodyPr vert="horz" wrap="square" rtlCol="0">
            <a:spAutoFit/>
          </a:bodyPr>
          <a:lstStyle/>
          <a:p>
            <a:r>
              <a:rPr lang="pt-BR" sz="700">
                <a:solidFill>
                  <a:srgbClr val="CCCCCC"/>
                </a:solidFill>
                <a:latin typeface="Segoe UI" panose="020B0502040204020203" pitchFamily="34" charset="0"/>
              </a:rPr>
              <a:t>LlmParameterExtractionService -- Azure OpenAI gpt-4o-mini param extractor</a:t>
            </a:r>
            <a:endParaRPr lang="en-US" sz="700">
              <a:solidFill>
                <a:srgbClr val="CCCCCC"/>
              </a:solidFill>
              <a:latin typeface="Segoe UI" panose="020B0502040204020203" pitchFamily="34" charset="0"/>
            </a:endParaRPr>
          </a:p>
        </p:txBody>
      </p:sp>
      <p:sp>
        <p:nvSpPr>
          <p:cNvPr id="18" name="Rectangle 17">
            <a:extLst>
              <a:ext uri="{FF2B5EF4-FFF2-40B4-BE49-F238E27FC236}">
                <a16:creationId xmlns:a16="http://schemas.microsoft.com/office/drawing/2014/main" id="{AC1BABD6-43DA-5368-63DA-40C0E660E1C5}"/>
              </a:ext>
            </a:extLst>
          </p:cNvPr>
          <p:cNvSpPr/>
          <p:nvPr/>
        </p:nvSpPr>
        <p:spPr>
          <a:xfrm>
            <a:off x="330200" y="2032000"/>
            <a:ext cx="50800" cy="50800"/>
          </a:xfrm>
          <a:prstGeom prst="rect">
            <a:avLst/>
          </a:prstGeom>
          <a:solidFill>
            <a:srgbClr val="1E7A1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CCC5547D-3D48-200A-6564-99CB8D928DBB}"/>
              </a:ext>
            </a:extLst>
          </p:cNvPr>
          <p:cNvSpPr txBox="1"/>
          <p:nvPr/>
        </p:nvSpPr>
        <p:spPr>
          <a:xfrm>
            <a:off x="431800" y="1968500"/>
            <a:ext cx="4064000" cy="200055"/>
          </a:xfrm>
          <a:prstGeom prst="rect">
            <a:avLst/>
          </a:prstGeom>
          <a:noFill/>
        </p:spPr>
        <p:txBody>
          <a:bodyPr vert="horz" wrap="square" rtlCol="0">
            <a:spAutoFit/>
          </a:bodyPr>
          <a:lstStyle/>
          <a:p>
            <a:r>
              <a:rPr lang="en-US" sz="700">
                <a:solidFill>
                  <a:srgbClr val="CCCCCC"/>
                </a:solidFill>
                <a:latin typeface="Segoe UI" panose="020B0502040204020203" pitchFamily="34" charset="0"/>
              </a:rPr>
              <a:t>SldVisionExtractionService -- GPT-4o vision: system params + topology</a:t>
            </a:r>
          </a:p>
        </p:txBody>
      </p:sp>
      <p:sp>
        <p:nvSpPr>
          <p:cNvPr id="20" name="Rectangle 19">
            <a:extLst>
              <a:ext uri="{FF2B5EF4-FFF2-40B4-BE49-F238E27FC236}">
                <a16:creationId xmlns:a16="http://schemas.microsoft.com/office/drawing/2014/main" id="{4442E7F3-AB63-25CC-C6D1-1952D81DCD48}"/>
              </a:ext>
            </a:extLst>
          </p:cNvPr>
          <p:cNvSpPr/>
          <p:nvPr/>
        </p:nvSpPr>
        <p:spPr>
          <a:xfrm>
            <a:off x="330200" y="2247900"/>
            <a:ext cx="50800" cy="50800"/>
          </a:xfrm>
          <a:prstGeom prst="rect">
            <a:avLst/>
          </a:prstGeom>
          <a:solidFill>
            <a:srgbClr val="1E7A1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A20FB88-A6C0-9BBE-4805-25349EB1B251}"/>
              </a:ext>
            </a:extLst>
          </p:cNvPr>
          <p:cNvSpPr txBox="1"/>
          <p:nvPr/>
        </p:nvSpPr>
        <p:spPr>
          <a:xfrm>
            <a:off x="431800" y="2184400"/>
            <a:ext cx="4064000" cy="200055"/>
          </a:xfrm>
          <a:prstGeom prst="rect">
            <a:avLst/>
          </a:prstGeom>
          <a:noFill/>
        </p:spPr>
        <p:txBody>
          <a:bodyPr vert="horz" wrap="square" rtlCol="0">
            <a:spAutoFit/>
          </a:bodyPr>
          <a:lstStyle/>
          <a:p>
            <a:r>
              <a:rPr lang="en-US" sz="700">
                <a:solidFill>
                  <a:srgbClr val="CCCCCC"/>
                </a:solidFill>
                <a:latin typeface="Segoe UI" panose="020B0502040204020203" pitchFamily="34" charset="0"/>
              </a:rPr>
              <a:t>EnsembleVotingService -- 3/2/1/0 path voting with numeric tolerance</a:t>
            </a:r>
          </a:p>
        </p:txBody>
      </p:sp>
      <p:sp>
        <p:nvSpPr>
          <p:cNvPr id="22" name="Rectangle 21">
            <a:extLst>
              <a:ext uri="{FF2B5EF4-FFF2-40B4-BE49-F238E27FC236}">
                <a16:creationId xmlns:a16="http://schemas.microsoft.com/office/drawing/2014/main" id="{6586E1A9-F8E8-9437-D04F-3A285C473022}"/>
              </a:ext>
            </a:extLst>
          </p:cNvPr>
          <p:cNvSpPr/>
          <p:nvPr/>
        </p:nvSpPr>
        <p:spPr>
          <a:xfrm>
            <a:off x="330200" y="2463800"/>
            <a:ext cx="50800" cy="50800"/>
          </a:xfrm>
          <a:prstGeom prst="rect">
            <a:avLst/>
          </a:prstGeom>
          <a:solidFill>
            <a:srgbClr val="1E7A1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04997BE1-4D32-9663-B193-C29202DC69FC}"/>
              </a:ext>
            </a:extLst>
          </p:cNvPr>
          <p:cNvSpPr txBox="1"/>
          <p:nvPr/>
        </p:nvSpPr>
        <p:spPr>
          <a:xfrm>
            <a:off x="431800" y="2400300"/>
            <a:ext cx="4064000" cy="200055"/>
          </a:xfrm>
          <a:prstGeom prst="rect">
            <a:avLst/>
          </a:prstGeom>
          <a:noFill/>
        </p:spPr>
        <p:txBody>
          <a:bodyPr vert="horz" wrap="square" rtlCol="0">
            <a:spAutoFit/>
          </a:bodyPr>
          <a:lstStyle/>
          <a:p>
            <a:r>
              <a:rPr lang="en-US" sz="700">
                <a:solidFill>
                  <a:srgbClr val="CCCCCC"/>
                </a:solidFill>
                <a:latin typeface="Segoe UI" panose="020B0502040204020203" pitchFamily="34" charset="0"/>
              </a:rPr>
              <a:t>SldTopologyService -- multilingual panel classification =&gt; TopologySummary</a:t>
            </a:r>
          </a:p>
        </p:txBody>
      </p:sp>
      <p:sp>
        <p:nvSpPr>
          <p:cNvPr id="24" name="Rectangle 23">
            <a:extLst>
              <a:ext uri="{FF2B5EF4-FFF2-40B4-BE49-F238E27FC236}">
                <a16:creationId xmlns:a16="http://schemas.microsoft.com/office/drawing/2014/main" id="{EAC92562-4CC2-B7DA-30C5-6F1876C6A258}"/>
              </a:ext>
            </a:extLst>
          </p:cNvPr>
          <p:cNvSpPr/>
          <p:nvPr/>
        </p:nvSpPr>
        <p:spPr>
          <a:xfrm>
            <a:off x="330200" y="2679700"/>
            <a:ext cx="50800" cy="50800"/>
          </a:xfrm>
          <a:prstGeom prst="rect">
            <a:avLst/>
          </a:prstGeom>
          <a:solidFill>
            <a:srgbClr val="1E7A1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D6646759-BF93-19FE-2FFB-973E53FEDC68}"/>
              </a:ext>
            </a:extLst>
          </p:cNvPr>
          <p:cNvSpPr txBox="1"/>
          <p:nvPr/>
        </p:nvSpPr>
        <p:spPr>
          <a:xfrm>
            <a:off x="431800" y="2616200"/>
            <a:ext cx="4064000" cy="200055"/>
          </a:xfrm>
          <a:prstGeom prst="rect">
            <a:avLst/>
          </a:prstGeom>
          <a:noFill/>
        </p:spPr>
        <p:txBody>
          <a:bodyPr vert="horz" wrap="square" rtlCol="0">
            <a:spAutoFit/>
          </a:bodyPr>
          <a:lstStyle/>
          <a:p>
            <a:r>
              <a:rPr lang="en-US" sz="700">
                <a:solidFill>
                  <a:srgbClr val="CCCCCC"/>
                </a:solidFill>
                <a:latin typeface="Segoe UI" panose="020B0502040204020203" pitchFamily="34" charset="0"/>
              </a:rPr>
              <a:t>RagParameterExtractionService -- Path B: Azure AI Search + gpt-4o-mini</a:t>
            </a:r>
          </a:p>
        </p:txBody>
      </p:sp>
      <p:sp>
        <p:nvSpPr>
          <p:cNvPr id="26" name="Rectangle 25">
            <a:extLst>
              <a:ext uri="{FF2B5EF4-FFF2-40B4-BE49-F238E27FC236}">
                <a16:creationId xmlns:a16="http://schemas.microsoft.com/office/drawing/2014/main" id="{DF628A97-3E41-29DB-898C-07ED0552A4F6}"/>
              </a:ext>
            </a:extLst>
          </p:cNvPr>
          <p:cNvSpPr/>
          <p:nvPr/>
        </p:nvSpPr>
        <p:spPr>
          <a:xfrm>
            <a:off x="330200" y="2895600"/>
            <a:ext cx="50800" cy="50800"/>
          </a:xfrm>
          <a:prstGeom prst="rect">
            <a:avLst/>
          </a:prstGeom>
          <a:solidFill>
            <a:srgbClr val="1E7A1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BBBD5EA5-04C3-F113-B22C-5BFCC43B3F5A}"/>
              </a:ext>
            </a:extLst>
          </p:cNvPr>
          <p:cNvSpPr txBox="1"/>
          <p:nvPr/>
        </p:nvSpPr>
        <p:spPr>
          <a:xfrm>
            <a:off x="431800" y="2832100"/>
            <a:ext cx="4064000" cy="200055"/>
          </a:xfrm>
          <a:prstGeom prst="rect">
            <a:avLst/>
          </a:prstGeom>
          <a:noFill/>
        </p:spPr>
        <p:txBody>
          <a:bodyPr vert="horz" wrap="square" rtlCol="0">
            <a:spAutoFit/>
          </a:bodyPr>
          <a:lstStyle/>
          <a:p>
            <a:r>
              <a:rPr lang="en-US" sz="700">
                <a:solidFill>
                  <a:srgbClr val="CCCCCC"/>
                </a:solidFill>
                <a:latin typeface="Segoe UI" panose="020B0502040204020203" pitchFamily="34" charset="0"/>
              </a:rPr>
              <a:t>CubicleScheduleExtractionService -- Path B Level 2: schedule table detect</a:t>
            </a:r>
          </a:p>
        </p:txBody>
      </p:sp>
      <p:sp>
        <p:nvSpPr>
          <p:cNvPr id="28" name="Rectangle 27">
            <a:extLst>
              <a:ext uri="{FF2B5EF4-FFF2-40B4-BE49-F238E27FC236}">
                <a16:creationId xmlns:a16="http://schemas.microsoft.com/office/drawing/2014/main" id="{BB07FD22-AB6F-E8E1-27AF-F0BDE389F78F}"/>
              </a:ext>
            </a:extLst>
          </p:cNvPr>
          <p:cNvSpPr/>
          <p:nvPr/>
        </p:nvSpPr>
        <p:spPr>
          <a:xfrm>
            <a:off x="330200" y="3111500"/>
            <a:ext cx="50800" cy="50800"/>
          </a:xfrm>
          <a:prstGeom prst="rect">
            <a:avLst/>
          </a:prstGeom>
          <a:solidFill>
            <a:srgbClr val="1E7A1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B54F387B-36CA-CCB5-0BBD-B839DAF47E7F}"/>
              </a:ext>
            </a:extLst>
          </p:cNvPr>
          <p:cNvSpPr txBox="1"/>
          <p:nvPr/>
        </p:nvSpPr>
        <p:spPr>
          <a:xfrm>
            <a:off x="431800" y="3048000"/>
            <a:ext cx="4064000" cy="200055"/>
          </a:xfrm>
          <a:prstGeom prst="rect">
            <a:avLst/>
          </a:prstGeom>
          <a:noFill/>
        </p:spPr>
        <p:txBody>
          <a:bodyPr vert="horz" wrap="square" rtlCol="0">
            <a:spAutoFit/>
          </a:bodyPr>
          <a:lstStyle/>
          <a:p>
            <a:r>
              <a:rPr lang="en-US" sz="700">
                <a:solidFill>
                  <a:srgbClr val="CCCCCC"/>
                </a:solidFill>
                <a:latin typeface="Segoe UI" panose="020B0502040204020203" pitchFamily="34" charset="0"/>
              </a:rPr>
              <a:t>SldDeviceLevelExtractionService -- Path C Level 2: SLD panel =&gt; device map</a:t>
            </a:r>
          </a:p>
        </p:txBody>
      </p:sp>
      <p:sp>
        <p:nvSpPr>
          <p:cNvPr id="30" name="Rectangle 29">
            <a:extLst>
              <a:ext uri="{FF2B5EF4-FFF2-40B4-BE49-F238E27FC236}">
                <a16:creationId xmlns:a16="http://schemas.microsoft.com/office/drawing/2014/main" id="{C1AEEE69-56E4-ADA6-8BF0-E7789530CA27}"/>
              </a:ext>
            </a:extLst>
          </p:cNvPr>
          <p:cNvSpPr/>
          <p:nvPr/>
        </p:nvSpPr>
        <p:spPr>
          <a:xfrm>
            <a:off x="330200" y="3327400"/>
            <a:ext cx="50800" cy="50800"/>
          </a:xfrm>
          <a:prstGeom prst="rect">
            <a:avLst/>
          </a:prstGeom>
          <a:solidFill>
            <a:srgbClr val="1E7A1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7289C275-FB14-0D1A-093B-46B75192AAB6}"/>
              </a:ext>
            </a:extLst>
          </p:cNvPr>
          <p:cNvSpPr txBox="1"/>
          <p:nvPr/>
        </p:nvSpPr>
        <p:spPr>
          <a:xfrm>
            <a:off x="431800" y="3263900"/>
            <a:ext cx="4064000" cy="200055"/>
          </a:xfrm>
          <a:prstGeom prst="rect">
            <a:avLst/>
          </a:prstGeom>
          <a:noFill/>
        </p:spPr>
        <p:txBody>
          <a:bodyPr vert="horz" wrap="square" rtlCol="0">
            <a:spAutoFit/>
          </a:bodyPr>
          <a:lstStyle/>
          <a:p>
            <a:r>
              <a:rPr lang="en-US" sz="700">
                <a:solidFill>
                  <a:srgbClr val="CCCCCC"/>
                </a:solidFill>
                <a:latin typeface="Segoe UI" panose="020B0502040204020203" pitchFamily="34" charset="0"/>
              </a:rPr>
              <a:t>AbbProductMatchingService -- live ABB Sales Configurator + local fallback</a:t>
            </a:r>
          </a:p>
        </p:txBody>
      </p:sp>
      <p:sp>
        <p:nvSpPr>
          <p:cNvPr id="32" name="Rectangle 31">
            <a:extLst>
              <a:ext uri="{FF2B5EF4-FFF2-40B4-BE49-F238E27FC236}">
                <a16:creationId xmlns:a16="http://schemas.microsoft.com/office/drawing/2014/main" id="{D6AB44B9-0C04-47E7-D440-84BFB1D55588}"/>
              </a:ext>
            </a:extLst>
          </p:cNvPr>
          <p:cNvSpPr/>
          <p:nvPr/>
        </p:nvSpPr>
        <p:spPr>
          <a:xfrm>
            <a:off x="330200" y="3543300"/>
            <a:ext cx="50800" cy="50800"/>
          </a:xfrm>
          <a:prstGeom prst="rect">
            <a:avLst/>
          </a:prstGeom>
          <a:solidFill>
            <a:srgbClr val="1E7A1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EB8CBD3E-1661-9B05-6A81-02F11BC884C6}"/>
              </a:ext>
            </a:extLst>
          </p:cNvPr>
          <p:cNvSpPr txBox="1"/>
          <p:nvPr/>
        </p:nvSpPr>
        <p:spPr>
          <a:xfrm>
            <a:off x="431800" y="3479800"/>
            <a:ext cx="4064000" cy="200055"/>
          </a:xfrm>
          <a:prstGeom prst="rect">
            <a:avLst/>
          </a:prstGeom>
          <a:noFill/>
        </p:spPr>
        <p:txBody>
          <a:bodyPr vert="horz" wrap="square" rtlCol="0">
            <a:spAutoFit/>
          </a:bodyPr>
          <a:lstStyle/>
          <a:p>
            <a:r>
              <a:rPr lang="en-US" sz="700">
                <a:solidFill>
                  <a:srgbClr val="CCCCCC"/>
                </a:solidFill>
                <a:latin typeface="Segoe UI" panose="020B0502040204020203" pitchFamily="34" charset="0"/>
              </a:rPr>
              <a:t>LineupReconstructionService -- builds SwitchgearCubicle rows</a:t>
            </a:r>
          </a:p>
        </p:txBody>
      </p:sp>
      <p:sp>
        <p:nvSpPr>
          <p:cNvPr id="34" name="Rectangle 33">
            <a:extLst>
              <a:ext uri="{FF2B5EF4-FFF2-40B4-BE49-F238E27FC236}">
                <a16:creationId xmlns:a16="http://schemas.microsoft.com/office/drawing/2014/main" id="{BBE11299-E53A-F1E6-AA28-34A485DCCC3D}"/>
              </a:ext>
            </a:extLst>
          </p:cNvPr>
          <p:cNvSpPr/>
          <p:nvPr/>
        </p:nvSpPr>
        <p:spPr>
          <a:xfrm>
            <a:off x="330200" y="3759200"/>
            <a:ext cx="50800" cy="50800"/>
          </a:xfrm>
          <a:prstGeom prst="rect">
            <a:avLst/>
          </a:prstGeom>
          <a:solidFill>
            <a:srgbClr val="1E7A1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5A5C5A38-1E03-D899-3116-2CA96AF8AB45}"/>
              </a:ext>
            </a:extLst>
          </p:cNvPr>
          <p:cNvSpPr txBox="1"/>
          <p:nvPr/>
        </p:nvSpPr>
        <p:spPr>
          <a:xfrm>
            <a:off x="431800" y="3695700"/>
            <a:ext cx="4064000" cy="200055"/>
          </a:xfrm>
          <a:prstGeom prst="rect">
            <a:avLst/>
          </a:prstGeom>
          <a:noFill/>
        </p:spPr>
        <p:txBody>
          <a:bodyPr vert="horz" wrap="square" rtlCol="0">
            <a:spAutoFit/>
          </a:bodyPr>
          <a:lstStyle/>
          <a:p>
            <a:r>
              <a:rPr lang="en-US" sz="700">
                <a:solidFill>
                  <a:srgbClr val="CCCCCC"/>
                </a:solidFill>
                <a:latin typeface="Segoe UI" panose="020B0502040204020203" pitchFamily="34" charset="0"/>
              </a:rPr>
              <a:t>XmlGenerationService -- produces ABB-format XML export</a:t>
            </a:r>
          </a:p>
        </p:txBody>
      </p:sp>
      <p:sp>
        <p:nvSpPr>
          <p:cNvPr id="36" name="Rectangle 35">
            <a:extLst>
              <a:ext uri="{FF2B5EF4-FFF2-40B4-BE49-F238E27FC236}">
                <a16:creationId xmlns:a16="http://schemas.microsoft.com/office/drawing/2014/main" id="{A663B354-1241-A804-3EAC-C13072E3A95D}"/>
              </a:ext>
            </a:extLst>
          </p:cNvPr>
          <p:cNvSpPr/>
          <p:nvPr/>
        </p:nvSpPr>
        <p:spPr>
          <a:xfrm>
            <a:off x="4673600" y="635000"/>
            <a:ext cx="4318000" cy="2286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1E02E663-1292-94A2-FA3C-83F3E53452FB}"/>
              </a:ext>
            </a:extLst>
          </p:cNvPr>
          <p:cNvSpPr txBox="1"/>
          <p:nvPr/>
        </p:nvSpPr>
        <p:spPr>
          <a:xfrm>
            <a:off x="4749800" y="635000"/>
            <a:ext cx="4165600" cy="215444"/>
          </a:xfrm>
          <a:prstGeom prst="rect">
            <a:avLst/>
          </a:prstGeom>
          <a:noFill/>
        </p:spPr>
        <p:txBody>
          <a:bodyPr vert="horz" wrap="square" rtlCol="0">
            <a:spAutoFit/>
          </a:bodyPr>
          <a:lstStyle/>
          <a:p>
            <a:r>
              <a:rPr lang="en-US" sz="800" b="1">
                <a:solidFill>
                  <a:srgbClr val="FFFFFF"/>
                </a:solidFill>
                <a:latin typeface="Segoe UI" panose="020B0502040204020203" pitchFamily="34" charset="0"/>
              </a:rPr>
              <a:t>Database (EF Core 9 / SQL Server)</a:t>
            </a:r>
          </a:p>
        </p:txBody>
      </p:sp>
      <p:sp>
        <p:nvSpPr>
          <p:cNvPr id="38" name="Rectangle 37">
            <a:extLst>
              <a:ext uri="{FF2B5EF4-FFF2-40B4-BE49-F238E27FC236}">
                <a16:creationId xmlns:a16="http://schemas.microsoft.com/office/drawing/2014/main" id="{A9F2CCBD-C00F-F38E-CA59-7FDDAAA2D23B}"/>
              </a:ext>
            </a:extLst>
          </p:cNvPr>
          <p:cNvSpPr/>
          <p:nvPr/>
        </p:nvSpPr>
        <p:spPr>
          <a:xfrm>
            <a:off x="4749800" y="952500"/>
            <a:ext cx="50800" cy="50800"/>
          </a:xfrm>
          <a:prstGeom prst="rect">
            <a:avLst/>
          </a:prstGeom>
          <a:solidFill>
            <a:srgbClr val="1E7A1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78B5D28A-1B7D-806B-EDB7-458BB7854B9C}"/>
              </a:ext>
            </a:extLst>
          </p:cNvPr>
          <p:cNvSpPr txBox="1"/>
          <p:nvPr/>
        </p:nvSpPr>
        <p:spPr>
          <a:xfrm>
            <a:off x="4851400" y="889000"/>
            <a:ext cx="4064000" cy="200055"/>
          </a:xfrm>
          <a:prstGeom prst="rect">
            <a:avLst/>
          </a:prstGeom>
          <a:noFill/>
        </p:spPr>
        <p:txBody>
          <a:bodyPr vert="horz" wrap="square" rtlCol="0">
            <a:spAutoFit/>
          </a:bodyPr>
          <a:lstStyle/>
          <a:p>
            <a:r>
              <a:rPr lang="en-US" sz="700">
                <a:solidFill>
                  <a:srgbClr val="CCCCCC"/>
                </a:solidFill>
                <a:latin typeface="Segoe UI" panose="020B0502040204020203" pitchFamily="34" charset="0"/>
              </a:rPr>
              <a:t>DocumentPackages, DocumentPages, ExtractedParameters</a:t>
            </a:r>
          </a:p>
        </p:txBody>
      </p:sp>
      <p:sp>
        <p:nvSpPr>
          <p:cNvPr id="40" name="Rectangle 39">
            <a:extLst>
              <a:ext uri="{FF2B5EF4-FFF2-40B4-BE49-F238E27FC236}">
                <a16:creationId xmlns:a16="http://schemas.microsoft.com/office/drawing/2014/main" id="{FA84D8BF-7615-58DD-F38E-20A5C6ACCDF3}"/>
              </a:ext>
            </a:extLst>
          </p:cNvPr>
          <p:cNvSpPr/>
          <p:nvPr/>
        </p:nvSpPr>
        <p:spPr>
          <a:xfrm>
            <a:off x="4749800" y="1168400"/>
            <a:ext cx="50800" cy="50800"/>
          </a:xfrm>
          <a:prstGeom prst="rect">
            <a:avLst/>
          </a:prstGeom>
          <a:solidFill>
            <a:srgbClr val="1E7A1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F3F26165-8040-FCD6-0EEC-691A2F601F10}"/>
              </a:ext>
            </a:extLst>
          </p:cNvPr>
          <p:cNvSpPr txBox="1"/>
          <p:nvPr/>
        </p:nvSpPr>
        <p:spPr>
          <a:xfrm>
            <a:off x="4851400" y="1104900"/>
            <a:ext cx="4064000" cy="200055"/>
          </a:xfrm>
          <a:prstGeom prst="rect">
            <a:avLst/>
          </a:prstGeom>
          <a:noFill/>
        </p:spPr>
        <p:txBody>
          <a:bodyPr vert="horz" wrap="square" rtlCol="0">
            <a:spAutoFit/>
          </a:bodyPr>
          <a:lstStyle/>
          <a:p>
            <a:r>
              <a:rPr lang="en-US" sz="700">
                <a:solidFill>
                  <a:srgbClr val="CCCCCC"/>
                </a:solidFill>
                <a:latin typeface="Segoe UI" panose="020B0502040204020203" pitchFamily="34" charset="0"/>
              </a:rPr>
              <a:t>SwitchgearInstances (with TopologySummary JSON column)</a:t>
            </a:r>
          </a:p>
        </p:txBody>
      </p:sp>
      <p:sp>
        <p:nvSpPr>
          <p:cNvPr id="42" name="Rectangle 41">
            <a:extLst>
              <a:ext uri="{FF2B5EF4-FFF2-40B4-BE49-F238E27FC236}">
                <a16:creationId xmlns:a16="http://schemas.microsoft.com/office/drawing/2014/main" id="{7FCCC6D3-C3DA-20D0-BE1B-C3B165905B6D}"/>
              </a:ext>
            </a:extLst>
          </p:cNvPr>
          <p:cNvSpPr/>
          <p:nvPr/>
        </p:nvSpPr>
        <p:spPr>
          <a:xfrm>
            <a:off x="4749800" y="1384300"/>
            <a:ext cx="50800" cy="50800"/>
          </a:xfrm>
          <a:prstGeom prst="rect">
            <a:avLst/>
          </a:prstGeom>
          <a:solidFill>
            <a:srgbClr val="1E7A1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4BB5675C-57FF-687C-6114-DCECFBABA22F}"/>
              </a:ext>
            </a:extLst>
          </p:cNvPr>
          <p:cNvSpPr txBox="1"/>
          <p:nvPr/>
        </p:nvSpPr>
        <p:spPr>
          <a:xfrm>
            <a:off x="4851400" y="1320800"/>
            <a:ext cx="4064000" cy="200055"/>
          </a:xfrm>
          <a:prstGeom prst="rect">
            <a:avLst/>
          </a:prstGeom>
          <a:noFill/>
        </p:spPr>
        <p:txBody>
          <a:bodyPr vert="horz" wrap="square" rtlCol="0">
            <a:spAutoFit/>
          </a:bodyPr>
          <a:lstStyle/>
          <a:p>
            <a:r>
              <a:rPr lang="en-US" sz="700">
                <a:solidFill>
                  <a:srgbClr val="CCCCCC"/>
                </a:solidFill>
                <a:latin typeface="Segoe UI" panose="020B0502040204020203" pitchFamily="34" charset="0"/>
              </a:rPr>
              <a:t>SwitchgearCubicles, DeviceSelections, DeviationItems</a:t>
            </a:r>
          </a:p>
        </p:txBody>
      </p:sp>
      <p:sp>
        <p:nvSpPr>
          <p:cNvPr id="44" name="Rectangle 43">
            <a:extLst>
              <a:ext uri="{FF2B5EF4-FFF2-40B4-BE49-F238E27FC236}">
                <a16:creationId xmlns:a16="http://schemas.microsoft.com/office/drawing/2014/main" id="{C5E2B1D6-8D44-96F7-46EF-C8F7546EAD8E}"/>
              </a:ext>
            </a:extLst>
          </p:cNvPr>
          <p:cNvSpPr/>
          <p:nvPr/>
        </p:nvSpPr>
        <p:spPr>
          <a:xfrm>
            <a:off x="4749800" y="1600200"/>
            <a:ext cx="50800" cy="50800"/>
          </a:xfrm>
          <a:prstGeom prst="rect">
            <a:avLst/>
          </a:prstGeom>
          <a:solidFill>
            <a:srgbClr val="1E7A1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79E99FF1-5E14-814F-6487-8FCB89B1683D}"/>
              </a:ext>
            </a:extLst>
          </p:cNvPr>
          <p:cNvSpPr txBox="1"/>
          <p:nvPr/>
        </p:nvSpPr>
        <p:spPr>
          <a:xfrm>
            <a:off x="4851400" y="1536700"/>
            <a:ext cx="4064000" cy="200055"/>
          </a:xfrm>
          <a:prstGeom prst="rect">
            <a:avLst/>
          </a:prstGeom>
          <a:noFill/>
        </p:spPr>
        <p:txBody>
          <a:bodyPr vert="horz" wrap="square" rtlCol="0">
            <a:spAutoFit/>
          </a:bodyPr>
          <a:lstStyle/>
          <a:p>
            <a:r>
              <a:rPr lang="en-US" sz="700">
                <a:solidFill>
                  <a:srgbClr val="CCCCCC"/>
                </a:solidFill>
                <a:latin typeface="Segoe UI" panose="020B0502040204020203" pitchFamily="34" charset="0"/>
              </a:rPr>
              <a:t>CubicleDeviceExtractions (Level 2 -- migration applied)</a:t>
            </a:r>
          </a:p>
        </p:txBody>
      </p:sp>
      <p:sp>
        <p:nvSpPr>
          <p:cNvPr id="46" name="Rectangle 45">
            <a:extLst>
              <a:ext uri="{FF2B5EF4-FFF2-40B4-BE49-F238E27FC236}">
                <a16:creationId xmlns:a16="http://schemas.microsoft.com/office/drawing/2014/main" id="{073EB807-2FA5-A384-8E32-394C902EBAAD}"/>
              </a:ext>
            </a:extLst>
          </p:cNvPr>
          <p:cNvSpPr/>
          <p:nvPr/>
        </p:nvSpPr>
        <p:spPr>
          <a:xfrm>
            <a:off x="4749800" y="1816100"/>
            <a:ext cx="50800" cy="50800"/>
          </a:xfrm>
          <a:prstGeom prst="rect">
            <a:avLst/>
          </a:prstGeom>
          <a:solidFill>
            <a:srgbClr val="1E7A1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59263386-0068-5C29-9B5C-CBE0D9366EC2}"/>
              </a:ext>
            </a:extLst>
          </p:cNvPr>
          <p:cNvSpPr txBox="1"/>
          <p:nvPr/>
        </p:nvSpPr>
        <p:spPr>
          <a:xfrm>
            <a:off x="4851400" y="1752600"/>
            <a:ext cx="4064000" cy="200055"/>
          </a:xfrm>
          <a:prstGeom prst="rect">
            <a:avLst/>
          </a:prstGeom>
          <a:noFill/>
        </p:spPr>
        <p:txBody>
          <a:bodyPr vert="horz" wrap="square" rtlCol="0">
            <a:spAutoFit/>
          </a:bodyPr>
          <a:lstStyle/>
          <a:p>
            <a:r>
              <a:rPr lang="en-US" sz="700">
                <a:solidFill>
                  <a:srgbClr val="CCCCCC"/>
                </a:solidFill>
                <a:latin typeface="Segoe UI" panose="020B0502040204020203" pitchFamily="34" charset="0"/>
              </a:rPr>
              <a:t>ExtractionPath, SourceText, SourceBoundingBox on all params</a:t>
            </a:r>
          </a:p>
        </p:txBody>
      </p:sp>
      <p:sp>
        <p:nvSpPr>
          <p:cNvPr id="48" name="Rectangle 47">
            <a:extLst>
              <a:ext uri="{FF2B5EF4-FFF2-40B4-BE49-F238E27FC236}">
                <a16:creationId xmlns:a16="http://schemas.microsoft.com/office/drawing/2014/main" id="{A55E93AD-B96F-D3AE-A1C6-B873159460DB}"/>
              </a:ext>
            </a:extLst>
          </p:cNvPr>
          <p:cNvSpPr/>
          <p:nvPr/>
        </p:nvSpPr>
        <p:spPr>
          <a:xfrm>
            <a:off x="254000" y="2044700"/>
            <a:ext cx="4318000" cy="2286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a:extLst>
              <a:ext uri="{FF2B5EF4-FFF2-40B4-BE49-F238E27FC236}">
                <a16:creationId xmlns:a16="http://schemas.microsoft.com/office/drawing/2014/main" id="{967FA76A-8453-E419-19C9-727AD7B59DA0}"/>
              </a:ext>
            </a:extLst>
          </p:cNvPr>
          <p:cNvSpPr txBox="1"/>
          <p:nvPr/>
        </p:nvSpPr>
        <p:spPr>
          <a:xfrm>
            <a:off x="330200" y="2044700"/>
            <a:ext cx="4165600" cy="215444"/>
          </a:xfrm>
          <a:prstGeom prst="rect">
            <a:avLst/>
          </a:prstGeom>
          <a:noFill/>
        </p:spPr>
        <p:txBody>
          <a:bodyPr vert="horz" wrap="square" rtlCol="0">
            <a:spAutoFit/>
          </a:bodyPr>
          <a:lstStyle/>
          <a:p>
            <a:r>
              <a:rPr lang="fr-FR" sz="800" b="1">
                <a:solidFill>
                  <a:srgbClr val="FFFFFF"/>
                </a:solidFill>
                <a:latin typeface="Segoe UI" panose="020B0502040204020203" pitchFamily="34" charset="0"/>
              </a:rPr>
              <a:t>Python FastAPI Microservice (port 8001)</a:t>
            </a:r>
            <a:endParaRPr lang="en-US" sz="800" b="1">
              <a:solidFill>
                <a:srgbClr val="FFFFFF"/>
              </a:solidFill>
              <a:latin typeface="Segoe UI" panose="020B0502040204020203" pitchFamily="34" charset="0"/>
            </a:endParaRPr>
          </a:p>
        </p:txBody>
      </p:sp>
      <p:sp>
        <p:nvSpPr>
          <p:cNvPr id="50" name="Rectangle 49">
            <a:extLst>
              <a:ext uri="{FF2B5EF4-FFF2-40B4-BE49-F238E27FC236}">
                <a16:creationId xmlns:a16="http://schemas.microsoft.com/office/drawing/2014/main" id="{813EF076-BA81-A53F-9250-FDB7F64A8356}"/>
              </a:ext>
            </a:extLst>
          </p:cNvPr>
          <p:cNvSpPr/>
          <p:nvPr/>
        </p:nvSpPr>
        <p:spPr>
          <a:xfrm>
            <a:off x="330200" y="2362200"/>
            <a:ext cx="50800" cy="50800"/>
          </a:xfrm>
          <a:prstGeom prst="rect">
            <a:avLst/>
          </a:prstGeom>
          <a:solidFill>
            <a:srgbClr val="1E7A1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45A27B6A-D42E-063F-BF38-96C6170D90EF}"/>
              </a:ext>
            </a:extLst>
          </p:cNvPr>
          <p:cNvSpPr txBox="1"/>
          <p:nvPr/>
        </p:nvSpPr>
        <p:spPr>
          <a:xfrm>
            <a:off x="431800" y="2298700"/>
            <a:ext cx="4064000" cy="200055"/>
          </a:xfrm>
          <a:prstGeom prst="rect">
            <a:avLst/>
          </a:prstGeom>
          <a:noFill/>
        </p:spPr>
        <p:txBody>
          <a:bodyPr vert="horz" wrap="square" rtlCol="0">
            <a:spAutoFit/>
          </a:bodyPr>
          <a:lstStyle/>
          <a:p>
            <a:r>
              <a:rPr lang="en-US" sz="700">
                <a:solidFill>
                  <a:srgbClr val="CCCCCC"/>
                </a:solidFill>
                <a:latin typeface="Segoe UI" panose="020B0502040204020203" pitchFamily="34" charset="0"/>
              </a:rPr>
              <a:t>Path B: RAG chunker, vector index, rag_extractor</a:t>
            </a:r>
          </a:p>
        </p:txBody>
      </p:sp>
      <p:sp>
        <p:nvSpPr>
          <p:cNvPr id="52" name="Rectangle 51">
            <a:extLst>
              <a:ext uri="{FF2B5EF4-FFF2-40B4-BE49-F238E27FC236}">
                <a16:creationId xmlns:a16="http://schemas.microsoft.com/office/drawing/2014/main" id="{0D60C288-4CC6-B60E-34CC-2CAA8094CDD3}"/>
              </a:ext>
            </a:extLst>
          </p:cNvPr>
          <p:cNvSpPr/>
          <p:nvPr/>
        </p:nvSpPr>
        <p:spPr>
          <a:xfrm>
            <a:off x="330200" y="2578100"/>
            <a:ext cx="50800" cy="50800"/>
          </a:xfrm>
          <a:prstGeom prst="rect">
            <a:avLst/>
          </a:prstGeom>
          <a:solidFill>
            <a:srgbClr val="1E7A1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169BB0A1-A16A-8BA4-D094-A4B428A36E23}"/>
              </a:ext>
            </a:extLst>
          </p:cNvPr>
          <p:cNvSpPr txBox="1"/>
          <p:nvPr/>
        </p:nvSpPr>
        <p:spPr>
          <a:xfrm>
            <a:off x="431800" y="2514600"/>
            <a:ext cx="4064000" cy="200055"/>
          </a:xfrm>
          <a:prstGeom prst="rect">
            <a:avLst/>
          </a:prstGeom>
          <a:noFill/>
        </p:spPr>
        <p:txBody>
          <a:bodyPr vert="horz" wrap="square" rtlCol="0">
            <a:spAutoFit/>
          </a:bodyPr>
          <a:lstStyle/>
          <a:p>
            <a:r>
              <a:rPr lang="en-US" sz="700">
                <a:solidFill>
                  <a:srgbClr val="CCCCCC"/>
                </a:solidFill>
                <a:latin typeface="Segoe UI" panose="020B0502040204020203" pitchFamily="34" charset="0"/>
              </a:rPr>
              <a:t>Path B: device_table_extractor (Level 2 cubicle schedule)</a:t>
            </a:r>
          </a:p>
        </p:txBody>
      </p:sp>
      <p:sp>
        <p:nvSpPr>
          <p:cNvPr id="54" name="Rectangle 53">
            <a:extLst>
              <a:ext uri="{FF2B5EF4-FFF2-40B4-BE49-F238E27FC236}">
                <a16:creationId xmlns:a16="http://schemas.microsoft.com/office/drawing/2014/main" id="{EA2C2F4F-4B52-8283-0185-734FA25F9297}"/>
              </a:ext>
            </a:extLst>
          </p:cNvPr>
          <p:cNvSpPr/>
          <p:nvPr/>
        </p:nvSpPr>
        <p:spPr>
          <a:xfrm>
            <a:off x="330200" y="2794000"/>
            <a:ext cx="50800" cy="50800"/>
          </a:xfrm>
          <a:prstGeom prst="rect">
            <a:avLst/>
          </a:prstGeom>
          <a:solidFill>
            <a:srgbClr val="1E7A1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80957B74-526A-8165-8B9A-F3DE77AD6AF6}"/>
              </a:ext>
            </a:extLst>
          </p:cNvPr>
          <p:cNvSpPr txBox="1"/>
          <p:nvPr/>
        </p:nvSpPr>
        <p:spPr>
          <a:xfrm>
            <a:off x="431800" y="2730500"/>
            <a:ext cx="4064000" cy="200055"/>
          </a:xfrm>
          <a:prstGeom prst="rect">
            <a:avLst/>
          </a:prstGeom>
          <a:noFill/>
        </p:spPr>
        <p:txBody>
          <a:bodyPr vert="horz" wrap="square" rtlCol="0">
            <a:spAutoFit/>
          </a:bodyPr>
          <a:lstStyle/>
          <a:p>
            <a:r>
              <a:rPr lang="en-US" sz="700">
                <a:solidFill>
                  <a:srgbClr val="CCCCCC"/>
                </a:solidFill>
                <a:latin typeface="Segoe UI" panose="020B0502040204020203" pitchFamily="34" charset="0"/>
              </a:rPr>
              <a:t>Path C: sld_ocr_service, sld_region_classifier, sld_param_mapper</a:t>
            </a:r>
          </a:p>
        </p:txBody>
      </p:sp>
      <p:sp>
        <p:nvSpPr>
          <p:cNvPr id="56" name="Rectangle 55">
            <a:extLst>
              <a:ext uri="{FF2B5EF4-FFF2-40B4-BE49-F238E27FC236}">
                <a16:creationId xmlns:a16="http://schemas.microsoft.com/office/drawing/2014/main" id="{AF7A05DE-A445-EBD5-9375-A10784C610F0}"/>
              </a:ext>
            </a:extLst>
          </p:cNvPr>
          <p:cNvSpPr/>
          <p:nvPr/>
        </p:nvSpPr>
        <p:spPr>
          <a:xfrm>
            <a:off x="330200" y="3009900"/>
            <a:ext cx="50800" cy="50800"/>
          </a:xfrm>
          <a:prstGeom prst="rect">
            <a:avLst/>
          </a:prstGeom>
          <a:solidFill>
            <a:srgbClr val="1E7A1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TextBox 56">
            <a:extLst>
              <a:ext uri="{FF2B5EF4-FFF2-40B4-BE49-F238E27FC236}">
                <a16:creationId xmlns:a16="http://schemas.microsoft.com/office/drawing/2014/main" id="{40B29701-BE85-8618-0C84-7BA389FEB7C8}"/>
              </a:ext>
            </a:extLst>
          </p:cNvPr>
          <p:cNvSpPr txBox="1"/>
          <p:nvPr/>
        </p:nvSpPr>
        <p:spPr>
          <a:xfrm>
            <a:off x="431800" y="2946400"/>
            <a:ext cx="4064000" cy="200055"/>
          </a:xfrm>
          <a:prstGeom prst="rect">
            <a:avLst/>
          </a:prstGeom>
          <a:noFill/>
        </p:spPr>
        <p:txBody>
          <a:bodyPr vert="horz" wrap="square" rtlCol="0">
            <a:spAutoFit/>
          </a:bodyPr>
          <a:lstStyle/>
          <a:p>
            <a:r>
              <a:rPr lang="en-US" sz="700">
                <a:solidFill>
                  <a:srgbClr val="CCCCCC"/>
                </a:solidFill>
                <a:latin typeface="Segoe UI" panose="020B0502040204020203" pitchFamily="34" charset="0"/>
              </a:rPr>
              <a:t>Path C: sld_panel_segmenter, sld_device_extractor, sld_topology</a:t>
            </a:r>
          </a:p>
        </p:txBody>
      </p:sp>
      <p:sp>
        <p:nvSpPr>
          <p:cNvPr id="58" name="Rectangle 57">
            <a:extLst>
              <a:ext uri="{FF2B5EF4-FFF2-40B4-BE49-F238E27FC236}">
                <a16:creationId xmlns:a16="http://schemas.microsoft.com/office/drawing/2014/main" id="{6C21FD9A-5505-39FA-86C1-E2E36CB3204E}"/>
              </a:ext>
            </a:extLst>
          </p:cNvPr>
          <p:cNvSpPr/>
          <p:nvPr/>
        </p:nvSpPr>
        <p:spPr>
          <a:xfrm>
            <a:off x="330200" y="3225800"/>
            <a:ext cx="50800" cy="50800"/>
          </a:xfrm>
          <a:prstGeom prst="rect">
            <a:avLst/>
          </a:prstGeom>
          <a:solidFill>
            <a:srgbClr val="1E7A1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TextBox 58">
            <a:extLst>
              <a:ext uri="{FF2B5EF4-FFF2-40B4-BE49-F238E27FC236}">
                <a16:creationId xmlns:a16="http://schemas.microsoft.com/office/drawing/2014/main" id="{0150607D-AD44-D476-5290-AB4D83BEE64F}"/>
              </a:ext>
            </a:extLst>
          </p:cNvPr>
          <p:cNvSpPr txBox="1"/>
          <p:nvPr/>
        </p:nvSpPr>
        <p:spPr>
          <a:xfrm>
            <a:off x="431800" y="3162300"/>
            <a:ext cx="4064000" cy="200055"/>
          </a:xfrm>
          <a:prstGeom prst="rect">
            <a:avLst/>
          </a:prstGeom>
          <a:noFill/>
        </p:spPr>
        <p:txBody>
          <a:bodyPr vert="horz" wrap="square" rtlCol="0">
            <a:spAutoFit/>
          </a:bodyPr>
          <a:lstStyle/>
          <a:p>
            <a:r>
              <a:rPr lang="en-US" sz="700">
                <a:solidFill>
                  <a:srgbClr val="CCCCCC"/>
                </a:solidFill>
                <a:latin typeface="Segoe UI" panose="020B0502040204020203" pitchFamily="34" charset="0"/>
              </a:rPr>
              <a:t>Ensemble voting module, Pydantic models, .env config</a:t>
            </a:r>
          </a:p>
        </p:txBody>
      </p:sp>
      <p:sp>
        <p:nvSpPr>
          <p:cNvPr id="60" name="Rectangle 59">
            <a:extLst>
              <a:ext uri="{FF2B5EF4-FFF2-40B4-BE49-F238E27FC236}">
                <a16:creationId xmlns:a16="http://schemas.microsoft.com/office/drawing/2014/main" id="{45B3C406-1A96-E884-2B84-023AF56EDE81}"/>
              </a:ext>
            </a:extLst>
          </p:cNvPr>
          <p:cNvSpPr/>
          <p:nvPr/>
        </p:nvSpPr>
        <p:spPr>
          <a:xfrm>
            <a:off x="4673600" y="2044700"/>
            <a:ext cx="4318000" cy="2286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extBox 60">
            <a:extLst>
              <a:ext uri="{FF2B5EF4-FFF2-40B4-BE49-F238E27FC236}">
                <a16:creationId xmlns:a16="http://schemas.microsoft.com/office/drawing/2014/main" id="{A44432C1-8115-5257-67F6-B109815CE720}"/>
              </a:ext>
            </a:extLst>
          </p:cNvPr>
          <p:cNvSpPr txBox="1"/>
          <p:nvPr/>
        </p:nvSpPr>
        <p:spPr>
          <a:xfrm>
            <a:off x="4749800" y="2044700"/>
            <a:ext cx="4165600" cy="215444"/>
          </a:xfrm>
          <a:prstGeom prst="rect">
            <a:avLst/>
          </a:prstGeom>
          <a:noFill/>
        </p:spPr>
        <p:txBody>
          <a:bodyPr vert="horz" wrap="square" rtlCol="0">
            <a:spAutoFit/>
          </a:bodyPr>
          <a:lstStyle/>
          <a:p>
            <a:r>
              <a:rPr lang="en-US" sz="800" b="1">
                <a:solidFill>
                  <a:srgbClr val="FFFFFF"/>
                </a:solidFill>
                <a:latin typeface="Segoe UI" panose="020B0502040204020203" pitchFamily="34" charset="0"/>
              </a:rPr>
              <a:t>Angular Frontend (v17)</a:t>
            </a:r>
          </a:p>
        </p:txBody>
      </p:sp>
      <p:sp>
        <p:nvSpPr>
          <p:cNvPr id="62" name="Rectangle 61">
            <a:extLst>
              <a:ext uri="{FF2B5EF4-FFF2-40B4-BE49-F238E27FC236}">
                <a16:creationId xmlns:a16="http://schemas.microsoft.com/office/drawing/2014/main" id="{2DDFB03D-6BBB-1D7C-A602-8BE028AFB81C}"/>
              </a:ext>
            </a:extLst>
          </p:cNvPr>
          <p:cNvSpPr/>
          <p:nvPr/>
        </p:nvSpPr>
        <p:spPr>
          <a:xfrm>
            <a:off x="4749800" y="2362200"/>
            <a:ext cx="50800" cy="50800"/>
          </a:xfrm>
          <a:prstGeom prst="rect">
            <a:avLst/>
          </a:prstGeom>
          <a:solidFill>
            <a:srgbClr val="1E7A1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a:extLst>
              <a:ext uri="{FF2B5EF4-FFF2-40B4-BE49-F238E27FC236}">
                <a16:creationId xmlns:a16="http://schemas.microsoft.com/office/drawing/2014/main" id="{C0C0F2E8-82CD-4522-C32D-5FC4A2ECA43C}"/>
              </a:ext>
            </a:extLst>
          </p:cNvPr>
          <p:cNvSpPr txBox="1"/>
          <p:nvPr/>
        </p:nvSpPr>
        <p:spPr>
          <a:xfrm>
            <a:off x="4851400" y="2298700"/>
            <a:ext cx="4064000" cy="200055"/>
          </a:xfrm>
          <a:prstGeom prst="rect">
            <a:avLst/>
          </a:prstGeom>
          <a:noFill/>
        </p:spPr>
        <p:txBody>
          <a:bodyPr vert="horz" wrap="square" rtlCol="0">
            <a:spAutoFit/>
          </a:bodyPr>
          <a:lstStyle/>
          <a:p>
            <a:r>
              <a:rPr lang="en-US" sz="700">
                <a:solidFill>
                  <a:srgbClr val="CCCCCC"/>
                </a:solidFill>
                <a:latin typeface="Segoe UI" panose="020B0502040204020203" pitchFamily="34" charset="0"/>
              </a:rPr>
              <a:t>upload, classification, parameter-review (Level 1)</a:t>
            </a:r>
          </a:p>
        </p:txBody>
      </p:sp>
      <p:sp>
        <p:nvSpPr>
          <p:cNvPr id="64" name="Rectangle 63">
            <a:extLst>
              <a:ext uri="{FF2B5EF4-FFF2-40B4-BE49-F238E27FC236}">
                <a16:creationId xmlns:a16="http://schemas.microsoft.com/office/drawing/2014/main" id="{FAE006DD-8025-152E-3982-DFC24CA9030E}"/>
              </a:ext>
            </a:extLst>
          </p:cNvPr>
          <p:cNvSpPr/>
          <p:nvPr/>
        </p:nvSpPr>
        <p:spPr>
          <a:xfrm>
            <a:off x="4749800" y="2578100"/>
            <a:ext cx="50800" cy="50800"/>
          </a:xfrm>
          <a:prstGeom prst="rect">
            <a:avLst/>
          </a:prstGeom>
          <a:solidFill>
            <a:srgbClr val="1E7A1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TextBox 64">
            <a:extLst>
              <a:ext uri="{FF2B5EF4-FFF2-40B4-BE49-F238E27FC236}">
                <a16:creationId xmlns:a16="http://schemas.microsoft.com/office/drawing/2014/main" id="{099D0383-3CDE-2E15-D603-4A21B0EF41FB}"/>
              </a:ext>
            </a:extLst>
          </p:cNvPr>
          <p:cNvSpPr txBox="1"/>
          <p:nvPr/>
        </p:nvSpPr>
        <p:spPr>
          <a:xfrm>
            <a:off x="4851400" y="2514600"/>
            <a:ext cx="4064000" cy="200055"/>
          </a:xfrm>
          <a:prstGeom prst="rect">
            <a:avLst/>
          </a:prstGeom>
          <a:noFill/>
        </p:spPr>
        <p:txBody>
          <a:bodyPr vert="horz" wrap="square" rtlCol="0">
            <a:spAutoFit/>
          </a:bodyPr>
          <a:lstStyle/>
          <a:p>
            <a:r>
              <a:rPr lang="en-US" sz="700">
                <a:solidFill>
                  <a:srgbClr val="CCCCCC"/>
                </a:solidFill>
                <a:latin typeface="Segoe UI" panose="020B0502040204020203" pitchFamily="34" charset="0"/>
              </a:rPr>
              <a:t>device-review (Level 2 cubicles)</a:t>
            </a:r>
          </a:p>
        </p:txBody>
      </p:sp>
      <p:sp>
        <p:nvSpPr>
          <p:cNvPr id="66" name="Rectangle 65">
            <a:extLst>
              <a:ext uri="{FF2B5EF4-FFF2-40B4-BE49-F238E27FC236}">
                <a16:creationId xmlns:a16="http://schemas.microsoft.com/office/drawing/2014/main" id="{A1678501-7BA3-0A29-FA22-50F57009BC0D}"/>
              </a:ext>
            </a:extLst>
          </p:cNvPr>
          <p:cNvSpPr/>
          <p:nvPr/>
        </p:nvSpPr>
        <p:spPr>
          <a:xfrm>
            <a:off x="4749800" y="2794000"/>
            <a:ext cx="50800" cy="50800"/>
          </a:xfrm>
          <a:prstGeom prst="rect">
            <a:avLst/>
          </a:prstGeom>
          <a:solidFill>
            <a:srgbClr val="1E7A1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TextBox 66">
            <a:extLst>
              <a:ext uri="{FF2B5EF4-FFF2-40B4-BE49-F238E27FC236}">
                <a16:creationId xmlns:a16="http://schemas.microsoft.com/office/drawing/2014/main" id="{904277E4-426D-32AC-0A3A-204005DC99B6}"/>
              </a:ext>
            </a:extLst>
          </p:cNvPr>
          <p:cNvSpPr txBox="1"/>
          <p:nvPr/>
        </p:nvSpPr>
        <p:spPr>
          <a:xfrm>
            <a:off x="4851400" y="2730500"/>
            <a:ext cx="4064000" cy="200055"/>
          </a:xfrm>
          <a:prstGeom prst="rect">
            <a:avLst/>
          </a:prstGeom>
          <a:noFill/>
        </p:spPr>
        <p:txBody>
          <a:bodyPr vert="horz" wrap="square" rtlCol="0">
            <a:spAutoFit/>
          </a:bodyPr>
          <a:lstStyle/>
          <a:p>
            <a:r>
              <a:rPr lang="en-US" sz="700">
                <a:solidFill>
                  <a:srgbClr val="CCCCCC"/>
                </a:solidFill>
                <a:latin typeface="Segoe UI" panose="020B0502040204020203" pitchFamily="34" charset="0"/>
              </a:rPr>
              <a:t>product-catalog, lineup-view</a:t>
            </a:r>
          </a:p>
        </p:txBody>
      </p:sp>
      <p:sp>
        <p:nvSpPr>
          <p:cNvPr id="68" name="Rectangle 67">
            <a:extLst>
              <a:ext uri="{FF2B5EF4-FFF2-40B4-BE49-F238E27FC236}">
                <a16:creationId xmlns:a16="http://schemas.microsoft.com/office/drawing/2014/main" id="{FF16DF87-F6DF-DF36-E4D2-2E9469C1FB57}"/>
              </a:ext>
            </a:extLst>
          </p:cNvPr>
          <p:cNvSpPr/>
          <p:nvPr/>
        </p:nvSpPr>
        <p:spPr>
          <a:xfrm>
            <a:off x="4749800" y="3009900"/>
            <a:ext cx="50800" cy="50800"/>
          </a:xfrm>
          <a:prstGeom prst="rect">
            <a:avLst/>
          </a:prstGeom>
          <a:solidFill>
            <a:srgbClr val="1E7A1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TextBox 68">
            <a:extLst>
              <a:ext uri="{FF2B5EF4-FFF2-40B4-BE49-F238E27FC236}">
                <a16:creationId xmlns:a16="http://schemas.microsoft.com/office/drawing/2014/main" id="{FACFD678-828D-545C-056D-8C860F98BF88}"/>
              </a:ext>
            </a:extLst>
          </p:cNvPr>
          <p:cNvSpPr txBox="1"/>
          <p:nvPr/>
        </p:nvSpPr>
        <p:spPr>
          <a:xfrm>
            <a:off x="4851400" y="2946400"/>
            <a:ext cx="4064000" cy="200055"/>
          </a:xfrm>
          <a:prstGeom prst="rect">
            <a:avLst/>
          </a:prstGeom>
          <a:noFill/>
        </p:spPr>
        <p:txBody>
          <a:bodyPr vert="horz" wrap="square" rtlCol="0">
            <a:spAutoFit/>
          </a:bodyPr>
          <a:lstStyle/>
          <a:p>
            <a:r>
              <a:rPr lang="en-US" sz="700">
                <a:solidFill>
                  <a:srgbClr val="CCCCCC"/>
                </a:solidFill>
                <a:latin typeface="Segoe UI" panose="020B0502040204020203" pitchFamily="34" charset="0"/>
              </a:rPr>
              <a:t>deviation-panel, xml-output</a:t>
            </a:r>
          </a:p>
        </p:txBody>
      </p:sp>
    </p:spTree>
    <p:extLst>
      <p:ext uri="{BB962C8B-B14F-4D97-AF65-F5344CB8AC3E}">
        <p14:creationId xmlns:p14="http://schemas.microsoft.com/office/powerpoint/2010/main" val="4220799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70E7245-4837-4117-EA17-615368846096}"/>
              </a:ext>
            </a:extLst>
          </p:cNvPr>
          <p:cNvSpPr/>
          <p:nvPr/>
        </p:nvSpPr>
        <p:spPr>
          <a:xfrm>
            <a:off x="0" y="0"/>
            <a:ext cx="9144000" cy="6858000"/>
          </a:xfrm>
          <a:prstGeom prst="rect">
            <a:avLst/>
          </a:prstGeom>
          <a:solidFill>
            <a:srgbClr val="F0F0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C87EEDF4-36A1-5533-6B77-A4D8480ED0FE}"/>
              </a:ext>
            </a:extLst>
          </p:cNvPr>
          <p:cNvSpPr/>
          <p:nvPr/>
        </p:nvSpPr>
        <p:spPr>
          <a:xfrm>
            <a:off x="0" y="0"/>
            <a:ext cx="9144000" cy="762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A5C0F09-E87D-9AED-8D0B-AD32C2F44C1F}"/>
              </a:ext>
            </a:extLst>
          </p:cNvPr>
          <p:cNvSpPr txBox="1"/>
          <p:nvPr/>
        </p:nvSpPr>
        <p:spPr>
          <a:xfrm>
            <a:off x="254000" y="177800"/>
            <a:ext cx="8636000" cy="400110"/>
          </a:xfrm>
          <a:prstGeom prst="rect">
            <a:avLst/>
          </a:prstGeom>
          <a:noFill/>
        </p:spPr>
        <p:txBody>
          <a:bodyPr vert="horz" wrap="square" rtlCol="0">
            <a:spAutoFit/>
          </a:bodyPr>
          <a:lstStyle/>
          <a:p>
            <a:r>
              <a:rPr lang="en-US" sz="2000" b="1">
                <a:solidFill>
                  <a:srgbClr val="1E1E1E"/>
                </a:solidFill>
                <a:latin typeface="Segoe UI" panose="020B0502040204020203" pitchFamily="34" charset="0"/>
              </a:rPr>
              <a:t>Future Roadmap -- What Can Be Implemented</a:t>
            </a:r>
          </a:p>
        </p:txBody>
      </p:sp>
      <p:sp>
        <p:nvSpPr>
          <p:cNvPr id="5" name="Rectangle 4">
            <a:extLst>
              <a:ext uri="{FF2B5EF4-FFF2-40B4-BE49-F238E27FC236}">
                <a16:creationId xmlns:a16="http://schemas.microsoft.com/office/drawing/2014/main" id="{9815BEF7-9D78-9D45-5B0F-626AE1741EED}"/>
              </a:ext>
            </a:extLst>
          </p:cNvPr>
          <p:cNvSpPr/>
          <p:nvPr/>
        </p:nvSpPr>
        <p:spPr>
          <a:xfrm>
            <a:off x="254000" y="533400"/>
            <a:ext cx="8636000" cy="254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BE69B777-315E-B267-AC3C-E698C957A180}"/>
              </a:ext>
            </a:extLst>
          </p:cNvPr>
          <p:cNvSpPr/>
          <p:nvPr/>
        </p:nvSpPr>
        <p:spPr>
          <a:xfrm>
            <a:off x="254000" y="635000"/>
            <a:ext cx="4318000" cy="2489200"/>
          </a:xfrm>
          <a:prstGeom prst="rect">
            <a:avLst/>
          </a:prstGeom>
          <a:solidFill>
            <a:srgbClr val="FFFFFF"/>
          </a:solidFill>
          <a:ln w="12700">
            <a:solidFill>
              <a:srgbClr val="CCCC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5341905-E8FA-C8F0-BFF9-74236317804D}"/>
              </a:ext>
            </a:extLst>
          </p:cNvPr>
          <p:cNvSpPr/>
          <p:nvPr/>
        </p:nvSpPr>
        <p:spPr>
          <a:xfrm>
            <a:off x="254000" y="635000"/>
            <a:ext cx="4318000" cy="330200"/>
          </a:xfrm>
          <a:prstGeom prst="rect">
            <a:avLst/>
          </a:prstGeom>
          <a:solidFill>
            <a:srgbClr val="8659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CF67757-45C7-7759-81DA-E67E8BEAB148}"/>
              </a:ext>
            </a:extLst>
          </p:cNvPr>
          <p:cNvSpPr txBox="1"/>
          <p:nvPr/>
        </p:nvSpPr>
        <p:spPr>
          <a:xfrm>
            <a:off x="355600" y="635000"/>
            <a:ext cx="4114800" cy="230832"/>
          </a:xfrm>
          <a:prstGeom prst="rect">
            <a:avLst/>
          </a:prstGeom>
          <a:noFill/>
        </p:spPr>
        <p:txBody>
          <a:bodyPr vert="horz" wrap="square" rtlCol="0">
            <a:spAutoFit/>
          </a:bodyPr>
          <a:lstStyle/>
          <a:p>
            <a:r>
              <a:rPr lang="it-IT" sz="900" b="1">
                <a:solidFill>
                  <a:srgbClr val="FFFFFF"/>
                </a:solidFill>
                <a:latin typeface="Segoe UI" panose="020B0502040204020203" pitchFamily="34" charset="0"/>
              </a:rPr>
              <a:t>Phase 2 -- DI Custom Neural Model</a:t>
            </a:r>
            <a:endParaRPr lang="en-US" sz="900" b="1">
              <a:solidFill>
                <a:srgbClr val="FFFFFF"/>
              </a:solidFill>
              <a:latin typeface="Segoe UI" panose="020B0502040204020203" pitchFamily="34" charset="0"/>
            </a:endParaRPr>
          </a:p>
        </p:txBody>
      </p:sp>
      <p:sp>
        <p:nvSpPr>
          <p:cNvPr id="9" name="TextBox 8">
            <a:extLst>
              <a:ext uri="{FF2B5EF4-FFF2-40B4-BE49-F238E27FC236}">
                <a16:creationId xmlns:a16="http://schemas.microsoft.com/office/drawing/2014/main" id="{9FC2C833-5BCC-02F2-1FD9-4CAAF4A4707C}"/>
              </a:ext>
            </a:extLst>
          </p:cNvPr>
          <p:cNvSpPr txBox="1"/>
          <p:nvPr/>
        </p:nvSpPr>
        <p:spPr>
          <a:xfrm>
            <a:off x="355600" y="838200"/>
            <a:ext cx="4114800" cy="200055"/>
          </a:xfrm>
          <a:prstGeom prst="rect">
            <a:avLst/>
          </a:prstGeom>
          <a:noFill/>
        </p:spPr>
        <p:txBody>
          <a:bodyPr vert="horz" wrap="square" rtlCol="0">
            <a:spAutoFit/>
          </a:bodyPr>
          <a:lstStyle/>
          <a:p>
            <a:r>
              <a:rPr lang="en-US" sz="700">
                <a:solidFill>
                  <a:srgbClr val="DDDDDD"/>
                </a:solidFill>
                <a:latin typeface="Segoe UI" panose="020B0502040204020203" pitchFamily="34" charset="0"/>
              </a:rPr>
              <a:t>After 200+ corrections</a:t>
            </a:r>
          </a:p>
        </p:txBody>
      </p:sp>
      <p:sp>
        <p:nvSpPr>
          <p:cNvPr id="10" name="Rectangle 9">
            <a:extLst>
              <a:ext uri="{FF2B5EF4-FFF2-40B4-BE49-F238E27FC236}">
                <a16:creationId xmlns:a16="http://schemas.microsoft.com/office/drawing/2014/main" id="{20A269A1-D281-0A1A-8490-190E087C0D57}"/>
              </a:ext>
            </a:extLst>
          </p:cNvPr>
          <p:cNvSpPr/>
          <p:nvPr/>
        </p:nvSpPr>
        <p:spPr>
          <a:xfrm>
            <a:off x="381000" y="1079500"/>
            <a:ext cx="50800" cy="50800"/>
          </a:xfrm>
          <a:prstGeom prst="rect">
            <a:avLst/>
          </a:prstGeom>
          <a:solidFill>
            <a:srgbClr val="8659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50F46911-1CC3-00F9-A3D7-1EC844409D22}"/>
              </a:ext>
            </a:extLst>
          </p:cNvPr>
          <p:cNvSpPr txBox="1"/>
          <p:nvPr/>
        </p:nvSpPr>
        <p:spPr>
          <a:xfrm>
            <a:off x="482600" y="1016000"/>
            <a:ext cx="3987800" cy="215444"/>
          </a:xfrm>
          <a:prstGeom prst="rect">
            <a:avLst/>
          </a:prstGeom>
          <a:noFill/>
        </p:spPr>
        <p:txBody>
          <a:bodyPr vert="horz" wrap="square" rtlCol="0">
            <a:spAutoFit/>
          </a:bodyPr>
          <a:lstStyle/>
          <a:p>
            <a:r>
              <a:rPr lang="en-US" sz="800">
                <a:solidFill>
                  <a:srgbClr val="3D3D3D"/>
                </a:solidFill>
                <a:latin typeface="Segoe UI" panose="020B0502040204020203" pitchFamily="34" charset="0"/>
              </a:rPr>
              <a:t>Trained on labelled RFQ corpus (50+ docs per template)</a:t>
            </a:r>
          </a:p>
        </p:txBody>
      </p:sp>
      <p:sp>
        <p:nvSpPr>
          <p:cNvPr id="12" name="Rectangle 11">
            <a:extLst>
              <a:ext uri="{FF2B5EF4-FFF2-40B4-BE49-F238E27FC236}">
                <a16:creationId xmlns:a16="http://schemas.microsoft.com/office/drawing/2014/main" id="{69403456-A4A2-9CDE-B72F-4C79F257B6DA}"/>
              </a:ext>
            </a:extLst>
          </p:cNvPr>
          <p:cNvSpPr/>
          <p:nvPr/>
        </p:nvSpPr>
        <p:spPr>
          <a:xfrm>
            <a:off x="381000" y="1435100"/>
            <a:ext cx="50800" cy="50800"/>
          </a:xfrm>
          <a:prstGeom prst="rect">
            <a:avLst/>
          </a:prstGeom>
          <a:solidFill>
            <a:srgbClr val="8659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440C3D9D-218A-4DFF-FE5C-D4FA519BDBD4}"/>
              </a:ext>
            </a:extLst>
          </p:cNvPr>
          <p:cNvSpPr txBox="1"/>
          <p:nvPr/>
        </p:nvSpPr>
        <p:spPr>
          <a:xfrm>
            <a:off x="482600" y="1371600"/>
            <a:ext cx="3987800" cy="215444"/>
          </a:xfrm>
          <a:prstGeom prst="rect">
            <a:avLst/>
          </a:prstGeom>
          <a:noFill/>
        </p:spPr>
        <p:txBody>
          <a:bodyPr vert="horz" wrap="square" rtlCol="0">
            <a:spAutoFit/>
          </a:bodyPr>
          <a:lstStyle/>
          <a:p>
            <a:r>
              <a:rPr lang="en-US" sz="800">
                <a:solidFill>
                  <a:srgbClr val="3D3D3D"/>
                </a:solidFill>
                <a:latin typeface="Segoe UI" panose="020B0502040204020203" pitchFamily="34" charset="0"/>
              </a:rPr>
              <a:t>Level 1 + Level 2 fields in single DI API call</a:t>
            </a:r>
          </a:p>
        </p:txBody>
      </p:sp>
      <p:sp>
        <p:nvSpPr>
          <p:cNvPr id="14" name="Rectangle 13">
            <a:extLst>
              <a:ext uri="{FF2B5EF4-FFF2-40B4-BE49-F238E27FC236}">
                <a16:creationId xmlns:a16="http://schemas.microsoft.com/office/drawing/2014/main" id="{CE81E38A-627E-67AC-A203-7E84D7D9C1ED}"/>
              </a:ext>
            </a:extLst>
          </p:cNvPr>
          <p:cNvSpPr/>
          <p:nvPr/>
        </p:nvSpPr>
        <p:spPr>
          <a:xfrm>
            <a:off x="381000" y="1790700"/>
            <a:ext cx="50800" cy="50800"/>
          </a:xfrm>
          <a:prstGeom prst="rect">
            <a:avLst/>
          </a:prstGeom>
          <a:solidFill>
            <a:srgbClr val="8659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C6CFA82D-CD62-FD5B-7656-7FC445C57B5E}"/>
              </a:ext>
            </a:extLst>
          </p:cNvPr>
          <p:cNvSpPr txBox="1"/>
          <p:nvPr/>
        </p:nvSpPr>
        <p:spPr>
          <a:xfrm>
            <a:off x="482600" y="1727200"/>
            <a:ext cx="3987800" cy="215444"/>
          </a:xfrm>
          <a:prstGeom prst="rect">
            <a:avLst/>
          </a:prstGeom>
          <a:noFill/>
        </p:spPr>
        <p:txBody>
          <a:bodyPr vert="horz" wrap="square" rtlCol="0">
            <a:spAutoFit/>
          </a:bodyPr>
          <a:lstStyle/>
          <a:p>
            <a:r>
              <a:rPr lang="en-US" sz="800">
                <a:solidFill>
                  <a:srgbClr val="3D3D3D"/>
                </a:solidFill>
                <a:latin typeface="Segoe UI" panose="020B0502040204020203" pitchFamily="34" charset="0"/>
              </a:rPr>
              <a:t>Template Registry with first-page text routing rules</a:t>
            </a:r>
          </a:p>
        </p:txBody>
      </p:sp>
      <p:sp>
        <p:nvSpPr>
          <p:cNvPr id="16" name="Rectangle 15">
            <a:extLst>
              <a:ext uri="{FF2B5EF4-FFF2-40B4-BE49-F238E27FC236}">
                <a16:creationId xmlns:a16="http://schemas.microsoft.com/office/drawing/2014/main" id="{44C5F762-A417-D448-FE04-A89C3D9BE165}"/>
              </a:ext>
            </a:extLst>
          </p:cNvPr>
          <p:cNvSpPr/>
          <p:nvPr/>
        </p:nvSpPr>
        <p:spPr>
          <a:xfrm>
            <a:off x="381000" y="2146300"/>
            <a:ext cx="50800" cy="50800"/>
          </a:xfrm>
          <a:prstGeom prst="rect">
            <a:avLst/>
          </a:prstGeom>
          <a:solidFill>
            <a:srgbClr val="8659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8A03A07E-5D52-2B2F-14E2-925FC0A98ADA}"/>
              </a:ext>
            </a:extLst>
          </p:cNvPr>
          <p:cNvSpPr txBox="1"/>
          <p:nvPr/>
        </p:nvSpPr>
        <p:spPr>
          <a:xfrm>
            <a:off x="482600" y="2082800"/>
            <a:ext cx="3987800" cy="215444"/>
          </a:xfrm>
          <a:prstGeom prst="rect">
            <a:avLst/>
          </a:prstGeom>
          <a:noFill/>
        </p:spPr>
        <p:txBody>
          <a:bodyPr vert="horz" wrap="square" rtlCol="0">
            <a:spAutoFit/>
          </a:bodyPr>
          <a:lstStyle/>
          <a:p>
            <a:r>
              <a:rPr lang="en-US" sz="800">
                <a:solidFill>
                  <a:srgbClr val="3D3D3D"/>
                </a:solidFill>
                <a:latin typeface="Segoe UI" panose="020B0502040204020203" pitchFamily="34" charset="0"/>
              </a:rPr>
              <a:t>Confidence &lt; 0.60 triggers automatic Path B fallback</a:t>
            </a:r>
          </a:p>
        </p:txBody>
      </p:sp>
      <p:sp>
        <p:nvSpPr>
          <p:cNvPr id="18" name="Rectangle 17">
            <a:extLst>
              <a:ext uri="{FF2B5EF4-FFF2-40B4-BE49-F238E27FC236}">
                <a16:creationId xmlns:a16="http://schemas.microsoft.com/office/drawing/2014/main" id="{244D0B8B-9010-893B-BDC7-CA3CE96345B5}"/>
              </a:ext>
            </a:extLst>
          </p:cNvPr>
          <p:cNvSpPr/>
          <p:nvPr/>
        </p:nvSpPr>
        <p:spPr>
          <a:xfrm>
            <a:off x="381000" y="2501900"/>
            <a:ext cx="50800" cy="50800"/>
          </a:xfrm>
          <a:prstGeom prst="rect">
            <a:avLst/>
          </a:prstGeom>
          <a:solidFill>
            <a:srgbClr val="8659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61D9FD42-1037-C010-506E-B81C08C51752}"/>
              </a:ext>
            </a:extLst>
          </p:cNvPr>
          <p:cNvSpPr txBox="1"/>
          <p:nvPr/>
        </p:nvSpPr>
        <p:spPr>
          <a:xfrm>
            <a:off x="482600" y="2438400"/>
            <a:ext cx="3987800" cy="215444"/>
          </a:xfrm>
          <a:prstGeom prst="rect">
            <a:avLst/>
          </a:prstGeom>
          <a:noFill/>
        </p:spPr>
        <p:txBody>
          <a:bodyPr vert="horz" wrap="square" rtlCol="0">
            <a:spAutoFit/>
          </a:bodyPr>
          <a:lstStyle/>
          <a:p>
            <a:r>
              <a:rPr lang="en-US" sz="800">
                <a:solidFill>
                  <a:srgbClr val="3D3D3D"/>
                </a:solidFill>
                <a:latin typeface="Segoe UI" panose="020B0502040204020203" pitchFamily="34" charset="0"/>
              </a:rPr>
              <a:t>DI Studio pipeline integrated into correction workflow</a:t>
            </a:r>
          </a:p>
        </p:txBody>
      </p:sp>
      <p:sp>
        <p:nvSpPr>
          <p:cNvPr id="20" name="Rectangle 19">
            <a:extLst>
              <a:ext uri="{FF2B5EF4-FFF2-40B4-BE49-F238E27FC236}">
                <a16:creationId xmlns:a16="http://schemas.microsoft.com/office/drawing/2014/main" id="{B18D4A5C-286B-8D36-E863-2575FFB493C9}"/>
              </a:ext>
            </a:extLst>
          </p:cNvPr>
          <p:cNvSpPr/>
          <p:nvPr/>
        </p:nvSpPr>
        <p:spPr>
          <a:xfrm>
            <a:off x="4724400" y="635000"/>
            <a:ext cx="4318000" cy="2489200"/>
          </a:xfrm>
          <a:prstGeom prst="rect">
            <a:avLst/>
          </a:prstGeom>
          <a:solidFill>
            <a:srgbClr val="FFFFFF"/>
          </a:solidFill>
          <a:ln w="12700">
            <a:solidFill>
              <a:srgbClr val="CCCC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93F5CAF8-39E8-1267-B60A-D7D0BEBFCA39}"/>
              </a:ext>
            </a:extLst>
          </p:cNvPr>
          <p:cNvSpPr/>
          <p:nvPr/>
        </p:nvSpPr>
        <p:spPr>
          <a:xfrm>
            <a:off x="4724400" y="635000"/>
            <a:ext cx="4318000" cy="330200"/>
          </a:xfrm>
          <a:prstGeom prst="rect">
            <a:avLst/>
          </a:prstGeom>
          <a:solidFill>
            <a:srgbClr val="1A3A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DFC4BA15-C152-A1E5-9215-D86017633CE4}"/>
              </a:ext>
            </a:extLst>
          </p:cNvPr>
          <p:cNvSpPr txBox="1"/>
          <p:nvPr/>
        </p:nvSpPr>
        <p:spPr>
          <a:xfrm>
            <a:off x="4826000" y="635000"/>
            <a:ext cx="4114800" cy="230832"/>
          </a:xfrm>
          <a:prstGeom prst="rect">
            <a:avLst/>
          </a:prstGeom>
          <a:noFill/>
        </p:spPr>
        <p:txBody>
          <a:bodyPr vert="horz" wrap="square" rtlCol="0">
            <a:spAutoFit/>
          </a:bodyPr>
          <a:lstStyle/>
          <a:p>
            <a:r>
              <a:rPr lang="en-US" sz="900" b="1">
                <a:solidFill>
                  <a:srgbClr val="FFFFFF"/>
                </a:solidFill>
                <a:latin typeface="Segoe UI" panose="020B0502040204020203" pitchFamily="34" charset="0"/>
              </a:rPr>
              <a:t>Phase 3 -- Fine-tuned LLM</a:t>
            </a:r>
          </a:p>
        </p:txBody>
      </p:sp>
      <p:sp>
        <p:nvSpPr>
          <p:cNvPr id="23" name="TextBox 22">
            <a:extLst>
              <a:ext uri="{FF2B5EF4-FFF2-40B4-BE49-F238E27FC236}">
                <a16:creationId xmlns:a16="http://schemas.microsoft.com/office/drawing/2014/main" id="{07FD0BC2-0912-AF7D-DCCA-E018FA11AB0F}"/>
              </a:ext>
            </a:extLst>
          </p:cNvPr>
          <p:cNvSpPr txBox="1"/>
          <p:nvPr/>
        </p:nvSpPr>
        <p:spPr>
          <a:xfrm>
            <a:off x="4826000" y="838200"/>
            <a:ext cx="4114800" cy="200055"/>
          </a:xfrm>
          <a:prstGeom prst="rect">
            <a:avLst/>
          </a:prstGeom>
          <a:noFill/>
        </p:spPr>
        <p:txBody>
          <a:bodyPr vert="horz" wrap="square" rtlCol="0">
            <a:spAutoFit/>
          </a:bodyPr>
          <a:lstStyle/>
          <a:p>
            <a:r>
              <a:rPr lang="en-US" sz="700">
                <a:solidFill>
                  <a:srgbClr val="DDDDDD"/>
                </a:solidFill>
                <a:latin typeface="Segoe UI" panose="020B0502040204020203" pitchFamily="34" charset="0"/>
              </a:rPr>
              <a:t>After 500+ corrections</a:t>
            </a:r>
          </a:p>
        </p:txBody>
      </p:sp>
      <p:sp>
        <p:nvSpPr>
          <p:cNvPr id="24" name="Rectangle 23">
            <a:extLst>
              <a:ext uri="{FF2B5EF4-FFF2-40B4-BE49-F238E27FC236}">
                <a16:creationId xmlns:a16="http://schemas.microsoft.com/office/drawing/2014/main" id="{907247DE-0B2B-DDC8-AA06-583AAEFECA01}"/>
              </a:ext>
            </a:extLst>
          </p:cNvPr>
          <p:cNvSpPr/>
          <p:nvPr/>
        </p:nvSpPr>
        <p:spPr>
          <a:xfrm>
            <a:off x="4851400" y="1079500"/>
            <a:ext cx="50800" cy="50800"/>
          </a:xfrm>
          <a:prstGeom prst="rect">
            <a:avLst/>
          </a:prstGeom>
          <a:solidFill>
            <a:srgbClr val="1A3A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E56790B0-5AA6-D24D-2495-67195ACA535F}"/>
              </a:ext>
            </a:extLst>
          </p:cNvPr>
          <p:cNvSpPr txBox="1"/>
          <p:nvPr/>
        </p:nvSpPr>
        <p:spPr>
          <a:xfrm>
            <a:off x="4953000" y="1016000"/>
            <a:ext cx="3987800" cy="215444"/>
          </a:xfrm>
          <a:prstGeom prst="rect">
            <a:avLst/>
          </a:prstGeom>
          <a:noFill/>
        </p:spPr>
        <p:txBody>
          <a:bodyPr vert="horz" wrap="square" rtlCol="0">
            <a:spAutoFit/>
          </a:bodyPr>
          <a:lstStyle/>
          <a:p>
            <a:r>
              <a:rPr lang="en-US" sz="800">
                <a:solidFill>
                  <a:srgbClr val="3D3D3D"/>
                </a:solidFill>
                <a:latin typeface="Segoe UI" panose="020B0502040204020203" pitchFamily="34" charset="0"/>
              </a:rPr>
              <a:t>Fine-tune gpt-4o-mini on switchgear domain documents</a:t>
            </a:r>
          </a:p>
        </p:txBody>
      </p:sp>
      <p:sp>
        <p:nvSpPr>
          <p:cNvPr id="26" name="Rectangle 25">
            <a:extLst>
              <a:ext uri="{FF2B5EF4-FFF2-40B4-BE49-F238E27FC236}">
                <a16:creationId xmlns:a16="http://schemas.microsoft.com/office/drawing/2014/main" id="{9D5818E3-ED4C-7005-900C-BBB76D182ECD}"/>
              </a:ext>
            </a:extLst>
          </p:cNvPr>
          <p:cNvSpPr/>
          <p:nvPr/>
        </p:nvSpPr>
        <p:spPr>
          <a:xfrm>
            <a:off x="4851400" y="1435100"/>
            <a:ext cx="50800" cy="50800"/>
          </a:xfrm>
          <a:prstGeom prst="rect">
            <a:avLst/>
          </a:prstGeom>
          <a:solidFill>
            <a:srgbClr val="1A3A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6DD656EF-124A-7967-076A-C5C21E8454BD}"/>
              </a:ext>
            </a:extLst>
          </p:cNvPr>
          <p:cNvSpPr txBox="1"/>
          <p:nvPr/>
        </p:nvSpPr>
        <p:spPr>
          <a:xfrm>
            <a:off x="4953000" y="1371600"/>
            <a:ext cx="3987800" cy="215444"/>
          </a:xfrm>
          <a:prstGeom prst="rect">
            <a:avLst/>
          </a:prstGeom>
          <a:noFill/>
        </p:spPr>
        <p:txBody>
          <a:bodyPr vert="horz" wrap="square" rtlCol="0">
            <a:spAutoFit/>
          </a:bodyPr>
          <a:lstStyle/>
          <a:p>
            <a:r>
              <a:rPr lang="en-US" sz="800">
                <a:solidFill>
                  <a:srgbClr val="3D3D3D"/>
                </a:solidFill>
                <a:latin typeface="Segoe UI" panose="020B0502040204020203" pitchFamily="34" charset="0"/>
              </a:rPr>
              <a:t>Custom model understands IEC abbreviations natively</a:t>
            </a:r>
          </a:p>
        </p:txBody>
      </p:sp>
      <p:sp>
        <p:nvSpPr>
          <p:cNvPr id="28" name="Rectangle 27">
            <a:extLst>
              <a:ext uri="{FF2B5EF4-FFF2-40B4-BE49-F238E27FC236}">
                <a16:creationId xmlns:a16="http://schemas.microsoft.com/office/drawing/2014/main" id="{B3452BBF-2C55-C85D-5029-B98EF9F1FF80}"/>
              </a:ext>
            </a:extLst>
          </p:cNvPr>
          <p:cNvSpPr/>
          <p:nvPr/>
        </p:nvSpPr>
        <p:spPr>
          <a:xfrm>
            <a:off x="4851400" y="1790700"/>
            <a:ext cx="50800" cy="50800"/>
          </a:xfrm>
          <a:prstGeom prst="rect">
            <a:avLst/>
          </a:prstGeom>
          <a:solidFill>
            <a:srgbClr val="1A3A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0990FC58-C0AE-244C-97D7-CD1A2A98CECC}"/>
              </a:ext>
            </a:extLst>
          </p:cNvPr>
          <p:cNvSpPr txBox="1"/>
          <p:nvPr/>
        </p:nvSpPr>
        <p:spPr>
          <a:xfrm>
            <a:off x="4953000" y="1727200"/>
            <a:ext cx="3987800" cy="215444"/>
          </a:xfrm>
          <a:prstGeom prst="rect">
            <a:avLst/>
          </a:prstGeom>
          <a:noFill/>
        </p:spPr>
        <p:txBody>
          <a:bodyPr vert="horz" wrap="square" rtlCol="0">
            <a:spAutoFit/>
          </a:bodyPr>
          <a:lstStyle/>
          <a:p>
            <a:r>
              <a:rPr lang="en-US" sz="800">
                <a:solidFill>
                  <a:srgbClr val="3D3D3D"/>
                </a:solidFill>
                <a:latin typeface="Segoe UI" panose="020B0502040204020203" pitchFamily="34" charset="0"/>
              </a:rPr>
              <a:t>Reduced hallucination on non-standard parameter formats</a:t>
            </a:r>
          </a:p>
        </p:txBody>
      </p:sp>
      <p:sp>
        <p:nvSpPr>
          <p:cNvPr id="30" name="Rectangle 29">
            <a:extLst>
              <a:ext uri="{FF2B5EF4-FFF2-40B4-BE49-F238E27FC236}">
                <a16:creationId xmlns:a16="http://schemas.microsoft.com/office/drawing/2014/main" id="{ADFC6160-DE49-05A4-9FA3-E976AAAFB2A8}"/>
              </a:ext>
            </a:extLst>
          </p:cNvPr>
          <p:cNvSpPr/>
          <p:nvPr/>
        </p:nvSpPr>
        <p:spPr>
          <a:xfrm>
            <a:off x="4851400" y="2146300"/>
            <a:ext cx="50800" cy="50800"/>
          </a:xfrm>
          <a:prstGeom prst="rect">
            <a:avLst/>
          </a:prstGeom>
          <a:solidFill>
            <a:srgbClr val="1A3A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D5ED207A-32C6-1F2F-3A53-E874BD9B6C03}"/>
              </a:ext>
            </a:extLst>
          </p:cNvPr>
          <p:cNvSpPr txBox="1"/>
          <p:nvPr/>
        </p:nvSpPr>
        <p:spPr>
          <a:xfrm>
            <a:off x="4953000" y="2082800"/>
            <a:ext cx="3987800" cy="215444"/>
          </a:xfrm>
          <a:prstGeom prst="rect">
            <a:avLst/>
          </a:prstGeom>
          <a:noFill/>
        </p:spPr>
        <p:txBody>
          <a:bodyPr vert="horz" wrap="square" rtlCol="0">
            <a:spAutoFit/>
          </a:bodyPr>
          <a:lstStyle/>
          <a:p>
            <a:r>
              <a:rPr lang="en-US" sz="800">
                <a:solidFill>
                  <a:srgbClr val="3D3D3D"/>
                </a:solidFill>
                <a:latin typeface="Segoe UI" panose="020B0502040204020203" pitchFamily="34" charset="0"/>
              </a:rPr>
              <a:t>Domain-adapted embeddings for improved RAG precision</a:t>
            </a:r>
          </a:p>
        </p:txBody>
      </p:sp>
      <p:sp>
        <p:nvSpPr>
          <p:cNvPr id="32" name="Rectangle 31">
            <a:extLst>
              <a:ext uri="{FF2B5EF4-FFF2-40B4-BE49-F238E27FC236}">
                <a16:creationId xmlns:a16="http://schemas.microsoft.com/office/drawing/2014/main" id="{93A4510D-73FD-B077-0086-05DF83012299}"/>
              </a:ext>
            </a:extLst>
          </p:cNvPr>
          <p:cNvSpPr/>
          <p:nvPr/>
        </p:nvSpPr>
        <p:spPr>
          <a:xfrm>
            <a:off x="4851400" y="2501900"/>
            <a:ext cx="50800" cy="50800"/>
          </a:xfrm>
          <a:prstGeom prst="rect">
            <a:avLst/>
          </a:prstGeom>
          <a:solidFill>
            <a:srgbClr val="1A3A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B9DEF7EE-5461-E441-90AB-5F063D7EF400}"/>
              </a:ext>
            </a:extLst>
          </p:cNvPr>
          <p:cNvSpPr txBox="1"/>
          <p:nvPr/>
        </p:nvSpPr>
        <p:spPr>
          <a:xfrm>
            <a:off x="4953000" y="2438400"/>
            <a:ext cx="3987800" cy="215444"/>
          </a:xfrm>
          <a:prstGeom prst="rect">
            <a:avLst/>
          </a:prstGeom>
          <a:noFill/>
        </p:spPr>
        <p:txBody>
          <a:bodyPr vert="horz" wrap="square" rtlCol="0">
            <a:spAutoFit/>
          </a:bodyPr>
          <a:lstStyle/>
          <a:p>
            <a:r>
              <a:rPr lang="en-US" sz="800">
                <a:solidFill>
                  <a:srgbClr val="3D3D3D"/>
                </a:solidFill>
                <a:latin typeface="Segoe UI" panose="020B0502040204020203" pitchFamily="34" charset="0"/>
              </a:rPr>
              <a:t>Automatic parameter unit normalisation (kV vs V vs p.u.)</a:t>
            </a:r>
          </a:p>
        </p:txBody>
      </p:sp>
      <p:sp>
        <p:nvSpPr>
          <p:cNvPr id="34" name="Rectangle 33">
            <a:extLst>
              <a:ext uri="{FF2B5EF4-FFF2-40B4-BE49-F238E27FC236}">
                <a16:creationId xmlns:a16="http://schemas.microsoft.com/office/drawing/2014/main" id="{8414C1EE-3EA9-1EF6-8AF3-564F35272A5C}"/>
              </a:ext>
            </a:extLst>
          </p:cNvPr>
          <p:cNvSpPr/>
          <p:nvPr/>
        </p:nvSpPr>
        <p:spPr>
          <a:xfrm>
            <a:off x="254000" y="3200400"/>
            <a:ext cx="4318000" cy="2489200"/>
          </a:xfrm>
          <a:prstGeom prst="rect">
            <a:avLst/>
          </a:prstGeom>
          <a:solidFill>
            <a:srgbClr val="FFFFFF"/>
          </a:solidFill>
          <a:ln w="12700">
            <a:solidFill>
              <a:srgbClr val="CCCC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7CDBCFC9-2F44-3B75-91B1-5947B75A4653}"/>
              </a:ext>
            </a:extLst>
          </p:cNvPr>
          <p:cNvSpPr/>
          <p:nvPr/>
        </p:nvSpPr>
        <p:spPr>
          <a:xfrm>
            <a:off x="254000" y="3200400"/>
            <a:ext cx="4318000" cy="330200"/>
          </a:xfrm>
          <a:prstGeom prst="rect">
            <a:avLst/>
          </a:prstGeom>
          <a:solidFill>
            <a:srgbClr val="001A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0CFB7FFE-657B-2EA9-E5BA-2EC6979F96E3}"/>
              </a:ext>
            </a:extLst>
          </p:cNvPr>
          <p:cNvSpPr txBox="1"/>
          <p:nvPr/>
        </p:nvSpPr>
        <p:spPr>
          <a:xfrm>
            <a:off x="355600" y="3200400"/>
            <a:ext cx="4114800" cy="230832"/>
          </a:xfrm>
          <a:prstGeom prst="rect">
            <a:avLst/>
          </a:prstGeom>
          <a:noFill/>
        </p:spPr>
        <p:txBody>
          <a:bodyPr vert="horz" wrap="square" rtlCol="0">
            <a:spAutoFit/>
          </a:bodyPr>
          <a:lstStyle/>
          <a:p>
            <a:r>
              <a:rPr lang="en-US" sz="900" b="1">
                <a:solidFill>
                  <a:srgbClr val="FFFFFF"/>
                </a:solidFill>
                <a:latin typeface="Segoe UI" panose="020B0502040204020203" pitchFamily="34" charset="0"/>
              </a:rPr>
              <a:t>Phase 4 -- Active Learning Loop</a:t>
            </a:r>
          </a:p>
        </p:txBody>
      </p:sp>
      <p:sp>
        <p:nvSpPr>
          <p:cNvPr id="37" name="TextBox 36">
            <a:extLst>
              <a:ext uri="{FF2B5EF4-FFF2-40B4-BE49-F238E27FC236}">
                <a16:creationId xmlns:a16="http://schemas.microsoft.com/office/drawing/2014/main" id="{6DFBD2B2-84A9-129D-A8D2-26B91D89742A}"/>
              </a:ext>
            </a:extLst>
          </p:cNvPr>
          <p:cNvSpPr txBox="1"/>
          <p:nvPr/>
        </p:nvSpPr>
        <p:spPr>
          <a:xfrm>
            <a:off x="355600" y="3403600"/>
            <a:ext cx="4114800" cy="200055"/>
          </a:xfrm>
          <a:prstGeom prst="rect">
            <a:avLst/>
          </a:prstGeom>
          <a:noFill/>
        </p:spPr>
        <p:txBody>
          <a:bodyPr vert="horz" wrap="square" rtlCol="0">
            <a:spAutoFit/>
          </a:bodyPr>
          <a:lstStyle/>
          <a:p>
            <a:r>
              <a:rPr lang="en-US" sz="700">
                <a:solidFill>
                  <a:srgbClr val="DDDDDD"/>
                </a:solidFill>
                <a:latin typeface="Segoe UI" panose="020B0502040204020203" pitchFamily="34" charset="0"/>
              </a:rPr>
              <a:t>After 1000+ corrections</a:t>
            </a:r>
          </a:p>
        </p:txBody>
      </p:sp>
      <p:sp>
        <p:nvSpPr>
          <p:cNvPr id="38" name="Rectangle 37">
            <a:extLst>
              <a:ext uri="{FF2B5EF4-FFF2-40B4-BE49-F238E27FC236}">
                <a16:creationId xmlns:a16="http://schemas.microsoft.com/office/drawing/2014/main" id="{3F3F2A58-1E8B-E1A0-B32A-432BCB44F034}"/>
              </a:ext>
            </a:extLst>
          </p:cNvPr>
          <p:cNvSpPr/>
          <p:nvPr/>
        </p:nvSpPr>
        <p:spPr>
          <a:xfrm>
            <a:off x="381000" y="3644900"/>
            <a:ext cx="50800" cy="50800"/>
          </a:xfrm>
          <a:prstGeom prst="rect">
            <a:avLst/>
          </a:prstGeom>
          <a:solidFill>
            <a:srgbClr val="001A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8A1EDF31-E155-04C7-3A5C-8330238CA20F}"/>
              </a:ext>
            </a:extLst>
          </p:cNvPr>
          <p:cNvSpPr txBox="1"/>
          <p:nvPr/>
        </p:nvSpPr>
        <p:spPr>
          <a:xfrm>
            <a:off x="482600" y="3581400"/>
            <a:ext cx="3987800" cy="215444"/>
          </a:xfrm>
          <a:prstGeom prst="rect">
            <a:avLst/>
          </a:prstGeom>
          <a:noFill/>
        </p:spPr>
        <p:txBody>
          <a:bodyPr vert="horz" wrap="square" rtlCol="0">
            <a:spAutoFit/>
          </a:bodyPr>
          <a:lstStyle/>
          <a:p>
            <a:r>
              <a:rPr lang="en-US" sz="800">
                <a:solidFill>
                  <a:srgbClr val="3D3D3D"/>
                </a:solidFill>
                <a:latin typeface="Segoe UI" panose="020B0502040204020203" pitchFamily="34" charset="0"/>
              </a:rPr>
              <a:t>Full active learning loop -- model improves from corrections</a:t>
            </a:r>
          </a:p>
        </p:txBody>
      </p:sp>
      <p:sp>
        <p:nvSpPr>
          <p:cNvPr id="40" name="Rectangle 39">
            <a:extLst>
              <a:ext uri="{FF2B5EF4-FFF2-40B4-BE49-F238E27FC236}">
                <a16:creationId xmlns:a16="http://schemas.microsoft.com/office/drawing/2014/main" id="{AD288810-B56B-E491-94EF-AC1B0188337A}"/>
              </a:ext>
            </a:extLst>
          </p:cNvPr>
          <p:cNvSpPr/>
          <p:nvPr/>
        </p:nvSpPr>
        <p:spPr>
          <a:xfrm>
            <a:off x="381000" y="4000500"/>
            <a:ext cx="50800" cy="50800"/>
          </a:xfrm>
          <a:prstGeom prst="rect">
            <a:avLst/>
          </a:prstGeom>
          <a:solidFill>
            <a:srgbClr val="001A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80289EF3-75F0-33D8-AF1D-09D7B4A36298}"/>
              </a:ext>
            </a:extLst>
          </p:cNvPr>
          <p:cNvSpPr txBox="1"/>
          <p:nvPr/>
        </p:nvSpPr>
        <p:spPr>
          <a:xfrm>
            <a:off x="482600" y="3937000"/>
            <a:ext cx="3987800" cy="215444"/>
          </a:xfrm>
          <a:prstGeom prst="rect">
            <a:avLst/>
          </a:prstGeom>
          <a:noFill/>
        </p:spPr>
        <p:txBody>
          <a:bodyPr vert="horz" wrap="square" rtlCol="0">
            <a:spAutoFit/>
          </a:bodyPr>
          <a:lstStyle/>
          <a:p>
            <a:r>
              <a:rPr lang="en-US" sz="800">
                <a:solidFill>
                  <a:srgbClr val="3D3D3D"/>
                </a:solidFill>
                <a:latin typeface="Segoe UI" panose="020B0502040204020203" pitchFamily="34" charset="0"/>
              </a:rPr>
              <a:t>Engineer corrections feed back as training examples</a:t>
            </a:r>
          </a:p>
        </p:txBody>
      </p:sp>
      <p:sp>
        <p:nvSpPr>
          <p:cNvPr id="42" name="Rectangle 41">
            <a:extLst>
              <a:ext uri="{FF2B5EF4-FFF2-40B4-BE49-F238E27FC236}">
                <a16:creationId xmlns:a16="http://schemas.microsoft.com/office/drawing/2014/main" id="{BC409CC8-2D84-8CE0-3D61-F311A58F090C}"/>
              </a:ext>
            </a:extLst>
          </p:cNvPr>
          <p:cNvSpPr/>
          <p:nvPr/>
        </p:nvSpPr>
        <p:spPr>
          <a:xfrm>
            <a:off x="381000" y="4356100"/>
            <a:ext cx="50800" cy="50800"/>
          </a:xfrm>
          <a:prstGeom prst="rect">
            <a:avLst/>
          </a:prstGeom>
          <a:solidFill>
            <a:srgbClr val="001A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8DB01251-A08A-5330-77A0-D5E21838AF76}"/>
              </a:ext>
            </a:extLst>
          </p:cNvPr>
          <p:cNvSpPr txBox="1"/>
          <p:nvPr/>
        </p:nvSpPr>
        <p:spPr>
          <a:xfrm>
            <a:off x="482600" y="4292600"/>
            <a:ext cx="3987800" cy="215444"/>
          </a:xfrm>
          <a:prstGeom prst="rect">
            <a:avLst/>
          </a:prstGeom>
          <a:noFill/>
        </p:spPr>
        <p:txBody>
          <a:bodyPr vert="horz" wrap="square" rtlCol="0">
            <a:spAutoFit/>
          </a:bodyPr>
          <a:lstStyle/>
          <a:p>
            <a:r>
              <a:rPr lang="en-US" sz="800">
                <a:solidFill>
                  <a:srgbClr val="3D3D3D"/>
                </a:solidFill>
                <a:latin typeface="Segoe UI" panose="020B0502040204020203" pitchFamily="34" charset="0"/>
              </a:rPr>
              <a:t>Predicted missing parameters via cross-doc pattern learning</a:t>
            </a:r>
          </a:p>
        </p:txBody>
      </p:sp>
      <p:sp>
        <p:nvSpPr>
          <p:cNvPr id="44" name="Rectangle 43">
            <a:extLst>
              <a:ext uri="{FF2B5EF4-FFF2-40B4-BE49-F238E27FC236}">
                <a16:creationId xmlns:a16="http://schemas.microsoft.com/office/drawing/2014/main" id="{4B8EF754-856E-BB13-DD7E-2B7F31D2CC92}"/>
              </a:ext>
            </a:extLst>
          </p:cNvPr>
          <p:cNvSpPr/>
          <p:nvPr/>
        </p:nvSpPr>
        <p:spPr>
          <a:xfrm>
            <a:off x="381000" y="4711700"/>
            <a:ext cx="50800" cy="50800"/>
          </a:xfrm>
          <a:prstGeom prst="rect">
            <a:avLst/>
          </a:prstGeom>
          <a:solidFill>
            <a:srgbClr val="001A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94886937-0293-50E4-3A39-490EFC7A7440}"/>
              </a:ext>
            </a:extLst>
          </p:cNvPr>
          <p:cNvSpPr txBox="1"/>
          <p:nvPr/>
        </p:nvSpPr>
        <p:spPr>
          <a:xfrm>
            <a:off x="482600" y="4648200"/>
            <a:ext cx="3987800" cy="215444"/>
          </a:xfrm>
          <a:prstGeom prst="rect">
            <a:avLst/>
          </a:prstGeom>
          <a:noFill/>
        </p:spPr>
        <p:txBody>
          <a:bodyPr vert="horz" wrap="square" rtlCol="0">
            <a:spAutoFit/>
          </a:bodyPr>
          <a:lstStyle/>
          <a:p>
            <a:r>
              <a:rPr lang="en-US" sz="800">
                <a:solidFill>
                  <a:srgbClr val="3D3D3D"/>
                </a:solidFill>
                <a:latin typeface="Segoe UI" panose="020B0502040204020203" pitchFamily="34" charset="0"/>
              </a:rPr>
              <a:t>Auto-suggest SLD topology corrections (IEC 60076 rules)</a:t>
            </a:r>
          </a:p>
        </p:txBody>
      </p:sp>
      <p:sp>
        <p:nvSpPr>
          <p:cNvPr id="46" name="Rectangle 45">
            <a:extLst>
              <a:ext uri="{FF2B5EF4-FFF2-40B4-BE49-F238E27FC236}">
                <a16:creationId xmlns:a16="http://schemas.microsoft.com/office/drawing/2014/main" id="{0CA43DD0-1245-C7FC-005C-E4E1A3AAD69D}"/>
              </a:ext>
            </a:extLst>
          </p:cNvPr>
          <p:cNvSpPr/>
          <p:nvPr/>
        </p:nvSpPr>
        <p:spPr>
          <a:xfrm>
            <a:off x="381000" y="5067300"/>
            <a:ext cx="50800" cy="50800"/>
          </a:xfrm>
          <a:prstGeom prst="rect">
            <a:avLst/>
          </a:prstGeom>
          <a:solidFill>
            <a:srgbClr val="001A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24D13974-FAFB-3936-C7A6-FEB8CAD934AD}"/>
              </a:ext>
            </a:extLst>
          </p:cNvPr>
          <p:cNvSpPr txBox="1"/>
          <p:nvPr/>
        </p:nvSpPr>
        <p:spPr>
          <a:xfrm>
            <a:off x="482600" y="5003800"/>
            <a:ext cx="3987800" cy="215444"/>
          </a:xfrm>
          <a:prstGeom prst="rect">
            <a:avLst/>
          </a:prstGeom>
          <a:noFill/>
        </p:spPr>
        <p:txBody>
          <a:bodyPr vert="horz" wrap="square" rtlCol="0">
            <a:spAutoFit/>
          </a:bodyPr>
          <a:lstStyle/>
          <a:p>
            <a:r>
              <a:rPr lang="en-US" sz="800">
                <a:solidFill>
                  <a:srgbClr val="3D3D3D"/>
                </a:solidFill>
                <a:latin typeface="Segoe UI" panose="020B0502040204020203" pitchFamily="34" charset="0"/>
              </a:rPr>
              <a:t>Multi-document: compare RFQ vs vendor drawings vs specs</a:t>
            </a:r>
          </a:p>
        </p:txBody>
      </p:sp>
      <p:sp>
        <p:nvSpPr>
          <p:cNvPr id="48" name="Rectangle 47">
            <a:extLst>
              <a:ext uri="{FF2B5EF4-FFF2-40B4-BE49-F238E27FC236}">
                <a16:creationId xmlns:a16="http://schemas.microsoft.com/office/drawing/2014/main" id="{32802323-6B99-28C4-25E3-CDF36C9245DE}"/>
              </a:ext>
            </a:extLst>
          </p:cNvPr>
          <p:cNvSpPr/>
          <p:nvPr/>
        </p:nvSpPr>
        <p:spPr>
          <a:xfrm>
            <a:off x="4724400" y="3200400"/>
            <a:ext cx="4318000" cy="2489200"/>
          </a:xfrm>
          <a:prstGeom prst="rect">
            <a:avLst/>
          </a:prstGeom>
          <a:solidFill>
            <a:srgbClr val="FFFFFF"/>
          </a:solidFill>
          <a:ln w="12700">
            <a:solidFill>
              <a:srgbClr val="CCCC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0E2273BF-7FA0-347D-8CC8-E3F5FF7327B8}"/>
              </a:ext>
            </a:extLst>
          </p:cNvPr>
          <p:cNvSpPr/>
          <p:nvPr/>
        </p:nvSpPr>
        <p:spPr>
          <a:xfrm>
            <a:off x="4724400" y="3200400"/>
            <a:ext cx="4318000" cy="330200"/>
          </a:xfrm>
          <a:prstGeom prst="rect">
            <a:avLst/>
          </a:prstGeom>
          <a:solidFill>
            <a:srgbClr val="3A00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D85985AF-0395-9537-6331-7483FB7C4FDE}"/>
              </a:ext>
            </a:extLst>
          </p:cNvPr>
          <p:cNvSpPr txBox="1"/>
          <p:nvPr/>
        </p:nvSpPr>
        <p:spPr>
          <a:xfrm>
            <a:off x="4826000" y="3200400"/>
            <a:ext cx="4114800" cy="230832"/>
          </a:xfrm>
          <a:prstGeom prst="rect">
            <a:avLst/>
          </a:prstGeom>
          <a:noFill/>
        </p:spPr>
        <p:txBody>
          <a:bodyPr vert="horz" wrap="square" rtlCol="0">
            <a:spAutoFit/>
          </a:bodyPr>
          <a:lstStyle/>
          <a:p>
            <a:r>
              <a:rPr lang="en-US" sz="900" b="1">
                <a:solidFill>
                  <a:srgbClr val="FFFFFF"/>
                </a:solidFill>
                <a:latin typeface="Segoe UI" panose="020B0502040204020203" pitchFamily="34" charset="0"/>
              </a:rPr>
              <a:t>Near-Term Enhancements (Next Sprint)</a:t>
            </a:r>
          </a:p>
        </p:txBody>
      </p:sp>
      <p:sp>
        <p:nvSpPr>
          <p:cNvPr id="51" name="TextBox 50">
            <a:extLst>
              <a:ext uri="{FF2B5EF4-FFF2-40B4-BE49-F238E27FC236}">
                <a16:creationId xmlns:a16="http://schemas.microsoft.com/office/drawing/2014/main" id="{EFF498AC-50FB-78B1-847E-E4BAFFB0C493}"/>
              </a:ext>
            </a:extLst>
          </p:cNvPr>
          <p:cNvSpPr txBox="1"/>
          <p:nvPr/>
        </p:nvSpPr>
        <p:spPr>
          <a:xfrm>
            <a:off x="4826000" y="3403600"/>
            <a:ext cx="4114800" cy="200055"/>
          </a:xfrm>
          <a:prstGeom prst="rect">
            <a:avLst/>
          </a:prstGeom>
          <a:noFill/>
        </p:spPr>
        <p:txBody>
          <a:bodyPr vert="horz" wrap="square" rtlCol="0">
            <a:spAutoFit/>
          </a:bodyPr>
          <a:lstStyle/>
          <a:p>
            <a:r>
              <a:rPr lang="en-US" sz="700">
                <a:solidFill>
                  <a:srgbClr val="DDDDDD"/>
                </a:solidFill>
                <a:latin typeface="Segoe UI" panose="020B0502040204020203" pitchFamily="34" charset="0"/>
              </a:rPr>
              <a:t>Sprint 2</a:t>
            </a:r>
          </a:p>
        </p:txBody>
      </p:sp>
      <p:sp>
        <p:nvSpPr>
          <p:cNvPr id="52" name="Rectangle 51">
            <a:extLst>
              <a:ext uri="{FF2B5EF4-FFF2-40B4-BE49-F238E27FC236}">
                <a16:creationId xmlns:a16="http://schemas.microsoft.com/office/drawing/2014/main" id="{64B42795-F169-01BB-9371-10EE3A09B5F7}"/>
              </a:ext>
            </a:extLst>
          </p:cNvPr>
          <p:cNvSpPr/>
          <p:nvPr/>
        </p:nvSpPr>
        <p:spPr>
          <a:xfrm>
            <a:off x="4851400" y="3644900"/>
            <a:ext cx="50800" cy="50800"/>
          </a:xfrm>
          <a:prstGeom prst="rect">
            <a:avLst/>
          </a:prstGeom>
          <a:solidFill>
            <a:srgbClr val="3A00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ED71115E-4DCF-777F-7E68-7186A1F8CEC4}"/>
              </a:ext>
            </a:extLst>
          </p:cNvPr>
          <p:cNvSpPr txBox="1"/>
          <p:nvPr/>
        </p:nvSpPr>
        <p:spPr>
          <a:xfrm>
            <a:off x="4953000" y="3581400"/>
            <a:ext cx="3987800" cy="215444"/>
          </a:xfrm>
          <a:prstGeom prst="rect">
            <a:avLst/>
          </a:prstGeom>
          <a:noFill/>
        </p:spPr>
        <p:txBody>
          <a:bodyPr vert="horz" wrap="square" rtlCol="0">
            <a:spAutoFit/>
          </a:bodyPr>
          <a:lstStyle/>
          <a:p>
            <a:r>
              <a:rPr lang="en-US" sz="800">
                <a:solidFill>
                  <a:srgbClr val="3D3D3D"/>
                </a:solidFill>
                <a:latin typeface="Segoe UI" panose="020B0502040204020203" pitchFamily="34" charset="0"/>
              </a:rPr>
              <a:t>WebSocket live status updates (replace polling /status)</a:t>
            </a:r>
          </a:p>
        </p:txBody>
      </p:sp>
      <p:sp>
        <p:nvSpPr>
          <p:cNvPr id="54" name="Rectangle 53">
            <a:extLst>
              <a:ext uri="{FF2B5EF4-FFF2-40B4-BE49-F238E27FC236}">
                <a16:creationId xmlns:a16="http://schemas.microsoft.com/office/drawing/2014/main" id="{F8414D19-F56E-F474-D8D5-D9AC5221A3C8}"/>
              </a:ext>
            </a:extLst>
          </p:cNvPr>
          <p:cNvSpPr/>
          <p:nvPr/>
        </p:nvSpPr>
        <p:spPr>
          <a:xfrm>
            <a:off x="4851400" y="4000500"/>
            <a:ext cx="50800" cy="50800"/>
          </a:xfrm>
          <a:prstGeom prst="rect">
            <a:avLst/>
          </a:prstGeom>
          <a:solidFill>
            <a:srgbClr val="3A00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AF523D63-C0E7-3E68-CEF4-3AF17B0EB360}"/>
              </a:ext>
            </a:extLst>
          </p:cNvPr>
          <p:cNvSpPr txBox="1"/>
          <p:nvPr/>
        </p:nvSpPr>
        <p:spPr>
          <a:xfrm>
            <a:off x="4953000" y="3937000"/>
            <a:ext cx="3987800" cy="215444"/>
          </a:xfrm>
          <a:prstGeom prst="rect">
            <a:avLst/>
          </a:prstGeom>
          <a:noFill/>
        </p:spPr>
        <p:txBody>
          <a:bodyPr vert="horz" wrap="square" rtlCol="0">
            <a:spAutoFit/>
          </a:bodyPr>
          <a:lstStyle/>
          <a:p>
            <a:r>
              <a:rPr lang="en-US" sz="800">
                <a:solidFill>
                  <a:srgbClr val="3D3D3D"/>
                </a:solidFill>
                <a:latin typeface="Segoe UI" panose="020B0502040204020203" pitchFamily="34" charset="0"/>
              </a:rPr>
              <a:t>Azure Blob Storage for document persistence across sessions</a:t>
            </a:r>
          </a:p>
        </p:txBody>
      </p:sp>
      <p:sp>
        <p:nvSpPr>
          <p:cNvPr id="56" name="Rectangle 55">
            <a:extLst>
              <a:ext uri="{FF2B5EF4-FFF2-40B4-BE49-F238E27FC236}">
                <a16:creationId xmlns:a16="http://schemas.microsoft.com/office/drawing/2014/main" id="{9320792B-B5CA-9DC1-8282-E17D482403D2}"/>
              </a:ext>
            </a:extLst>
          </p:cNvPr>
          <p:cNvSpPr/>
          <p:nvPr/>
        </p:nvSpPr>
        <p:spPr>
          <a:xfrm>
            <a:off x="4851400" y="4356100"/>
            <a:ext cx="50800" cy="50800"/>
          </a:xfrm>
          <a:prstGeom prst="rect">
            <a:avLst/>
          </a:prstGeom>
          <a:solidFill>
            <a:srgbClr val="3A00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TextBox 56">
            <a:extLst>
              <a:ext uri="{FF2B5EF4-FFF2-40B4-BE49-F238E27FC236}">
                <a16:creationId xmlns:a16="http://schemas.microsoft.com/office/drawing/2014/main" id="{20A35A2D-E317-625F-999A-9D2A9461EA58}"/>
              </a:ext>
            </a:extLst>
          </p:cNvPr>
          <p:cNvSpPr txBox="1"/>
          <p:nvPr/>
        </p:nvSpPr>
        <p:spPr>
          <a:xfrm>
            <a:off x="4953000" y="4292600"/>
            <a:ext cx="3987800" cy="215444"/>
          </a:xfrm>
          <a:prstGeom prst="rect">
            <a:avLst/>
          </a:prstGeom>
          <a:noFill/>
        </p:spPr>
        <p:txBody>
          <a:bodyPr vert="horz" wrap="square" rtlCol="0">
            <a:spAutoFit/>
          </a:bodyPr>
          <a:lstStyle/>
          <a:p>
            <a:r>
              <a:rPr lang="en-US" sz="800">
                <a:solidFill>
                  <a:srgbClr val="3D3D3D"/>
                </a:solidFill>
                <a:latin typeface="Segoe UI" panose="020B0502040204020203" pitchFamily="34" charset="0"/>
              </a:rPr>
              <a:t>PDF annotation viewer -- highlight source text per param</a:t>
            </a:r>
          </a:p>
        </p:txBody>
      </p:sp>
      <p:sp>
        <p:nvSpPr>
          <p:cNvPr id="58" name="Rectangle 57">
            <a:extLst>
              <a:ext uri="{FF2B5EF4-FFF2-40B4-BE49-F238E27FC236}">
                <a16:creationId xmlns:a16="http://schemas.microsoft.com/office/drawing/2014/main" id="{18A59E68-C7A1-830C-0D3B-E424FB891F51}"/>
              </a:ext>
            </a:extLst>
          </p:cNvPr>
          <p:cNvSpPr/>
          <p:nvPr/>
        </p:nvSpPr>
        <p:spPr>
          <a:xfrm>
            <a:off x="4851400" y="4711700"/>
            <a:ext cx="50800" cy="50800"/>
          </a:xfrm>
          <a:prstGeom prst="rect">
            <a:avLst/>
          </a:prstGeom>
          <a:solidFill>
            <a:srgbClr val="3A00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TextBox 58">
            <a:extLst>
              <a:ext uri="{FF2B5EF4-FFF2-40B4-BE49-F238E27FC236}">
                <a16:creationId xmlns:a16="http://schemas.microsoft.com/office/drawing/2014/main" id="{4B447D11-3A88-44FA-4D30-5513E56B6E73}"/>
              </a:ext>
            </a:extLst>
          </p:cNvPr>
          <p:cNvSpPr txBox="1"/>
          <p:nvPr/>
        </p:nvSpPr>
        <p:spPr>
          <a:xfrm>
            <a:off x="4953000" y="4648200"/>
            <a:ext cx="3987800" cy="215444"/>
          </a:xfrm>
          <a:prstGeom prst="rect">
            <a:avLst/>
          </a:prstGeom>
          <a:noFill/>
        </p:spPr>
        <p:txBody>
          <a:bodyPr vert="horz" wrap="square" rtlCol="0">
            <a:spAutoFit/>
          </a:bodyPr>
          <a:lstStyle/>
          <a:p>
            <a:r>
              <a:rPr lang="en-US" sz="800">
                <a:solidFill>
                  <a:srgbClr val="3D3D3D"/>
                </a:solidFill>
                <a:latin typeface="Segoe UI" panose="020B0502040204020203" pitchFamily="34" charset="0"/>
              </a:rPr>
              <a:t>Batch processing -- upload multiple RFQs, process in queue</a:t>
            </a:r>
          </a:p>
        </p:txBody>
      </p:sp>
      <p:sp>
        <p:nvSpPr>
          <p:cNvPr id="60" name="Rectangle 59">
            <a:extLst>
              <a:ext uri="{FF2B5EF4-FFF2-40B4-BE49-F238E27FC236}">
                <a16:creationId xmlns:a16="http://schemas.microsoft.com/office/drawing/2014/main" id="{D9AE8EFB-1E28-E00F-40B9-36A116754ED0}"/>
              </a:ext>
            </a:extLst>
          </p:cNvPr>
          <p:cNvSpPr/>
          <p:nvPr/>
        </p:nvSpPr>
        <p:spPr>
          <a:xfrm>
            <a:off x="4851400" y="5067300"/>
            <a:ext cx="50800" cy="50800"/>
          </a:xfrm>
          <a:prstGeom prst="rect">
            <a:avLst/>
          </a:prstGeom>
          <a:solidFill>
            <a:srgbClr val="3A00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extBox 60">
            <a:extLst>
              <a:ext uri="{FF2B5EF4-FFF2-40B4-BE49-F238E27FC236}">
                <a16:creationId xmlns:a16="http://schemas.microsoft.com/office/drawing/2014/main" id="{8D18165A-81FD-2532-23C7-C61FC3D2B5DA}"/>
              </a:ext>
            </a:extLst>
          </p:cNvPr>
          <p:cNvSpPr txBox="1"/>
          <p:nvPr/>
        </p:nvSpPr>
        <p:spPr>
          <a:xfrm>
            <a:off x="4953000" y="5003800"/>
            <a:ext cx="3987800" cy="215444"/>
          </a:xfrm>
          <a:prstGeom prst="rect">
            <a:avLst/>
          </a:prstGeom>
          <a:noFill/>
        </p:spPr>
        <p:txBody>
          <a:bodyPr vert="horz" wrap="square" rtlCol="0">
            <a:spAutoFit/>
          </a:bodyPr>
          <a:lstStyle/>
          <a:p>
            <a:r>
              <a:rPr lang="en-US" sz="800">
                <a:solidFill>
                  <a:srgbClr val="3D3D3D"/>
                </a:solidFill>
                <a:latin typeface="Segoe UI" panose="020B0502040204020203" pitchFamily="34" charset="0"/>
              </a:rPr>
              <a:t>ABB product pricing integration for instant cost estimate</a:t>
            </a:r>
          </a:p>
        </p:txBody>
      </p:sp>
    </p:spTree>
    <p:extLst>
      <p:ext uri="{BB962C8B-B14F-4D97-AF65-F5344CB8AC3E}">
        <p14:creationId xmlns:p14="http://schemas.microsoft.com/office/powerpoint/2010/main" val="1585010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1CF3684-97AC-2DC5-52BD-613BFA1590C6}"/>
              </a:ext>
            </a:extLst>
          </p:cNvPr>
          <p:cNvSpPr/>
          <p:nvPr/>
        </p:nvSpPr>
        <p:spPr>
          <a:xfrm>
            <a:off x="0" y="0"/>
            <a:ext cx="9144000" cy="6858000"/>
          </a:xfrm>
          <a:prstGeom prst="rect">
            <a:avLst/>
          </a:prstGeom>
          <a:solidFill>
            <a:srgbClr val="1E1E1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8A792BE9-9A35-05E4-B18C-9813F7EBCA57}"/>
              </a:ext>
            </a:extLst>
          </p:cNvPr>
          <p:cNvSpPr/>
          <p:nvPr/>
        </p:nvSpPr>
        <p:spPr>
          <a:xfrm>
            <a:off x="0" y="0"/>
            <a:ext cx="9144000" cy="762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17CE291C-1F1C-819A-1EC3-AD4E2467632C}"/>
              </a:ext>
            </a:extLst>
          </p:cNvPr>
          <p:cNvSpPr txBox="1"/>
          <p:nvPr/>
        </p:nvSpPr>
        <p:spPr>
          <a:xfrm>
            <a:off x="254000" y="177800"/>
            <a:ext cx="8636000" cy="353943"/>
          </a:xfrm>
          <a:prstGeom prst="rect">
            <a:avLst/>
          </a:prstGeom>
          <a:noFill/>
        </p:spPr>
        <p:txBody>
          <a:bodyPr vert="horz" wrap="square" rtlCol="0">
            <a:spAutoFit/>
          </a:bodyPr>
          <a:lstStyle/>
          <a:p>
            <a:r>
              <a:rPr lang="en-US" sz="1700" b="1">
                <a:solidFill>
                  <a:srgbClr val="FFFFFF"/>
                </a:solidFill>
                <a:latin typeface="Segoe UI" panose="020B0502040204020203" pitchFamily="34" charset="0"/>
              </a:rPr>
              <a:t>Product Matching + End-to-End Pipeline Flow</a:t>
            </a:r>
          </a:p>
        </p:txBody>
      </p:sp>
      <p:sp>
        <p:nvSpPr>
          <p:cNvPr id="5" name="Rectangle 4">
            <a:extLst>
              <a:ext uri="{FF2B5EF4-FFF2-40B4-BE49-F238E27FC236}">
                <a16:creationId xmlns:a16="http://schemas.microsoft.com/office/drawing/2014/main" id="{C2527622-6A67-C3C1-7838-28768E0B2B76}"/>
              </a:ext>
            </a:extLst>
          </p:cNvPr>
          <p:cNvSpPr/>
          <p:nvPr/>
        </p:nvSpPr>
        <p:spPr>
          <a:xfrm>
            <a:off x="254000" y="533400"/>
            <a:ext cx="8636000" cy="12700"/>
          </a:xfrm>
          <a:prstGeom prst="rect">
            <a:avLst/>
          </a:prstGeom>
          <a:solidFill>
            <a:srgbClr val="44444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ADCE2F1-55A0-0786-75D4-902F94BFDFC8}"/>
              </a:ext>
            </a:extLst>
          </p:cNvPr>
          <p:cNvSpPr/>
          <p:nvPr/>
        </p:nvSpPr>
        <p:spPr>
          <a:xfrm>
            <a:off x="203200" y="635000"/>
            <a:ext cx="965200" cy="660400"/>
          </a:xfrm>
          <a:prstGeom prst="rect">
            <a:avLst/>
          </a:prstGeom>
          <a:solidFill>
            <a:srgbClr val="8659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2A6874F-254F-8A6C-F34F-F674990CE093}"/>
              </a:ext>
            </a:extLst>
          </p:cNvPr>
          <p:cNvSpPr txBox="1"/>
          <p:nvPr/>
        </p:nvSpPr>
        <p:spPr>
          <a:xfrm>
            <a:off x="203200" y="660400"/>
            <a:ext cx="965200" cy="292388"/>
          </a:xfrm>
          <a:prstGeom prst="rect">
            <a:avLst/>
          </a:prstGeom>
          <a:noFill/>
        </p:spPr>
        <p:txBody>
          <a:bodyPr vert="horz" wrap="square" rtlCol="0">
            <a:spAutoFit/>
          </a:bodyPr>
          <a:lstStyle/>
          <a:p>
            <a:pPr algn="ctr"/>
            <a:r>
              <a:rPr lang="en-US" sz="1300" b="1">
                <a:solidFill>
                  <a:srgbClr val="FFFFFF"/>
                </a:solidFill>
                <a:latin typeface="Segoe UI" panose="020B0502040204020203" pitchFamily="34" charset="0"/>
              </a:rPr>
              <a:t>1</a:t>
            </a:r>
          </a:p>
        </p:txBody>
      </p:sp>
      <p:sp>
        <p:nvSpPr>
          <p:cNvPr id="8" name="TextBox 7">
            <a:extLst>
              <a:ext uri="{FF2B5EF4-FFF2-40B4-BE49-F238E27FC236}">
                <a16:creationId xmlns:a16="http://schemas.microsoft.com/office/drawing/2014/main" id="{087DCDC1-9BD5-4B67-CAD8-DE8F481C5CD0}"/>
              </a:ext>
            </a:extLst>
          </p:cNvPr>
          <p:cNvSpPr txBox="1"/>
          <p:nvPr/>
        </p:nvSpPr>
        <p:spPr>
          <a:xfrm>
            <a:off x="203200" y="889000"/>
            <a:ext cx="965200" cy="215444"/>
          </a:xfrm>
          <a:prstGeom prst="rect">
            <a:avLst/>
          </a:prstGeom>
          <a:noFill/>
        </p:spPr>
        <p:txBody>
          <a:bodyPr vert="horz" wrap="square" rtlCol="0">
            <a:spAutoFit/>
          </a:bodyPr>
          <a:lstStyle/>
          <a:p>
            <a:pPr algn="ctr"/>
            <a:r>
              <a:rPr lang="en-US" sz="800" b="1">
                <a:solidFill>
                  <a:srgbClr val="FFFFFF"/>
                </a:solidFill>
                <a:latin typeface="Segoe UI" panose="020B0502040204020203" pitchFamily="34" charset="0"/>
              </a:rPr>
              <a:t>Upload</a:t>
            </a:r>
          </a:p>
        </p:txBody>
      </p:sp>
      <p:sp>
        <p:nvSpPr>
          <p:cNvPr id="9" name="TextBox 8">
            <a:extLst>
              <a:ext uri="{FF2B5EF4-FFF2-40B4-BE49-F238E27FC236}">
                <a16:creationId xmlns:a16="http://schemas.microsoft.com/office/drawing/2014/main" id="{4B175607-FDCF-4FCE-0AB5-BB5E19C7296E}"/>
              </a:ext>
            </a:extLst>
          </p:cNvPr>
          <p:cNvSpPr txBox="1"/>
          <p:nvPr/>
        </p:nvSpPr>
        <p:spPr>
          <a:xfrm>
            <a:off x="203200" y="1066800"/>
            <a:ext cx="965200" cy="184666"/>
          </a:xfrm>
          <a:prstGeom prst="rect">
            <a:avLst/>
          </a:prstGeom>
          <a:noFill/>
        </p:spPr>
        <p:txBody>
          <a:bodyPr vert="horz" wrap="square" rtlCol="0">
            <a:spAutoFit/>
          </a:bodyPr>
          <a:lstStyle/>
          <a:p>
            <a:pPr algn="ctr"/>
            <a:r>
              <a:rPr lang="en-US" sz="600">
                <a:solidFill>
                  <a:srgbClr val="CCCCCC"/>
                </a:solidFill>
                <a:latin typeface="Segoe UI" panose="020B0502040204020203" pitchFamily="34" charset="0"/>
              </a:rPr>
              <a:t>PDF/image via Angular</a:t>
            </a:r>
          </a:p>
        </p:txBody>
      </p:sp>
      <p:sp>
        <p:nvSpPr>
          <p:cNvPr id="10" name="TextBox 9">
            <a:extLst>
              <a:ext uri="{FF2B5EF4-FFF2-40B4-BE49-F238E27FC236}">
                <a16:creationId xmlns:a16="http://schemas.microsoft.com/office/drawing/2014/main" id="{EF72E657-FB9F-AB8A-17B6-53E8BB4E9902}"/>
              </a:ext>
            </a:extLst>
          </p:cNvPr>
          <p:cNvSpPr txBox="1"/>
          <p:nvPr/>
        </p:nvSpPr>
        <p:spPr>
          <a:xfrm>
            <a:off x="1168400" y="863600"/>
            <a:ext cx="127000" cy="246221"/>
          </a:xfrm>
          <a:prstGeom prst="rect">
            <a:avLst/>
          </a:prstGeom>
          <a:noFill/>
        </p:spPr>
        <p:txBody>
          <a:bodyPr vert="horz" wrap="square" rtlCol="0">
            <a:spAutoFit/>
          </a:bodyPr>
          <a:lstStyle/>
          <a:p>
            <a:pPr algn="ctr"/>
            <a:r>
              <a:rPr lang="en-US" sz="1000" b="1">
                <a:solidFill>
                  <a:srgbClr val="888888"/>
                </a:solidFill>
                <a:latin typeface="Segoe UI" panose="020B0502040204020203" pitchFamily="34" charset="0"/>
              </a:rPr>
              <a:t>&gt;</a:t>
            </a:r>
          </a:p>
        </p:txBody>
      </p:sp>
      <p:sp>
        <p:nvSpPr>
          <p:cNvPr id="11" name="Rectangle 10">
            <a:extLst>
              <a:ext uri="{FF2B5EF4-FFF2-40B4-BE49-F238E27FC236}">
                <a16:creationId xmlns:a16="http://schemas.microsoft.com/office/drawing/2014/main" id="{32C9594E-B0E8-469B-1E59-1D953AE02FB4}"/>
              </a:ext>
            </a:extLst>
          </p:cNvPr>
          <p:cNvSpPr/>
          <p:nvPr/>
        </p:nvSpPr>
        <p:spPr>
          <a:xfrm>
            <a:off x="1295400" y="635000"/>
            <a:ext cx="965200" cy="660400"/>
          </a:xfrm>
          <a:prstGeom prst="rect">
            <a:avLst/>
          </a:prstGeom>
          <a:solidFill>
            <a:srgbClr val="8659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D9439FE6-FB2E-C74D-7C27-F63129A154E9}"/>
              </a:ext>
            </a:extLst>
          </p:cNvPr>
          <p:cNvSpPr txBox="1"/>
          <p:nvPr/>
        </p:nvSpPr>
        <p:spPr>
          <a:xfrm>
            <a:off x="1295400" y="660400"/>
            <a:ext cx="965200" cy="292388"/>
          </a:xfrm>
          <a:prstGeom prst="rect">
            <a:avLst/>
          </a:prstGeom>
          <a:noFill/>
        </p:spPr>
        <p:txBody>
          <a:bodyPr vert="horz" wrap="square" rtlCol="0">
            <a:spAutoFit/>
          </a:bodyPr>
          <a:lstStyle/>
          <a:p>
            <a:pPr algn="ctr"/>
            <a:r>
              <a:rPr lang="en-US" sz="1300" b="1">
                <a:solidFill>
                  <a:srgbClr val="FFFFFF"/>
                </a:solidFill>
                <a:latin typeface="Segoe UI" panose="020B0502040204020203" pitchFamily="34" charset="0"/>
              </a:rPr>
              <a:t>2</a:t>
            </a:r>
          </a:p>
        </p:txBody>
      </p:sp>
      <p:sp>
        <p:nvSpPr>
          <p:cNvPr id="13" name="TextBox 12">
            <a:extLst>
              <a:ext uri="{FF2B5EF4-FFF2-40B4-BE49-F238E27FC236}">
                <a16:creationId xmlns:a16="http://schemas.microsoft.com/office/drawing/2014/main" id="{41B33F25-2F0D-277E-A4E7-31FC33A8F8D3}"/>
              </a:ext>
            </a:extLst>
          </p:cNvPr>
          <p:cNvSpPr txBox="1"/>
          <p:nvPr/>
        </p:nvSpPr>
        <p:spPr>
          <a:xfrm>
            <a:off x="1295400" y="889000"/>
            <a:ext cx="965200" cy="215444"/>
          </a:xfrm>
          <a:prstGeom prst="rect">
            <a:avLst/>
          </a:prstGeom>
          <a:noFill/>
        </p:spPr>
        <p:txBody>
          <a:bodyPr vert="horz" wrap="square" rtlCol="0">
            <a:spAutoFit/>
          </a:bodyPr>
          <a:lstStyle/>
          <a:p>
            <a:pPr algn="ctr"/>
            <a:r>
              <a:rPr lang="en-US" sz="800" b="1">
                <a:solidFill>
                  <a:srgbClr val="FFFFFF"/>
                </a:solidFill>
                <a:latin typeface="Segoe UI" panose="020B0502040204020203" pitchFamily="34" charset="0"/>
              </a:rPr>
              <a:t>OCR</a:t>
            </a:r>
          </a:p>
        </p:txBody>
      </p:sp>
      <p:sp>
        <p:nvSpPr>
          <p:cNvPr id="14" name="TextBox 13">
            <a:extLst>
              <a:ext uri="{FF2B5EF4-FFF2-40B4-BE49-F238E27FC236}">
                <a16:creationId xmlns:a16="http://schemas.microsoft.com/office/drawing/2014/main" id="{D89F03F6-629B-B073-EC29-C7811FA774DA}"/>
              </a:ext>
            </a:extLst>
          </p:cNvPr>
          <p:cNvSpPr txBox="1"/>
          <p:nvPr/>
        </p:nvSpPr>
        <p:spPr>
          <a:xfrm>
            <a:off x="1295400" y="1066800"/>
            <a:ext cx="965200" cy="276999"/>
          </a:xfrm>
          <a:prstGeom prst="rect">
            <a:avLst/>
          </a:prstGeom>
          <a:noFill/>
        </p:spPr>
        <p:txBody>
          <a:bodyPr vert="horz" wrap="square" rtlCol="0">
            <a:spAutoFit/>
          </a:bodyPr>
          <a:lstStyle/>
          <a:p>
            <a:pPr algn="ctr"/>
            <a:r>
              <a:rPr lang="en-US" sz="600">
                <a:solidFill>
                  <a:srgbClr val="CCCCCC"/>
                </a:solidFill>
                <a:latin typeface="Segoe UI" panose="020B0502040204020203" pitchFamily="34" charset="0"/>
              </a:rPr>
              <a:t>Azure DI + iText7 fallback</a:t>
            </a:r>
          </a:p>
        </p:txBody>
      </p:sp>
      <p:sp>
        <p:nvSpPr>
          <p:cNvPr id="15" name="TextBox 14">
            <a:extLst>
              <a:ext uri="{FF2B5EF4-FFF2-40B4-BE49-F238E27FC236}">
                <a16:creationId xmlns:a16="http://schemas.microsoft.com/office/drawing/2014/main" id="{9F10D49C-D66D-FECE-655A-73124BC5A19B}"/>
              </a:ext>
            </a:extLst>
          </p:cNvPr>
          <p:cNvSpPr txBox="1"/>
          <p:nvPr/>
        </p:nvSpPr>
        <p:spPr>
          <a:xfrm>
            <a:off x="2260600" y="863600"/>
            <a:ext cx="127000" cy="246221"/>
          </a:xfrm>
          <a:prstGeom prst="rect">
            <a:avLst/>
          </a:prstGeom>
          <a:noFill/>
        </p:spPr>
        <p:txBody>
          <a:bodyPr vert="horz" wrap="square" rtlCol="0">
            <a:spAutoFit/>
          </a:bodyPr>
          <a:lstStyle/>
          <a:p>
            <a:pPr algn="ctr"/>
            <a:r>
              <a:rPr lang="en-US" sz="1000" b="1">
                <a:solidFill>
                  <a:srgbClr val="888888"/>
                </a:solidFill>
                <a:latin typeface="Segoe UI" panose="020B0502040204020203" pitchFamily="34" charset="0"/>
              </a:rPr>
              <a:t>&gt;</a:t>
            </a:r>
          </a:p>
        </p:txBody>
      </p:sp>
      <p:sp>
        <p:nvSpPr>
          <p:cNvPr id="16" name="Rectangle 15">
            <a:extLst>
              <a:ext uri="{FF2B5EF4-FFF2-40B4-BE49-F238E27FC236}">
                <a16:creationId xmlns:a16="http://schemas.microsoft.com/office/drawing/2014/main" id="{3365EBA5-844C-28C9-4160-50F9797989E4}"/>
              </a:ext>
            </a:extLst>
          </p:cNvPr>
          <p:cNvSpPr/>
          <p:nvPr/>
        </p:nvSpPr>
        <p:spPr>
          <a:xfrm>
            <a:off x="2387600" y="635000"/>
            <a:ext cx="965200" cy="660400"/>
          </a:xfrm>
          <a:prstGeom prst="rect">
            <a:avLst/>
          </a:prstGeom>
          <a:solidFill>
            <a:srgbClr val="8659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C55F95A2-33CA-2C92-7FD9-031C5602204A}"/>
              </a:ext>
            </a:extLst>
          </p:cNvPr>
          <p:cNvSpPr txBox="1"/>
          <p:nvPr/>
        </p:nvSpPr>
        <p:spPr>
          <a:xfrm>
            <a:off x="2387600" y="660400"/>
            <a:ext cx="965200" cy="292388"/>
          </a:xfrm>
          <a:prstGeom prst="rect">
            <a:avLst/>
          </a:prstGeom>
          <a:noFill/>
        </p:spPr>
        <p:txBody>
          <a:bodyPr vert="horz" wrap="square" rtlCol="0">
            <a:spAutoFit/>
          </a:bodyPr>
          <a:lstStyle/>
          <a:p>
            <a:pPr algn="ctr"/>
            <a:r>
              <a:rPr lang="en-US" sz="1300" b="1">
                <a:solidFill>
                  <a:srgbClr val="FFFFFF"/>
                </a:solidFill>
                <a:latin typeface="Segoe UI" panose="020B0502040204020203" pitchFamily="34" charset="0"/>
              </a:rPr>
              <a:t>3</a:t>
            </a:r>
          </a:p>
        </p:txBody>
      </p:sp>
      <p:sp>
        <p:nvSpPr>
          <p:cNvPr id="18" name="TextBox 17">
            <a:extLst>
              <a:ext uri="{FF2B5EF4-FFF2-40B4-BE49-F238E27FC236}">
                <a16:creationId xmlns:a16="http://schemas.microsoft.com/office/drawing/2014/main" id="{52CA575F-2BBA-A683-D1F7-937745ECD120}"/>
              </a:ext>
            </a:extLst>
          </p:cNvPr>
          <p:cNvSpPr txBox="1"/>
          <p:nvPr/>
        </p:nvSpPr>
        <p:spPr>
          <a:xfrm>
            <a:off x="2387600" y="889000"/>
            <a:ext cx="965200" cy="215444"/>
          </a:xfrm>
          <a:prstGeom prst="rect">
            <a:avLst/>
          </a:prstGeom>
          <a:noFill/>
        </p:spPr>
        <p:txBody>
          <a:bodyPr vert="horz" wrap="square" rtlCol="0">
            <a:spAutoFit/>
          </a:bodyPr>
          <a:lstStyle/>
          <a:p>
            <a:pPr algn="ctr"/>
            <a:r>
              <a:rPr lang="en-US" sz="800" b="1">
                <a:solidFill>
                  <a:srgbClr val="FFFFFF"/>
                </a:solidFill>
                <a:latin typeface="Segoe UI" panose="020B0502040204020203" pitchFamily="34" charset="0"/>
              </a:rPr>
              <a:t>Detect</a:t>
            </a:r>
          </a:p>
        </p:txBody>
      </p:sp>
      <p:sp>
        <p:nvSpPr>
          <p:cNvPr id="19" name="TextBox 18">
            <a:extLst>
              <a:ext uri="{FF2B5EF4-FFF2-40B4-BE49-F238E27FC236}">
                <a16:creationId xmlns:a16="http://schemas.microsoft.com/office/drawing/2014/main" id="{AB309B83-8B16-EC87-3C89-4F5674C54D45}"/>
              </a:ext>
            </a:extLst>
          </p:cNvPr>
          <p:cNvSpPr txBox="1"/>
          <p:nvPr/>
        </p:nvSpPr>
        <p:spPr>
          <a:xfrm>
            <a:off x="2387600" y="1066800"/>
            <a:ext cx="965200" cy="276999"/>
          </a:xfrm>
          <a:prstGeom prst="rect">
            <a:avLst/>
          </a:prstGeom>
          <a:noFill/>
        </p:spPr>
        <p:txBody>
          <a:bodyPr vert="horz" wrap="square" rtlCol="0">
            <a:spAutoFit/>
          </a:bodyPr>
          <a:lstStyle/>
          <a:p>
            <a:pPr algn="ctr"/>
            <a:r>
              <a:rPr lang="en-US" sz="600">
                <a:solidFill>
                  <a:srgbClr val="CCCCCC"/>
                </a:solidFill>
                <a:latin typeface="Segoe UI" panose="020B0502040204020203" pitchFamily="34" charset="0"/>
              </a:rPr>
              <a:t>SLD pages + multi-instance</a:t>
            </a:r>
          </a:p>
        </p:txBody>
      </p:sp>
      <p:sp>
        <p:nvSpPr>
          <p:cNvPr id="20" name="TextBox 19">
            <a:extLst>
              <a:ext uri="{FF2B5EF4-FFF2-40B4-BE49-F238E27FC236}">
                <a16:creationId xmlns:a16="http://schemas.microsoft.com/office/drawing/2014/main" id="{E5D69D24-8DDD-C286-D2BF-BC48118A422B}"/>
              </a:ext>
            </a:extLst>
          </p:cNvPr>
          <p:cNvSpPr txBox="1"/>
          <p:nvPr/>
        </p:nvSpPr>
        <p:spPr>
          <a:xfrm>
            <a:off x="3352800" y="863600"/>
            <a:ext cx="127000" cy="246221"/>
          </a:xfrm>
          <a:prstGeom prst="rect">
            <a:avLst/>
          </a:prstGeom>
          <a:noFill/>
        </p:spPr>
        <p:txBody>
          <a:bodyPr vert="horz" wrap="square" rtlCol="0">
            <a:spAutoFit/>
          </a:bodyPr>
          <a:lstStyle/>
          <a:p>
            <a:pPr algn="ctr"/>
            <a:r>
              <a:rPr lang="en-US" sz="1000" b="1">
                <a:solidFill>
                  <a:srgbClr val="888888"/>
                </a:solidFill>
                <a:latin typeface="Segoe UI" panose="020B0502040204020203" pitchFamily="34" charset="0"/>
              </a:rPr>
              <a:t>&gt;</a:t>
            </a:r>
          </a:p>
        </p:txBody>
      </p:sp>
      <p:sp>
        <p:nvSpPr>
          <p:cNvPr id="21" name="Rectangle 20">
            <a:extLst>
              <a:ext uri="{FF2B5EF4-FFF2-40B4-BE49-F238E27FC236}">
                <a16:creationId xmlns:a16="http://schemas.microsoft.com/office/drawing/2014/main" id="{E97E18FB-D581-FA0B-8F5D-5DBF11A127A5}"/>
              </a:ext>
            </a:extLst>
          </p:cNvPr>
          <p:cNvSpPr/>
          <p:nvPr/>
        </p:nvSpPr>
        <p:spPr>
          <a:xfrm>
            <a:off x="3479800" y="635000"/>
            <a:ext cx="965200" cy="660400"/>
          </a:xfrm>
          <a:prstGeom prst="rect">
            <a:avLst/>
          </a:prstGeom>
          <a:solidFill>
            <a:srgbClr val="8659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65E049D2-BF0D-A704-785A-EDA84AFB5C10}"/>
              </a:ext>
            </a:extLst>
          </p:cNvPr>
          <p:cNvSpPr txBox="1"/>
          <p:nvPr/>
        </p:nvSpPr>
        <p:spPr>
          <a:xfrm>
            <a:off x="3479800" y="660400"/>
            <a:ext cx="965200" cy="292388"/>
          </a:xfrm>
          <a:prstGeom prst="rect">
            <a:avLst/>
          </a:prstGeom>
          <a:noFill/>
        </p:spPr>
        <p:txBody>
          <a:bodyPr vert="horz" wrap="square" rtlCol="0">
            <a:spAutoFit/>
          </a:bodyPr>
          <a:lstStyle/>
          <a:p>
            <a:pPr algn="ctr"/>
            <a:r>
              <a:rPr lang="en-US" sz="1300" b="1">
                <a:solidFill>
                  <a:srgbClr val="FFFFFF"/>
                </a:solidFill>
                <a:latin typeface="Segoe UI" panose="020B0502040204020203" pitchFamily="34" charset="0"/>
              </a:rPr>
              <a:t>4</a:t>
            </a:r>
          </a:p>
        </p:txBody>
      </p:sp>
      <p:sp>
        <p:nvSpPr>
          <p:cNvPr id="23" name="TextBox 22">
            <a:extLst>
              <a:ext uri="{FF2B5EF4-FFF2-40B4-BE49-F238E27FC236}">
                <a16:creationId xmlns:a16="http://schemas.microsoft.com/office/drawing/2014/main" id="{110527E8-1FE2-6922-7CFF-35DA8B5B667F}"/>
              </a:ext>
            </a:extLst>
          </p:cNvPr>
          <p:cNvSpPr txBox="1"/>
          <p:nvPr/>
        </p:nvSpPr>
        <p:spPr>
          <a:xfrm>
            <a:off x="3479800" y="889000"/>
            <a:ext cx="965200" cy="215444"/>
          </a:xfrm>
          <a:prstGeom prst="rect">
            <a:avLst/>
          </a:prstGeom>
          <a:noFill/>
        </p:spPr>
        <p:txBody>
          <a:bodyPr vert="horz" wrap="square" rtlCol="0">
            <a:spAutoFit/>
          </a:bodyPr>
          <a:lstStyle/>
          <a:p>
            <a:pPr algn="ctr"/>
            <a:r>
              <a:rPr lang="en-US" sz="800" b="1">
                <a:solidFill>
                  <a:srgbClr val="FFFFFF"/>
                </a:solidFill>
                <a:latin typeface="Segoe UI" panose="020B0502040204020203" pitchFamily="34" charset="0"/>
              </a:rPr>
              <a:t>Extract</a:t>
            </a:r>
          </a:p>
        </p:txBody>
      </p:sp>
      <p:sp>
        <p:nvSpPr>
          <p:cNvPr id="24" name="TextBox 23">
            <a:extLst>
              <a:ext uri="{FF2B5EF4-FFF2-40B4-BE49-F238E27FC236}">
                <a16:creationId xmlns:a16="http://schemas.microsoft.com/office/drawing/2014/main" id="{5F5C475D-0406-C584-40D9-603F31F9FBB8}"/>
              </a:ext>
            </a:extLst>
          </p:cNvPr>
          <p:cNvSpPr txBox="1"/>
          <p:nvPr/>
        </p:nvSpPr>
        <p:spPr>
          <a:xfrm>
            <a:off x="3479800" y="1066800"/>
            <a:ext cx="965200" cy="184666"/>
          </a:xfrm>
          <a:prstGeom prst="rect">
            <a:avLst/>
          </a:prstGeom>
          <a:noFill/>
        </p:spPr>
        <p:txBody>
          <a:bodyPr vert="horz" wrap="square" rtlCol="0">
            <a:spAutoFit/>
          </a:bodyPr>
          <a:lstStyle/>
          <a:p>
            <a:pPr algn="ctr"/>
            <a:r>
              <a:rPr lang="en-US" sz="600">
                <a:solidFill>
                  <a:srgbClr val="CCCCCC"/>
                </a:solidFill>
                <a:latin typeface="Segoe UI" panose="020B0502040204020203" pitchFamily="34" charset="0"/>
              </a:rPr>
              <a:t>Paths A+B+C parallel</a:t>
            </a:r>
          </a:p>
        </p:txBody>
      </p:sp>
      <p:sp>
        <p:nvSpPr>
          <p:cNvPr id="25" name="TextBox 24">
            <a:extLst>
              <a:ext uri="{FF2B5EF4-FFF2-40B4-BE49-F238E27FC236}">
                <a16:creationId xmlns:a16="http://schemas.microsoft.com/office/drawing/2014/main" id="{DC3D4EC9-BB31-4FDA-DD6E-8C0FEC5C78F8}"/>
              </a:ext>
            </a:extLst>
          </p:cNvPr>
          <p:cNvSpPr txBox="1"/>
          <p:nvPr/>
        </p:nvSpPr>
        <p:spPr>
          <a:xfrm>
            <a:off x="4445000" y="863600"/>
            <a:ext cx="127000" cy="246221"/>
          </a:xfrm>
          <a:prstGeom prst="rect">
            <a:avLst/>
          </a:prstGeom>
          <a:noFill/>
        </p:spPr>
        <p:txBody>
          <a:bodyPr vert="horz" wrap="square" rtlCol="0">
            <a:spAutoFit/>
          </a:bodyPr>
          <a:lstStyle/>
          <a:p>
            <a:pPr algn="ctr"/>
            <a:r>
              <a:rPr lang="en-US" sz="1000" b="1">
                <a:solidFill>
                  <a:srgbClr val="888888"/>
                </a:solidFill>
                <a:latin typeface="Segoe UI" panose="020B0502040204020203" pitchFamily="34" charset="0"/>
              </a:rPr>
              <a:t>&gt;</a:t>
            </a:r>
          </a:p>
        </p:txBody>
      </p:sp>
      <p:sp>
        <p:nvSpPr>
          <p:cNvPr id="26" name="Rectangle 25">
            <a:extLst>
              <a:ext uri="{FF2B5EF4-FFF2-40B4-BE49-F238E27FC236}">
                <a16:creationId xmlns:a16="http://schemas.microsoft.com/office/drawing/2014/main" id="{0F75D49F-6D9C-A1F4-0089-556AEFE071BE}"/>
              </a:ext>
            </a:extLst>
          </p:cNvPr>
          <p:cNvSpPr/>
          <p:nvPr/>
        </p:nvSpPr>
        <p:spPr>
          <a:xfrm>
            <a:off x="4572000" y="635000"/>
            <a:ext cx="965200" cy="660400"/>
          </a:xfrm>
          <a:prstGeom prst="rect">
            <a:avLst/>
          </a:prstGeom>
          <a:solidFill>
            <a:srgbClr val="8659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B548E4FD-50DE-4274-4654-DB565450BCC2}"/>
              </a:ext>
            </a:extLst>
          </p:cNvPr>
          <p:cNvSpPr txBox="1"/>
          <p:nvPr/>
        </p:nvSpPr>
        <p:spPr>
          <a:xfrm>
            <a:off x="4572000" y="660400"/>
            <a:ext cx="965200" cy="292388"/>
          </a:xfrm>
          <a:prstGeom prst="rect">
            <a:avLst/>
          </a:prstGeom>
          <a:noFill/>
        </p:spPr>
        <p:txBody>
          <a:bodyPr vert="horz" wrap="square" rtlCol="0">
            <a:spAutoFit/>
          </a:bodyPr>
          <a:lstStyle/>
          <a:p>
            <a:pPr algn="ctr"/>
            <a:r>
              <a:rPr lang="en-US" sz="1300" b="1">
                <a:solidFill>
                  <a:srgbClr val="FFFFFF"/>
                </a:solidFill>
                <a:latin typeface="Segoe UI" panose="020B0502040204020203" pitchFamily="34" charset="0"/>
              </a:rPr>
              <a:t>5</a:t>
            </a:r>
          </a:p>
        </p:txBody>
      </p:sp>
      <p:sp>
        <p:nvSpPr>
          <p:cNvPr id="28" name="TextBox 27">
            <a:extLst>
              <a:ext uri="{FF2B5EF4-FFF2-40B4-BE49-F238E27FC236}">
                <a16:creationId xmlns:a16="http://schemas.microsoft.com/office/drawing/2014/main" id="{387A694F-6024-E96F-A1C5-3558861D05EE}"/>
              </a:ext>
            </a:extLst>
          </p:cNvPr>
          <p:cNvSpPr txBox="1"/>
          <p:nvPr/>
        </p:nvSpPr>
        <p:spPr>
          <a:xfrm>
            <a:off x="4572000" y="889000"/>
            <a:ext cx="965200" cy="215444"/>
          </a:xfrm>
          <a:prstGeom prst="rect">
            <a:avLst/>
          </a:prstGeom>
          <a:noFill/>
        </p:spPr>
        <p:txBody>
          <a:bodyPr vert="horz" wrap="square" rtlCol="0">
            <a:spAutoFit/>
          </a:bodyPr>
          <a:lstStyle/>
          <a:p>
            <a:pPr algn="ctr"/>
            <a:r>
              <a:rPr lang="en-US" sz="800" b="1">
                <a:solidFill>
                  <a:srgbClr val="FFFFFF"/>
                </a:solidFill>
                <a:latin typeface="Segoe UI" panose="020B0502040204020203" pitchFamily="34" charset="0"/>
              </a:rPr>
              <a:t>Vote</a:t>
            </a:r>
          </a:p>
        </p:txBody>
      </p:sp>
      <p:sp>
        <p:nvSpPr>
          <p:cNvPr id="29" name="TextBox 28">
            <a:extLst>
              <a:ext uri="{FF2B5EF4-FFF2-40B4-BE49-F238E27FC236}">
                <a16:creationId xmlns:a16="http://schemas.microsoft.com/office/drawing/2014/main" id="{BB8EA875-A0CA-1659-6B1C-F8EDE5D188CE}"/>
              </a:ext>
            </a:extLst>
          </p:cNvPr>
          <p:cNvSpPr txBox="1"/>
          <p:nvPr/>
        </p:nvSpPr>
        <p:spPr>
          <a:xfrm>
            <a:off x="4572000" y="1066800"/>
            <a:ext cx="965200" cy="184666"/>
          </a:xfrm>
          <a:prstGeom prst="rect">
            <a:avLst/>
          </a:prstGeom>
          <a:noFill/>
        </p:spPr>
        <p:txBody>
          <a:bodyPr vert="horz" wrap="square" rtlCol="0">
            <a:spAutoFit/>
          </a:bodyPr>
          <a:lstStyle/>
          <a:p>
            <a:pPr algn="ctr"/>
            <a:r>
              <a:rPr lang="en-US" sz="600">
                <a:solidFill>
                  <a:srgbClr val="CCCCCC"/>
                </a:solidFill>
                <a:latin typeface="Segoe UI" panose="020B0502040204020203" pitchFamily="34" charset="0"/>
              </a:rPr>
              <a:t>Ensemble voting</a:t>
            </a:r>
          </a:p>
        </p:txBody>
      </p:sp>
      <p:sp>
        <p:nvSpPr>
          <p:cNvPr id="30" name="TextBox 29">
            <a:extLst>
              <a:ext uri="{FF2B5EF4-FFF2-40B4-BE49-F238E27FC236}">
                <a16:creationId xmlns:a16="http://schemas.microsoft.com/office/drawing/2014/main" id="{B6B5D397-EDCC-4500-DBD7-FF0560B99B4B}"/>
              </a:ext>
            </a:extLst>
          </p:cNvPr>
          <p:cNvSpPr txBox="1"/>
          <p:nvPr/>
        </p:nvSpPr>
        <p:spPr>
          <a:xfrm>
            <a:off x="5537200" y="863600"/>
            <a:ext cx="127000" cy="246221"/>
          </a:xfrm>
          <a:prstGeom prst="rect">
            <a:avLst/>
          </a:prstGeom>
          <a:noFill/>
        </p:spPr>
        <p:txBody>
          <a:bodyPr vert="horz" wrap="square" rtlCol="0">
            <a:spAutoFit/>
          </a:bodyPr>
          <a:lstStyle/>
          <a:p>
            <a:pPr algn="ctr"/>
            <a:r>
              <a:rPr lang="en-US" sz="1000" b="1">
                <a:solidFill>
                  <a:srgbClr val="888888"/>
                </a:solidFill>
                <a:latin typeface="Segoe UI" panose="020B0502040204020203" pitchFamily="34" charset="0"/>
              </a:rPr>
              <a:t>&gt;</a:t>
            </a:r>
          </a:p>
        </p:txBody>
      </p:sp>
      <p:sp>
        <p:nvSpPr>
          <p:cNvPr id="31" name="Rectangle 30">
            <a:extLst>
              <a:ext uri="{FF2B5EF4-FFF2-40B4-BE49-F238E27FC236}">
                <a16:creationId xmlns:a16="http://schemas.microsoft.com/office/drawing/2014/main" id="{3B9FAEB2-678D-7E5D-A126-D5F1D9C74507}"/>
              </a:ext>
            </a:extLst>
          </p:cNvPr>
          <p:cNvSpPr/>
          <p:nvPr/>
        </p:nvSpPr>
        <p:spPr>
          <a:xfrm>
            <a:off x="5664200" y="635000"/>
            <a:ext cx="965200" cy="660400"/>
          </a:xfrm>
          <a:prstGeom prst="rect">
            <a:avLst/>
          </a:prstGeom>
          <a:solidFill>
            <a:srgbClr val="8659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4CCC8903-BB5A-D04F-AFE0-0D78C249F01B}"/>
              </a:ext>
            </a:extLst>
          </p:cNvPr>
          <p:cNvSpPr txBox="1"/>
          <p:nvPr/>
        </p:nvSpPr>
        <p:spPr>
          <a:xfrm>
            <a:off x="5664200" y="660400"/>
            <a:ext cx="965200" cy="292388"/>
          </a:xfrm>
          <a:prstGeom prst="rect">
            <a:avLst/>
          </a:prstGeom>
          <a:noFill/>
        </p:spPr>
        <p:txBody>
          <a:bodyPr vert="horz" wrap="square" rtlCol="0">
            <a:spAutoFit/>
          </a:bodyPr>
          <a:lstStyle/>
          <a:p>
            <a:pPr algn="ctr"/>
            <a:r>
              <a:rPr lang="en-US" sz="1300" b="1">
                <a:solidFill>
                  <a:srgbClr val="FFFFFF"/>
                </a:solidFill>
                <a:latin typeface="Segoe UI" panose="020B0502040204020203" pitchFamily="34" charset="0"/>
              </a:rPr>
              <a:t>6</a:t>
            </a:r>
          </a:p>
        </p:txBody>
      </p:sp>
      <p:sp>
        <p:nvSpPr>
          <p:cNvPr id="33" name="TextBox 32">
            <a:extLst>
              <a:ext uri="{FF2B5EF4-FFF2-40B4-BE49-F238E27FC236}">
                <a16:creationId xmlns:a16="http://schemas.microsoft.com/office/drawing/2014/main" id="{5BB165AF-7B47-48D8-D9A7-CDCCEEDF2B79}"/>
              </a:ext>
            </a:extLst>
          </p:cNvPr>
          <p:cNvSpPr txBox="1"/>
          <p:nvPr/>
        </p:nvSpPr>
        <p:spPr>
          <a:xfrm>
            <a:off x="5664200" y="889000"/>
            <a:ext cx="965200" cy="215444"/>
          </a:xfrm>
          <a:prstGeom prst="rect">
            <a:avLst/>
          </a:prstGeom>
          <a:noFill/>
        </p:spPr>
        <p:txBody>
          <a:bodyPr vert="horz" wrap="square" rtlCol="0">
            <a:spAutoFit/>
          </a:bodyPr>
          <a:lstStyle/>
          <a:p>
            <a:pPr algn="ctr"/>
            <a:r>
              <a:rPr lang="en-US" sz="800" b="1">
                <a:solidFill>
                  <a:srgbClr val="FFFFFF"/>
                </a:solidFill>
                <a:latin typeface="Segoe UI" panose="020B0502040204020203" pitchFamily="34" charset="0"/>
              </a:rPr>
              <a:t>Validate</a:t>
            </a:r>
          </a:p>
        </p:txBody>
      </p:sp>
      <p:sp>
        <p:nvSpPr>
          <p:cNvPr id="34" name="TextBox 33">
            <a:extLst>
              <a:ext uri="{FF2B5EF4-FFF2-40B4-BE49-F238E27FC236}">
                <a16:creationId xmlns:a16="http://schemas.microsoft.com/office/drawing/2014/main" id="{9800E16B-5A8E-D7F6-8473-EE8928A934CA}"/>
              </a:ext>
            </a:extLst>
          </p:cNvPr>
          <p:cNvSpPr txBox="1"/>
          <p:nvPr/>
        </p:nvSpPr>
        <p:spPr>
          <a:xfrm>
            <a:off x="5664200" y="1066800"/>
            <a:ext cx="965200" cy="184666"/>
          </a:xfrm>
          <a:prstGeom prst="rect">
            <a:avLst/>
          </a:prstGeom>
          <a:noFill/>
        </p:spPr>
        <p:txBody>
          <a:bodyPr vert="horz" wrap="square" rtlCol="0">
            <a:spAutoFit/>
          </a:bodyPr>
          <a:lstStyle/>
          <a:p>
            <a:pPr algn="ctr"/>
            <a:r>
              <a:rPr lang="en-US" sz="600">
                <a:solidFill>
                  <a:srgbClr val="CCCCCC"/>
                </a:solidFill>
                <a:latin typeface="Segoe UI" panose="020B0502040204020203" pitchFamily="34" charset="0"/>
              </a:rPr>
              <a:t>IEC domain rules</a:t>
            </a:r>
          </a:p>
        </p:txBody>
      </p:sp>
      <p:sp>
        <p:nvSpPr>
          <p:cNvPr id="35" name="TextBox 34">
            <a:extLst>
              <a:ext uri="{FF2B5EF4-FFF2-40B4-BE49-F238E27FC236}">
                <a16:creationId xmlns:a16="http://schemas.microsoft.com/office/drawing/2014/main" id="{56CCE7FF-B0E0-1A39-1E51-A2EB9A5E504B}"/>
              </a:ext>
            </a:extLst>
          </p:cNvPr>
          <p:cNvSpPr txBox="1"/>
          <p:nvPr/>
        </p:nvSpPr>
        <p:spPr>
          <a:xfrm>
            <a:off x="6629400" y="863600"/>
            <a:ext cx="127000" cy="246221"/>
          </a:xfrm>
          <a:prstGeom prst="rect">
            <a:avLst/>
          </a:prstGeom>
          <a:noFill/>
        </p:spPr>
        <p:txBody>
          <a:bodyPr vert="horz" wrap="square" rtlCol="0">
            <a:spAutoFit/>
          </a:bodyPr>
          <a:lstStyle/>
          <a:p>
            <a:pPr algn="ctr"/>
            <a:r>
              <a:rPr lang="en-US" sz="1000" b="1">
                <a:solidFill>
                  <a:srgbClr val="888888"/>
                </a:solidFill>
                <a:latin typeface="Segoe UI" panose="020B0502040204020203" pitchFamily="34" charset="0"/>
              </a:rPr>
              <a:t>&gt;</a:t>
            </a:r>
          </a:p>
        </p:txBody>
      </p:sp>
      <p:sp>
        <p:nvSpPr>
          <p:cNvPr id="36" name="Rectangle 35">
            <a:extLst>
              <a:ext uri="{FF2B5EF4-FFF2-40B4-BE49-F238E27FC236}">
                <a16:creationId xmlns:a16="http://schemas.microsoft.com/office/drawing/2014/main" id="{574F5535-5454-210E-F4B3-CBAFA4D65D50}"/>
              </a:ext>
            </a:extLst>
          </p:cNvPr>
          <p:cNvSpPr/>
          <p:nvPr/>
        </p:nvSpPr>
        <p:spPr>
          <a:xfrm>
            <a:off x="6756400" y="635000"/>
            <a:ext cx="965200" cy="6604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73AE2C5A-F2BF-8489-2172-D944EBEEA83D}"/>
              </a:ext>
            </a:extLst>
          </p:cNvPr>
          <p:cNvSpPr txBox="1"/>
          <p:nvPr/>
        </p:nvSpPr>
        <p:spPr>
          <a:xfrm>
            <a:off x="6756400" y="660400"/>
            <a:ext cx="965200" cy="292388"/>
          </a:xfrm>
          <a:prstGeom prst="rect">
            <a:avLst/>
          </a:prstGeom>
          <a:noFill/>
        </p:spPr>
        <p:txBody>
          <a:bodyPr vert="horz" wrap="square" rtlCol="0">
            <a:spAutoFit/>
          </a:bodyPr>
          <a:lstStyle/>
          <a:p>
            <a:pPr algn="ctr"/>
            <a:r>
              <a:rPr lang="en-US" sz="1300" b="1">
                <a:solidFill>
                  <a:srgbClr val="FFFFFF"/>
                </a:solidFill>
                <a:latin typeface="Segoe UI" panose="020B0502040204020203" pitchFamily="34" charset="0"/>
              </a:rPr>
              <a:t>7</a:t>
            </a:r>
          </a:p>
        </p:txBody>
      </p:sp>
      <p:sp>
        <p:nvSpPr>
          <p:cNvPr id="38" name="TextBox 37">
            <a:extLst>
              <a:ext uri="{FF2B5EF4-FFF2-40B4-BE49-F238E27FC236}">
                <a16:creationId xmlns:a16="http://schemas.microsoft.com/office/drawing/2014/main" id="{969F150F-9C78-AD35-DDDB-3D0913014815}"/>
              </a:ext>
            </a:extLst>
          </p:cNvPr>
          <p:cNvSpPr txBox="1"/>
          <p:nvPr/>
        </p:nvSpPr>
        <p:spPr>
          <a:xfrm>
            <a:off x="6756400" y="889000"/>
            <a:ext cx="965200" cy="215444"/>
          </a:xfrm>
          <a:prstGeom prst="rect">
            <a:avLst/>
          </a:prstGeom>
          <a:noFill/>
        </p:spPr>
        <p:txBody>
          <a:bodyPr vert="horz" wrap="square" rtlCol="0">
            <a:spAutoFit/>
          </a:bodyPr>
          <a:lstStyle/>
          <a:p>
            <a:pPr algn="ctr"/>
            <a:r>
              <a:rPr lang="en-US" sz="800" b="1">
                <a:solidFill>
                  <a:srgbClr val="FFFFFF"/>
                </a:solidFill>
                <a:latin typeface="Segoe UI" panose="020B0502040204020203" pitchFamily="34" charset="0"/>
              </a:rPr>
              <a:t>Review</a:t>
            </a:r>
          </a:p>
        </p:txBody>
      </p:sp>
      <p:sp>
        <p:nvSpPr>
          <p:cNvPr id="39" name="TextBox 38">
            <a:extLst>
              <a:ext uri="{FF2B5EF4-FFF2-40B4-BE49-F238E27FC236}">
                <a16:creationId xmlns:a16="http://schemas.microsoft.com/office/drawing/2014/main" id="{6DA46DF3-9798-7458-38F3-236874E7B1BF}"/>
              </a:ext>
            </a:extLst>
          </p:cNvPr>
          <p:cNvSpPr txBox="1"/>
          <p:nvPr/>
        </p:nvSpPr>
        <p:spPr>
          <a:xfrm>
            <a:off x="6756400" y="1066800"/>
            <a:ext cx="965200" cy="184666"/>
          </a:xfrm>
          <a:prstGeom prst="rect">
            <a:avLst/>
          </a:prstGeom>
          <a:noFill/>
        </p:spPr>
        <p:txBody>
          <a:bodyPr vert="horz" wrap="square" rtlCol="0">
            <a:spAutoFit/>
          </a:bodyPr>
          <a:lstStyle/>
          <a:p>
            <a:pPr algn="ctr"/>
            <a:r>
              <a:rPr lang="en-US" sz="600">
                <a:solidFill>
                  <a:srgbClr val="CCCCCC"/>
                </a:solidFill>
                <a:latin typeface="Segoe UI" panose="020B0502040204020203" pitchFamily="34" charset="0"/>
              </a:rPr>
              <a:t>Human review</a:t>
            </a:r>
          </a:p>
        </p:txBody>
      </p:sp>
      <p:sp>
        <p:nvSpPr>
          <p:cNvPr id="40" name="TextBox 39">
            <a:extLst>
              <a:ext uri="{FF2B5EF4-FFF2-40B4-BE49-F238E27FC236}">
                <a16:creationId xmlns:a16="http://schemas.microsoft.com/office/drawing/2014/main" id="{AC9CE937-2FC5-8569-11BA-1E9092D01904}"/>
              </a:ext>
            </a:extLst>
          </p:cNvPr>
          <p:cNvSpPr txBox="1"/>
          <p:nvPr/>
        </p:nvSpPr>
        <p:spPr>
          <a:xfrm>
            <a:off x="7721600" y="863600"/>
            <a:ext cx="127000" cy="246221"/>
          </a:xfrm>
          <a:prstGeom prst="rect">
            <a:avLst/>
          </a:prstGeom>
          <a:noFill/>
        </p:spPr>
        <p:txBody>
          <a:bodyPr vert="horz" wrap="square" rtlCol="0">
            <a:spAutoFit/>
          </a:bodyPr>
          <a:lstStyle/>
          <a:p>
            <a:pPr algn="ctr"/>
            <a:r>
              <a:rPr lang="en-US" sz="1000" b="1">
                <a:solidFill>
                  <a:srgbClr val="888888"/>
                </a:solidFill>
                <a:latin typeface="Segoe UI" panose="020B0502040204020203" pitchFamily="34" charset="0"/>
              </a:rPr>
              <a:t>&gt;</a:t>
            </a:r>
          </a:p>
        </p:txBody>
      </p:sp>
      <p:sp>
        <p:nvSpPr>
          <p:cNvPr id="41" name="Rectangle 40">
            <a:extLst>
              <a:ext uri="{FF2B5EF4-FFF2-40B4-BE49-F238E27FC236}">
                <a16:creationId xmlns:a16="http://schemas.microsoft.com/office/drawing/2014/main" id="{F96C1531-F490-AF71-E1F4-DB0A472A345A}"/>
              </a:ext>
            </a:extLst>
          </p:cNvPr>
          <p:cNvSpPr/>
          <p:nvPr/>
        </p:nvSpPr>
        <p:spPr>
          <a:xfrm>
            <a:off x="7848600" y="635000"/>
            <a:ext cx="965200" cy="660400"/>
          </a:xfrm>
          <a:prstGeom prst="rect">
            <a:avLst/>
          </a:prstGeom>
          <a:solidFill>
            <a:srgbClr val="8659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0DEA34BE-DF89-3D17-C947-9C51B47A7DFE}"/>
              </a:ext>
            </a:extLst>
          </p:cNvPr>
          <p:cNvSpPr txBox="1"/>
          <p:nvPr/>
        </p:nvSpPr>
        <p:spPr>
          <a:xfrm>
            <a:off x="7848600" y="660400"/>
            <a:ext cx="965200" cy="292388"/>
          </a:xfrm>
          <a:prstGeom prst="rect">
            <a:avLst/>
          </a:prstGeom>
          <a:noFill/>
        </p:spPr>
        <p:txBody>
          <a:bodyPr vert="horz" wrap="square" rtlCol="0">
            <a:spAutoFit/>
          </a:bodyPr>
          <a:lstStyle/>
          <a:p>
            <a:pPr algn="ctr"/>
            <a:r>
              <a:rPr lang="en-US" sz="1300" b="1">
                <a:solidFill>
                  <a:srgbClr val="FFFFFF"/>
                </a:solidFill>
                <a:latin typeface="Segoe UI" panose="020B0502040204020203" pitchFamily="34" charset="0"/>
              </a:rPr>
              <a:t>8</a:t>
            </a:r>
          </a:p>
        </p:txBody>
      </p:sp>
      <p:sp>
        <p:nvSpPr>
          <p:cNvPr id="43" name="TextBox 42">
            <a:extLst>
              <a:ext uri="{FF2B5EF4-FFF2-40B4-BE49-F238E27FC236}">
                <a16:creationId xmlns:a16="http://schemas.microsoft.com/office/drawing/2014/main" id="{514E4644-C5ED-7F48-B02C-150A1B293B5F}"/>
              </a:ext>
            </a:extLst>
          </p:cNvPr>
          <p:cNvSpPr txBox="1"/>
          <p:nvPr/>
        </p:nvSpPr>
        <p:spPr>
          <a:xfrm>
            <a:off x="7848600" y="889000"/>
            <a:ext cx="965200" cy="215444"/>
          </a:xfrm>
          <a:prstGeom prst="rect">
            <a:avLst/>
          </a:prstGeom>
          <a:noFill/>
        </p:spPr>
        <p:txBody>
          <a:bodyPr vert="horz" wrap="square" rtlCol="0">
            <a:spAutoFit/>
          </a:bodyPr>
          <a:lstStyle/>
          <a:p>
            <a:pPr algn="ctr"/>
            <a:r>
              <a:rPr lang="en-US" sz="800" b="1">
                <a:solidFill>
                  <a:srgbClr val="FFFFFF"/>
                </a:solidFill>
                <a:latin typeface="Segoe UI" panose="020B0502040204020203" pitchFamily="34" charset="0"/>
              </a:rPr>
              <a:t>Match</a:t>
            </a:r>
          </a:p>
        </p:txBody>
      </p:sp>
      <p:sp>
        <p:nvSpPr>
          <p:cNvPr id="44" name="TextBox 43">
            <a:extLst>
              <a:ext uri="{FF2B5EF4-FFF2-40B4-BE49-F238E27FC236}">
                <a16:creationId xmlns:a16="http://schemas.microsoft.com/office/drawing/2014/main" id="{227829D7-CE3A-2E0A-2DD5-A2D82E49FA0E}"/>
              </a:ext>
            </a:extLst>
          </p:cNvPr>
          <p:cNvSpPr txBox="1"/>
          <p:nvPr/>
        </p:nvSpPr>
        <p:spPr>
          <a:xfrm>
            <a:off x="7848600" y="1066800"/>
            <a:ext cx="965200" cy="184666"/>
          </a:xfrm>
          <a:prstGeom prst="rect">
            <a:avLst/>
          </a:prstGeom>
          <a:noFill/>
        </p:spPr>
        <p:txBody>
          <a:bodyPr vert="horz" wrap="square" rtlCol="0">
            <a:spAutoFit/>
          </a:bodyPr>
          <a:lstStyle/>
          <a:p>
            <a:pPr algn="ctr"/>
            <a:r>
              <a:rPr lang="en-US" sz="600">
                <a:solidFill>
                  <a:srgbClr val="CCCCCC"/>
                </a:solidFill>
                <a:latin typeface="Segoe UI" panose="020B0502040204020203" pitchFamily="34" charset="0"/>
              </a:rPr>
              <a:t>ABB product score</a:t>
            </a:r>
          </a:p>
        </p:txBody>
      </p:sp>
      <p:sp>
        <p:nvSpPr>
          <p:cNvPr id="45" name="TextBox 44">
            <a:extLst>
              <a:ext uri="{FF2B5EF4-FFF2-40B4-BE49-F238E27FC236}">
                <a16:creationId xmlns:a16="http://schemas.microsoft.com/office/drawing/2014/main" id="{ACB992A7-3115-B891-1F1B-A81C833ADFA7}"/>
              </a:ext>
            </a:extLst>
          </p:cNvPr>
          <p:cNvSpPr txBox="1"/>
          <p:nvPr/>
        </p:nvSpPr>
        <p:spPr>
          <a:xfrm>
            <a:off x="8813800" y="863600"/>
            <a:ext cx="127000" cy="246221"/>
          </a:xfrm>
          <a:prstGeom prst="rect">
            <a:avLst/>
          </a:prstGeom>
          <a:noFill/>
        </p:spPr>
        <p:txBody>
          <a:bodyPr vert="horz" wrap="square" rtlCol="0">
            <a:spAutoFit/>
          </a:bodyPr>
          <a:lstStyle/>
          <a:p>
            <a:pPr algn="ctr"/>
            <a:r>
              <a:rPr lang="en-US" sz="1000" b="1">
                <a:solidFill>
                  <a:srgbClr val="888888"/>
                </a:solidFill>
                <a:latin typeface="Segoe UI" panose="020B0502040204020203" pitchFamily="34" charset="0"/>
              </a:rPr>
              <a:t>&gt;</a:t>
            </a:r>
          </a:p>
        </p:txBody>
      </p:sp>
      <p:sp>
        <p:nvSpPr>
          <p:cNvPr id="46" name="Rectangle 45">
            <a:extLst>
              <a:ext uri="{FF2B5EF4-FFF2-40B4-BE49-F238E27FC236}">
                <a16:creationId xmlns:a16="http://schemas.microsoft.com/office/drawing/2014/main" id="{21B2BBDD-26EB-AC64-7599-B91259EA149E}"/>
              </a:ext>
            </a:extLst>
          </p:cNvPr>
          <p:cNvSpPr/>
          <p:nvPr/>
        </p:nvSpPr>
        <p:spPr>
          <a:xfrm>
            <a:off x="8940800" y="635000"/>
            <a:ext cx="965200" cy="660400"/>
          </a:xfrm>
          <a:prstGeom prst="rect">
            <a:avLst/>
          </a:prstGeom>
          <a:solidFill>
            <a:srgbClr val="8659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84345956-CCAF-AAAE-A318-D8FE8E3A60E9}"/>
              </a:ext>
            </a:extLst>
          </p:cNvPr>
          <p:cNvSpPr txBox="1"/>
          <p:nvPr/>
        </p:nvSpPr>
        <p:spPr>
          <a:xfrm>
            <a:off x="8940800" y="660400"/>
            <a:ext cx="965200" cy="292388"/>
          </a:xfrm>
          <a:prstGeom prst="rect">
            <a:avLst/>
          </a:prstGeom>
          <a:noFill/>
        </p:spPr>
        <p:txBody>
          <a:bodyPr vert="horz" wrap="square" rtlCol="0">
            <a:spAutoFit/>
          </a:bodyPr>
          <a:lstStyle/>
          <a:p>
            <a:pPr algn="ctr"/>
            <a:r>
              <a:rPr lang="en-US" sz="1300" b="1">
                <a:solidFill>
                  <a:srgbClr val="FFFFFF"/>
                </a:solidFill>
                <a:latin typeface="Segoe UI" panose="020B0502040204020203" pitchFamily="34" charset="0"/>
              </a:rPr>
              <a:t>9</a:t>
            </a:r>
          </a:p>
        </p:txBody>
      </p:sp>
      <p:sp>
        <p:nvSpPr>
          <p:cNvPr id="48" name="TextBox 47">
            <a:extLst>
              <a:ext uri="{FF2B5EF4-FFF2-40B4-BE49-F238E27FC236}">
                <a16:creationId xmlns:a16="http://schemas.microsoft.com/office/drawing/2014/main" id="{6E6B385A-D9B0-754A-DF7A-EE72916E3CC7}"/>
              </a:ext>
            </a:extLst>
          </p:cNvPr>
          <p:cNvSpPr txBox="1"/>
          <p:nvPr/>
        </p:nvSpPr>
        <p:spPr>
          <a:xfrm>
            <a:off x="8940800" y="889000"/>
            <a:ext cx="965200" cy="215444"/>
          </a:xfrm>
          <a:prstGeom prst="rect">
            <a:avLst/>
          </a:prstGeom>
          <a:noFill/>
        </p:spPr>
        <p:txBody>
          <a:bodyPr vert="horz" wrap="square" rtlCol="0">
            <a:spAutoFit/>
          </a:bodyPr>
          <a:lstStyle/>
          <a:p>
            <a:pPr algn="ctr"/>
            <a:r>
              <a:rPr lang="en-US" sz="800" b="1">
                <a:solidFill>
                  <a:srgbClr val="FFFFFF"/>
                </a:solidFill>
                <a:latin typeface="Segoe UI" panose="020B0502040204020203" pitchFamily="34" charset="0"/>
              </a:rPr>
              <a:t>Export</a:t>
            </a:r>
          </a:p>
        </p:txBody>
      </p:sp>
      <p:sp>
        <p:nvSpPr>
          <p:cNvPr id="49" name="TextBox 48">
            <a:extLst>
              <a:ext uri="{FF2B5EF4-FFF2-40B4-BE49-F238E27FC236}">
                <a16:creationId xmlns:a16="http://schemas.microsoft.com/office/drawing/2014/main" id="{935A4432-5AD6-1237-8DA8-4BE742F16D89}"/>
              </a:ext>
            </a:extLst>
          </p:cNvPr>
          <p:cNvSpPr txBox="1"/>
          <p:nvPr/>
        </p:nvSpPr>
        <p:spPr>
          <a:xfrm>
            <a:off x="8940800" y="1066800"/>
            <a:ext cx="965200" cy="276999"/>
          </a:xfrm>
          <a:prstGeom prst="rect">
            <a:avLst/>
          </a:prstGeom>
          <a:noFill/>
        </p:spPr>
        <p:txBody>
          <a:bodyPr vert="horz" wrap="square" rtlCol="0">
            <a:spAutoFit/>
          </a:bodyPr>
          <a:lstStyle/>
          <a:p>
            <a:pPr algn="ctr"/>
            <a:r>
              <a:rPr lang="en-US" sz="600">
                <a:solidFill>
                  <a:srgbClr val="CCCCCC"/>
                </a:solidFill>
                <a:latin typeface="Segoe UI" panose="020B0502040204020203" pitchFamily="34" charset="0"/>
              </a:rPr>
              <a:t>ABB XML (blocked if MissingData)</a:t>
            </a:r>
          </a:p>
        </p:txBody>
      </p:sp>
      <p:sp>
        <p:nvSpPr>
          <p:cNvPr id="50" name="TextBox 49">
            <a:extLst>
              <a:ext uri="{FF2B5EF4-FFF2-40B4-BE49-F238E27FC236}">
                <a16:creationId xmlns:a16="http://schemas.microsoft.com/office/drawing/2014/main" id="{FF8C51B8-22B8-B18F-B403-BD7DD5718F77}"/>
              </a:ext>
            </a:extLst>
          </p:cNvPr>
          <p:cNvSpPr txBox="1"/>
          <p:nvPr/>
        </p:nvSpPr>
        <p:spPr>
          <a:xfrm>
            <a:off x="254000" y="1422400"/>
            <a:ext cx="8636000" cy="276999"/>
          </a:xfrm>
          <a:prstGeom prst="rect">
            <a:avLst/>
          </a:prstGeom>
          <a:noFill/>
        </p:spPr>
        <p:txBody>
          <a:bodyPr vert="horz" wrap="square" rtlCol="0">
            <a:spAutoFit/>
          </a:bodyPr>
          <a:lstStyle/>
          <a:p>
            <a:r>
              <a:rPr lang="en-US" sz="1200" b="1">
                <a:solidFill>
                  <a:srgbClr val="FFFFFF"/>
                </a:solidFill>
                <a:latin typeface="Segoe UI" panose="020B0502040204020203" pitchFamily="34" charset="0"/>
              </a:rPr>
              <a:t>ABB Product Matching Logic</a:t>
            </a:r>
          </a:p>
        </p:txBody>
      </p:sp>
      <p:sp>
        <p:nvSpPr>
          <p:cNvPr id="51" name="Rectangle 50">
            <a:extLst>
              <a:ext uri="{FF2B5EF4-FFF2-40B4-BE49-F238E27FC236}">
                <a16:creationId xmlns:a16="http://schemas.microsoft.com/office/drawing/2014/main" id="{5AD41209-89C6-33C5-8031-DF21E17FC179}"/>
              </a:ext>
            </a:extLst>
          </p:cNvPr>
          <p:cNvSpPr/>
          <p:nvPr/>
        </p:nvSpPr>
        <p:spPr>
          <a:xfrm>
            <a:off x="254000" y="1676400"/>
            <a:ext cx="8636000" cy="1727200"/>
          </a:xfrm>
          <a:prstGeom prst="rect">
            <a:avLst/>
          </a:prstGeom>
          <a:solidFill>
            <a:srgbClr val="1A1A1A"/>
          </a:solidFill>
          <a:ln w="12700">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0636C848-B0AF-05E5-6A7B-980A6DFE8EB6}"/>
              </a:ext>
            </a:extLst>
          </p:cNvPr>
          <p:cNvSpPr txBox="1"/>
          <p:nvPr/>
        </p:nvSpPr>
        <p:spPr>
          <a:xfrm>
            <a:off x="355600" y="1727200"/>
            <a:ext cx="8432800" cy="215444"/>
          </a:xfrm>
          <a:prstGeom prst="rect">
            <a:avLst/>
          </a:prstGeom>
          <a:noFill/>
        </p:spPr>
        <p:txBody>
          <a:bodyPr vert="horz" wrap="square" rtlCol="0">
            <a:spAutoFit/>
          </a:bodyPr>
          <a:lstStyle/>
          <a:p>
            <a:r>
              <a:rPr lang="en-US" sz="800" b="1">
                <a:solidFill>
                  <a:srgbClr val="AAAAAA"/>
                </a:solidFill>
                <a:latin typeface="Segoe UI" panose="020B0502040204020203" pitchFamily="34" charset="0"/>
              </a:rPr>
              <a:t>Level 1 Parameters used for scoring:</a:t>
            </a:r>
          </a:p>
        </p:txBody>
      </p:sp>
      <p:sp>
        <p:nvSpPr>
          <p:cNvPr id="53" name="TextBox 52">
            <a:extLst>
              <a:ext uri="{FF2B5EF4-FFF2-40B4-BE49-F238E27FC236}">
                <a16:creationId xmlns:a16="http://schemas.microsoft.com/office/drawing/2014/main" id="{8B56AFD3-8368-FCB0-477F-4862439F067C}"/>
              </a:ext>
            </a:extLst>
          </p:cNvPr>
          <p:cNvSpPr txBox="1"/>
          <p:nvPr/>
        </p:nvSpPr>
        <p:spPr>
          <a:xfrm>
            <a:off x="355600" y="1930400"/>
            <a:ext cx="8432800" cy="215444"/>
          </a:xfrm>
          <a:prstGeom prst="rect">
            <a:avLst/>
          </a:prstGeom>
          <a:noFill/>
        </p:spPr>
        <p:txBody>
          <a:bodyPr vert="horz" wrap="square" rtlCol="0">
            <a:spAutoFit/>
          </a:bodyPr>
          <a:lstStyle/>
          <a:p>
            <a:r>
              <a:rPr lang="en-US" sz="800">
                <a:solidFill>
                  <a:srgbClr val="888888"/>
                </a:solidFill>
                <a:latin typeface="Segoe UI" panose="020B0502040204020203" pitchFamily="34" charset="0"/>
              </a:rPr>
              <a:t>OperatingVoltage | ShortCircuitLevel | RatedBusbarCurrent | PanelRatedCurrent | Market | BusbarArrangement | Insulation | Distribution | IngressProtection | InternalArcClassification</a:t>
            </a:r>
          </a:p>
        </p:txBody>
      </p:sp>
      <p:sp>
        <p:nvSpPr>
          <p:cNvPr id="54" name="Rectangle 53">
            <a:extLst>
              <a:ext uri="{FF2B5EF4-FFF2-40B4-BE49-F238E27FC236}">
                <a16:creationId xmlns:a16="http://schemas.microsoft.com/office/drawing/2014/main" id="{242B70FD-7994-4490-D55B-EF45EC5391A5}"/>
              </a:ext>
            </a:extLst>
          </p:cNvPr>
          <p:cNvSpPr/>
          <p:nvPr/>
        </p:nvSpPr>
        <p:spPr>
          <a:xfrm>
            <a:off x="355600" y="2209800"/>
            <a:ext cx="2057400" cy="533400"/>
          </a:xfrm>
          <a:prstGeom prst="rect">
            <a:avLst/>
          </a:prstGeom>
          <a:solidFill>
            <a:srgbClr val="222222"/>
          </a:solidFill>
          <a:ln w="12700">
            <a:solidFill>
              <a:srgbClr val="444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03355666-9BBE-1455-C74E-1C2885F3A90A}"/>
              </a:ext>
            </a:extLst>
          </p:cNvPr>
          <p:cNvSpPr/>
          <p:nvPr/>
        </p:nvSpPr>
        <p:spPr>
          <a:xfrm>
            <a:off x="355600" y="2209800"/>
            <a:ext cx="2057400" cy="203200"/>
          </a:xfrm>
          <a:prstGeom prst="rect">
            <a:avLst/>
          </a:prstGeom>
          <a:solidFill>
            <a:srgbClr val="1E7A1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a:extLst>
              <a:ext uri="{FF2B5EF4-FFF2-40B4-BE49-F238E27FC236}">
                <a16:creationId xmlns:a16="http://schemas.microsoft.com/office/drawing/2014/main" id="{F851B90A-3AA5-AFF6-AA2D-0B9C52DA5931}"/>
              </a:ext>
            </a:extLst>
          </p:cNvPr>
          <p:cNvSpPr txBox="1"/>
          <p:nvPr/>
        </p:nvSpPr>
        <p:spPr>
          <a:xfrm>
            <a:off x="406400" y="2209800"/>
            <a:ext cx="1955800" cy="200055"/>
          </a:xfrm>
          <a:prstGeom prst="rect">
            <a:avLst/>
          </a:prstGeom>
          <a:noFill/>
        </p:spPr>
        <p:txBody>
          <a:bodyPr vert="horz" wrap="square" rtlCol="0">
            <a:spAutoFit/>
          </a:bodyPr>
          <a:lstStyle/>
          <a:p>
            <a:pPr algn="ctr"/>
            <a:r>
              <a:rPr lang="en-US" sz="700" b="1">
                <a:solidFill>
                  <a:srgbClr val="FFFFFF"/>
                </a:solidFill>
                <a:latin typeface="Segoe UI" panose="020B0502040204020203" pitchFamily="34" charset="0"/>
              </a:rPr>
              <a:t>RECOMMENDED</a:t>
            </a:r>
          </a:p>
        </p:txBody>
      </p:sp>
      <p:sp>
        <p:nvSpPr>
          <p:cNvPr id="57" name="TextBox 56">
            <a:extLst>
              <a:ext uri="{FF2B5EF4-FFF2-40B4-BE49-F238E27FC236}">
                <a16:creationId xmlns:a16="http://schemas.microsoft.com/office/drawing/2014/main" id="{7F53720B-D6D6-E0F4-DB6E-EF74D78B3BD5}"/>
              </a:ext>
            </a:extLst>
          </p:cNvPr>
          <p:cNvSpPr txBox="1"/>
          <p:nvPr/>
        </p:nvSpPr>
        <p:spPr>
          <a:xfrm>
            <a:off x="406400" y="2438400"/>
            <a:ext cx="1955800" cy="184666"/>
          </a:xfrm>
          <a:prstGeom prst="rect">
            <a:avLst/>
          </a:prstGeom>
          <a:noFill/>
        </p:spPr>
        <p:txBody>
          <a:bodyPr vert="horz" wrap="square" rtlCol="0">
            <a:spAutoFit/>
          </a:bodyPr>
          <a:lstStyle/>
          <a:p>
            <a:pPr algn="ctr"/>
            <a:r>
              <a:rPr lang="en-US" sz="600">
                <a:solidFill>
                  <a:srgbClr val="BBBBBB"/>
                </a:solidFill>
                <a:latin typeface="Segoe UI" panose="020B0502040204020203" pitchFamily="34" charset="0"/>
              </a:rPr>
              <a:t>0 mismatches + &gt;=3 param matches</a:t>
            </a:r>
          </a:p>
        </p:txBody>
      </p:sp>
      <p:sp>
        <p:nvSpPr>
          <p:cNvPr id="58" name="Rectangle 57">
            <a:extLst>
              <a:ext uri="{FF2B5EF4-FFF2-40B4-BE49-F238E27FC236}">
                <a16:creationId xmlns:a16="http://schemas.microsoft.com/office/drawing/2014/main" id="{C0138E3D-FEAC-3AC4-58FA-2CB951609397}"/>
              </a:ext>
            </a:extLst>
          </p:cNvPr>
          <p:cNvSpPr/>
          <p:nvPr/>
        </p:nvSpPr>
        <p:spPr>
          <a:xfrm>
            <a:off x="2463800" y="2209800"/>
            <a:ext cx="2057400" cy="533400"/>
          </a:xfrm>
          <a:prstGeom prst="rect">
            <a:avLst/>
          </a:prstGeom>
          <a:solidFill>
            <a:srgbClr val="222222"/>
          </a:solidFill>
          <a:ln w="12700">
            <a:solidFill>
              <a:srgbClr val="444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5F44F5AF-CC1A-C6F1-F095-94B1BFDDF9E4}"/>
              </a:ext>
            </a:extLst>
          </p:cNvPr>
          <p:cNvSpPr/>
          <p:nvPr/>
        </p:nvSpPr>
        <p:spPr>
          <a:xfrm>
            <a:off x="2463800" y="2209800"/>
            <a:ext cx="2057400" cy="203200"/>
          </a:xfrm>
          <a:prstGeom prst="rect">
            <a:avLst/>
          </a:prstGeom>
          <a:solidFill>
            <a:srgbClr val="FF8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extBox 59">
            <a:extLst>
              <a:ext uri="{FF2B5EF4-FFF2-40B4-BE49-F238E27FC236}">
                <a16:creationId xmlns:a16="http://schemas.microsoft.com/office/drawing/2014/main" id="{A2D9950D-3799-C781-B518-E58739D4BB06}"/>
              </a:ext>
            </a:extLst>
          </p:cNvPr>
          <p:cNvSpPr txBox="1"/>
          <p:nvPr/>
        </p:nvSpPr>
        <p:spPr>
          <a:xfrm>
            <a:off x="2514600" y="2209800"/>
            <a:ext cx="1955800" cy="200055"/>
          </a:xfrm>
          <a:prstGeom prst="rect">
            <a:avLst/>
          </a:prstGeom>
          <a:noFill/>
        </p:spPr>
        <p:txBody>
          <a:bodyPr vert="horz" wrap="square" rtlCol="0">
            <a:spAutoFit/>
          </a:bodyPr>
          <a:lstStyle/>
          <a:p>
            <a:pPr algn="ctr"/>
            <a:r>
              <a:rPr lang="en-US" sz="700" b="1">
                <a:solidFill>
                  <a:srgbClr val="FFFFFF"/>
                </a:solidFill>
                <a:latin typeface="Segoe UI" panose="020B0502040204020203" pitchFamily="34" charset="0"/>
              </a:rPr>
              <a:t>COMPATIBLE</a:t>
            </a:r>
          </a:p>
        </p:txBody>
      </p:sp>
      <p:sp>
        <p:nvSpPr>
          <p:cNvPr id="61" name="TextBox 60">
            <a:extLst>
              <a:ext uri="{FF2B5EF4-FFF2-40B4-BE49-F238E27FC236}">
                <a16:creationId xmlns:a16="http://schemas.microsoft.com/office/drawing/2014/main" id="{DD51C64F-9E0C-D568-CD65-5A5E76ADDFB0}"/>
              </a:ext>
            </a:extLst>
          </p:cNvPr>
          <p:cNvSpPr txBox="1"/>
          <p:nvPr/>
        </p:nvSpPr>
        <p:spPr>
          <a:xfrm>
            <a:off x="2514600" y="2438400"/>
            <a:ext cx="1955800" cy="184666"/>
          </a:xfrm>
          <a:prstGeom prst="rect">
            <a:avLst/>
          </a:prstGeom>
          <a:noFill/>
        </p:spPr>
        <p:txBody>
          <a:bodyPr vert="horz" wrap="square" rtlCol="0">
            <a:spAutoFit/>
          </a:bodyPr>
          <a:lstStyle/>
          <a:p>
            <a:pPr algn="ctr"/>
            <a:r>
              <a:rPr lang="en-US" sz="600">
                <a:solidFill>
                  <a:srgbClr val="BBBBBB"/>
                </a:solidFill>
                <a:latin typeface="Segoe UI" panose="020B0502040204020203" pitchFamily="34" charset="0"/>
              </a:rPr>
              <a:t>&gt;=65% score + &lt;=2 mismatches</a:t>
            </a:r>
          </a:p>
        </p:txBody>
      </p:sp>
      <p:sp>
        <p:nvSpPr>
          <p:cNvPr id="62" name="Rectangle 61">
            <a:extLst>
              <a:ext uri="{FF2B5EF4-FFF2-40B4-BE49-F238E27FC236}">
                <a16:creationId xmlns:a16="http://schemas.microsoft.com/office/drawing/2014/main" id="{225A0408-47C8-8618-B766-83CABD506647}"/>
              </a:ext>
            </a:extLst>
          </p:cNvPr>
          <p:cNvSpPr/>
          <p:nvPr/>
        </p:nvSpPr>
        <p:spPr>
          <a:xfrm>
            <a:off x="4572000" y="2209800"/>
            <a:ext cx="2057400" cy="533400"/>
          </a:xfrm>
          <a:prstGeom prst="rect">
            <a:avLst/>
          </a:prstGeom>
          <a:solidFill>
            <a:srgbClr val="222222"/>
          </a:solidFill>
          <a:ln w="12700">
            <a:solidFill>
              <a:srgbClr val="444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53340F9D-D25C-F475-61BA-A65E1496C9BB}"/>
              </a:ext>
            </a:extLst>
          </p:cNvPr>
          <p:cNvSpPr/>
          <p:nvPr/>
        </p:nvSpPr>
        <p:spPr>
          <a:xfrm>
            <a:off x="4572000" y="2209800"/>
            <a:ext cx="2057400" cy="203200"/>
          </a:xfrm>
          <a:prstGeom prst="rect">
            <a:avLst/>
          </a:prstGeom>
          <a:solidFill>
            <a:srgbClr val="0055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extBox 63">
            <a:extLst>
              <a:ext uri="{FF2B5EF4-FFF2-40B4-BE49-F238E27FC236}">
                <a16:creationId xmlns:a16="http://schemas.microsoft.com/office/drawing/2014/main" id="{CA9E241D-971F-FA7D-A0E2-6AF99C44EB52}"/>
              </a:ext>
            </a:extLst>
          </p:cNvPr>
          <p:cNvSpPr txBox="1"/>
          <p:nvPr/>
        </p:nvSpPr>
        <p:spPr>
          <a:xfrm>
            <a:off x="4622800" y="2209800"/>
            <a:ext cx="1955800" cy="200055"/>
          </a:xfrm>
          <a:prstGeom prst="rect">
            <a:avLst/>
          </a:prstGeom>
          <a:noFill/>
        </p:spPr>
        <p:txBody>
          <a:bodyPr vert="horz" wrap="square" rtlCol="0">
            <a:spAutoFit/>
          </a:bodyPr>
          <a:lstStyle/>
          <a:p>
            <a:pPr algn="ctr"/>
            <a:r>
              <a:rPr lang="en-US" sz="700" b="1">
                <a:solidFill>
                  <a:srgbClr val="FFFFFF"/>
                </a:solidFill>
                <a:latin typeface="Segoe UI" panose="020B0502040204020203" pitchFamily="34" charset="0"/>
              </a:rPr>
              <a:t>PARTIAL</a:t>
            </a:r>
          </a:p>
        </p:txBody>
      </p:sp>
      <p:sp>
        <p:nvSpPr>
          <p:cNvPr id="65" name="TextBox 64">
            <a:extLst>
              <a:ext uri="{FF2B5EF4-FFF2-40B4-BE49-F238E27FC236}">
                <a16:creationId xmlns:a16="http://schemas.microsoft.com/office/drawing/2014/main" id="{BE143D57-4CE0-953F-3D40-AEBB35A4278B}"/>
              </a:ext>
            </a:extLst>
          </p:cNvPr>
          <p:cNvSpPr txBox="1"/>
          <p:nvPr/>
        </p:nvSpPr>
        <p:spPr>
          <a:xfrm>
            <a:off x="4622800" y="2438400"/>
            <a:ext cx="1955800" cy="184666"/>
          </a:xfrm>
          <a:prstGeom prst="rect">
            <a:avLst/>
          </a:prstGeom>
          <a:noFill/>
        </p:spPr>
        <p:txBody>
          <a:bodyPr vert="horz" wrap="square" rtlCol="0">
            <a:spAutoFit/>
          </a:bodyPr>
          <a:lstStyle/>
          <a:p>
            <a:pPr algn="ctr"/>
            <a:r>
              <a:rPr lang="en-US" sz="600">
                <a:solidFill>
                  <a:srgbClr val="BBBBBB"/>
                </a:solidFill>
                <a:latin typeface="Segoe UI" panose="020B0502040204020203" pitchFamily="34" charset="0"/>
              </a:rPr>
              <a:t>30-64% score</a:t>
            </a:r>
          </a:p>
        </p:txBody>
      </p:sp>
      <p:sp>
        <p:nvSpPr>
          <p:cNvPr id="66" name="Rectangle 65">
            <a:extLst>
              <a:ext uri="{FF2B5EF4-FFF2-40B4-BE49-F238E27FC236}">
                <a16:creationId xmlns:a16="http://schemas.microsoft.com/office/drawing/2014/main" id="{2F284688-4216-18D4-6C1B-14E5339AED92}"/>
              </a:ext>
            </a:extLst>
          </p:cNvPr>
          <p:cNvSpPr/>
          <p:nvPr/>
        </p:nvSpPr>
        <p:spPr>
          <a:xfrm>
            <a:off x="6680200" y="2209800"/>
            <a:ext cx="2057400" cy="533400"/>
          </a:xfrm>
          <a:prstGeom prst="rect">
            <a:avLst/>
          </a:prstGeom>
          <a:solidFill>
            <a:srgbClr val="222222"/>
          </a:solidFill>
          <a:ln w="12700">
            <a:solidFill>
              <a:srgbClr val="444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466DDA83-E5A4-31D6-1734-2FA901F88571}"/>
              </a:ext>
            </a:extLst>
          </p:cNvPr>
          <p:cNvSpPr/>
          <p:nvPr/>
        </p:nvSpPr>
        <p:spPr>
          <a:xfrm>
            <a:off x="6680200" y="2209800"/>
            <a:ext cx="2057400" cy="2032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TextBox 67">
            <a:extLst>
              <a:ext uri="{FF2B5EF4-FFF2-40B4-BE49-F238E27FC236}">
                <a16:creationId xmlns:a16="http://schemas.microsoft.com/office/drawing/2014/main" id="{38AC7010-7D24-2076-138D-E38752123D3C}"/>
              </a:ext>
            </a:extLst>
          </p:cNvPr>
          <p:cNvSpPr txBox="1"/>
          <p:nvPr/>
        </p:nvSpPr>
        <p:spPr>
          <a:xfrm>
            <a:off x="6731000" y="2209800"/>
            <a:ext cx="1955800" cy="200055"/>
          </a:xfrm>
          <a:prstGeom prst="rect">
            <a:avLst/>
          </a:prstGeom>
          <a:noFill/>
        </p:spPr>
        <p:txBody>
          <a:bodyPr vert="horz" wrap="square" rtlCol="0">
            <a:spAutoFit/>
          </a:bodyPr>
          <a:lstStyle/>
          <a:p>
            <a:pPr algn="ctr"/>
            <a:r>
              <a:rPr lang="en-US" sz="700" b="1">
                <a:solidFill>
                  <a:srgbClr val="FFFFFF"/>
                </a:solidFill>
                <a:latin typeface="Segoe UI" panose="020B0502040204020203" pitchFamily="34" charset="0"/>
              </a:rPr>
              <a:t>INCOMPATIBLE</a:t>
            </a:r>
          </a:p>
        </p:txBody>
      </p:sp>
      <p:sp>
        <p:nvSpPr>
          <p:cNvPr id="69" name="TextBox 68">
            <a:extLst>
              <a:ext uri="{FF2B5EF4-FFF2-40B4-BE49-F238E27FC236}">
                <a16:creationId xmlns:a16="http://schemas.microsoft.com/office/drawing/2014/main" id="{A9681995-6211-41B3-3711-3F4EFC9D9FB0}"/>
              </a:ext>
            </a:extLst>
          </p:cNvPr>
          <p:cNvSpPr txBox="1"/>
          <p:nvPr/>
        </p:nvSpPr>
        <p:spPr>
          <a:xfrm>
            <a:off x="6731000" y="2438400"/>
            <a:ext cx="1955800" cy="184666"/>
          </a:xfrm>
          <a:prstGeom prst="rect">
            <a:avLst/>
          </a:prstGeom>
          <a:noFill/>
        </p:spPr>
        <p:txBody>
          <a:bodyPr vert="horz" wrap="square" rtlCol="0">
            <a:spAutoFit/>
          </a:bodyPr>
          <a:lstStyle/>
          <a:p>
            <a:pPr algn="ctr"/>
            <a:r>
              <a:rPr lang="en-US" sz="600">
                <a:solidFill>
                  <a:srgbClr val="BBBBBB"/>
                </a:solidFill>
                <a:latin typeface="Segoe UI" panose="020B0502040204020203" pitchFamily="34" charset="0"/>
              </a:rPr>
              <a:t>&lt; 30% or critical mismatch</a:t>
            </a:r>
          </a:p>
        </p:txBody>
      </p:sp>
      <p:sp>
        <p:nvSpPr>
          <p:cNvPr id="70" name="TextBox 69">
            <a:extLst>
              <a:ext uri="{FF2B5EF4-FFF2-40B4-BE49-F238E27FC236}">
                <a16:creationId xmlns:a16="http://schemas.microsoft.com/office/drawing/2014/main" id="{D8289AC0-8C33-1CFC-0F94-26EE40FFABE4}"/>
              </a:ext>
            </a:extLst>
          </p:cNvPr>
          <p:cNvSpPr txBox="1"/>
          <p:nvPr/>
        </p:nvSpPr>
        <p:spPr>
          <a:xfrm>
            <a:off x="355600" y="2819400"/>
            <a:ext cx="8432800" cy="307777"/>
          </a:xfrm>
          <a:prstGeom prst="rect">
            <a:avLst/>
          </a:prstGeom>
          <a:noFill/>
        </p:spPr>
        <p:txBody>
          <a:bodyPr vert="horz" wrap="square" rtlCol="0">
            <a:spAutoFit/>
          </a:bodyPr>
          <a:lstStyle/>
          <a:p>
            <a:r>
              <a:rPr lang="en-US" sz="700">
                <a:solidFill>
                  <a:srgbClr val="888888"/>
                </a:solidFill>
                <a:latin typeface="Segoe UI" panose="020B0502040204020203" pitchFamily="34" charset="0"/>
              </a:rPr>
              <a:t>Primary: Live ABB Sales Configurator API  |  Timeout: 8s
Local Fallback: pre-scored product table -- scores against all 11 Level 1 criteria independently</a:t>
            </a:r>
          </a:p>
        </p:txBody>
      </p:sp>
      <p:sp>
        <p:nvSpPr>
          <p:cNvPr id="71" name="TextBox 70">
            <a:extLst>
              <a:ext uri="{FF2B5EF4-FFF2-40B4-BE49-F238E27FC236}">
                <a16:creationId xmlns:a16="http://schemas.microsoft.com/office/drawing/2014/main" id="{246EFD2C-3221-CC37-F44B-12FBF7635620}"/>
              </a:ext>
            </a:extLst>
          </p:cNvPr>
          <p:cNvSpPr txBox="1"/>
          <p:nvPr/>
        </p:nvSpPr>
        <p:spPr>
          <a:xfrm>
            <a:off x="254000" y="3429000"/>
            <a:ext cx="8636000" cy="276999"/>
          </a:xfrm>
          <a:prstGeom prst="rect">
            <a:avLst/>
          </a:prstGeom>
          <a:noFill/>
        </p:spPr>
        <p:txBody>
          <a:bodyPr vert="horz" wrap="square" rtlCol="0">
            <a:spAutoFit/>
          </a:bodyPr>
          <a:lstStyle/>
          <a:p>
            <a:r>
              <a:rPr lang="en-US" sz="1200" b="1">
                <a:solidFill>
                  <a:srgbClr val="FFFFFF"/>
                </a:solidFill>
                <a:latin typeface="Segoe UI" panose="020B0502040204020203" pitchFamily="34" charset="0"/>
              </a:rPr>
              <a:t>Processing Pipeline States</a:t>
            </a:r>
          </a:p>
        </p:txBody>
      </p:sp>
      <p:sp>
        <p:nvSpPr>
          <p:cNvPr id="72" name="Rectangle 71">
            <a:extLst>
              <a:ext uri="{FF2B5EF4-FFF2-40B4-BE49-F238E27FC236}">
                <a16:creationId xmlns:a16="http://schemas.microsoft.com/office/drawing/2014/main" id="{BD297E89-A67C-810B-25F2-88FD2DEFF553}"/>
              </a:ext>
            </a:extLst>
          </p:cNvPr>
          <p:cNvSpPr/>
          <p:nvPr/>
        </p:nvSpPr>
        <p:spPr>
          <a:xfrm>
            <a:off x="203200" y="3683000"/>
            <a:ext cx="1676400" cy="711200"/>
          </a:xfrm>
          <a:prstGeom prst="rect">
            <a:avLst/>
          </a:prstGeom>
          <a:solidFill>
            <a:srgbClr val="33333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TextBox 72">
            <a:extLst>
              <a:ext uri="{FF2B5EF4-FFF2-40B4-BE49-F238E27FC236}">
                <a16:creationId xmlns:a16="http://schemas.microsoft.com/office/drawing/2014/main" id="{E83A13E5-AB3D-C595-AEC5-5CB32C310C9B}"/>
              </a:ext>
            </a:extLst>
          </p:cNvPr>
          <p:cNvSpPr txBox="1"/>
          <p:nvPr/>
        </p:nvSpPr>
        <p:spPr>
          <a:xfrm>
            <a:off x="203200" y="3683000"/>
            <a:ext cx="1676400" cy="215444"/>
          </a:xfrm>
          <a:prstGeom prst="rect">
            <a:avLst/>
          </a:prstGeom>
          <a:noFill/>
        </p:spPr>
        <p:txBody>
          <a:bodyPr vert="horz" wrap="square" rtlCol="0">
            <a:spAutoFit/>
          </a:bodyPr>
          <a:lstStyle/>
          <a:p>
            <a:pPr algn="ctr"/>
            <a:r>
              <a:rPr lang="en-US" sz="800" b="1">
                <a:solidFill>
                  <a:srgbClr val="FFFFFF"/>
                </a:solidFill>
                <a:latin typeface="Segoe UI" panose="020B0502040204020203" pitchFamily="34" charset="0"/>
              </a:rPr>
              <a:t>Queued</a:t>
            </a:r>
          </a:p>
        </p:txBody>
      </p:sp>
      <p:sp>
        <p:nvSpPr>
          <p:cNvPr id="74" name="TextBox 73">
            <a:extLst>
              <a:ext uri="{FF2B5EF4-FFF2-40B4-BE49-F238E27FC236}">
                <a16:creationId xmlns:a16="http://schemas.microsoft.com/office/drawing/2014/main" id="{FFC380D4-76BD-A87E-D32D-30E11DE6AA39}"/>
              </a:ext>
            </a:extLst>
          </p:cNvPr>
          <p:cNvSpPr txBox="1"/>
          <p:nvPr/>
        </p:nvSpPr>
        <p:spPr>
          <a:xfrm>
            <a:off x="1879600" y="3962400"/>
            <a:ext cx="152400" cy="276999"/>
          </a:xfrm>
          <a:prstGeom prst="rect">
            <a:avLst/>
          </a:prstGeom>
          <a:noFill/>
        </p:spPr>
        <p:txBody>
          <a:bodyPr vert="horz" wrap="square" rtlCol="0">
            <a:spAutoFit/>
          </a:bodyPr>
          <a:lstStyle/>
          <a:p>
            <a:pPr algn="ctr"/>
            <a:r>
              <a:rPr lang="en-US" sz="1200" b="1">
                <a:solidFill>
                  <a:srgbClr val="888888"/>
                </a:solidFill>
                <a:latin typeface="Segoe UI" panose="020B0502040204020203" pitchFamily="34" charset="0"/>
              </a:rPr>
              <a:t>&gt;</a:t>
            </a:r>
          </a:p>
        </p:txBody>
      </p:sp>
      <p:sp>
        <p:nvSpPr>
          <p:cNvPr id="75" name="Rectangle 74">
            <a:extLst>
              <a:ext uri="{FF2B5EF4-FFF2-40B4-BE49-F238E27FC236}">
                <a16:creationId xmlns:a16="http://schemas.microsoft.com/office/drawing/2014/main" id="{BC0F09F4-343C-9EA5-6CFE-A23E185D8E51}"/>
              </a:ext>
            </a:extLst>
          </p:cNvPr>
          <p:cNvSpPr/>
          <p:nvPr/>
        </p:nvSpPr>
        <p:spPr>
          <a:xfrm>
            <a:off x="2032000" y="3683000"/>
            <a:ext cx="1676400" cy="711200"/>
          </a:xfrm>
          <a:prstGeom prst="rect">
            <a:avLst/>
          </a:prstGeom>
          <a:solidFill>
            <a:srgbClr val="5C3A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TextBox 75">
            <a:extLst>
              <a:ext uri="{FF2B5EF4-FFF2-40B4-BE49-F238E27FC236}">
                <a16:creationId xmlns:a16="http://schemas.microsoft.com/office/drawing/2014/main" id="{664BEA41-01C0-C60D-27AF-1E65FAD0F0E5}"/>
              </a:ext>
            </a:extLst>
          </p:cNvPr>
          <p:cNvSpPr txBox="1"/>
          <p:nvPr/>
        </p:nvSpPr>
        <p:spPr>
          <a:xfrm>
            <a:off x="2032000" y="3683000"/>
            <a:ext cx="1676400" cy="215444"/>
          </a:xfrm>
          <a:prstGeom prst="rect">
            <a:avLst/>
          </a:prstGeom>
          <a:noFill/>
        </p:spPr>
        <p:txBody>
          <a:bodyPr vert="horz" wrap="square" rtlCol="0">
            <a:spAutoFit/>
          </a:bodyPr>
          <a:lstStyle/>
          <a:p>
            <a:pPr algn="ctr"/>
            <a:r>
              <a:rPr lang="en-US" sz="800" b="1">
                <a:solidFill>
                  <a:srgbClr val="FFFFFF"/>
                </a:solidFill>
                <a:latin typeface="Segoe UI" panose="020B0502040204020203" pitchFamily="34" charset="0"/>
              </a:rPr>
              <a:t>Processing</a:t>
            </a:r>
          </a:p>
        </p:txBody>
      </p:sp>
      <p:sp>
        <p:nvSpPr>
          <p:cNvPr id="77" name="TextBox 76">
            <a:extLst>
              <a:ext uri="{FF2B5EF4-FFF2-40B4-BE49-F238E27FC236}">
                <a16:creationId xmlns:a16="http://schemas.microsoft.com/office/drawing/2014/main" id="{ABA5E2F7-E003-F53E-92E3-A3468236E335}"/>
              </a:ext>
            </a:extLst>
          </p:cNvPr>
          <p:cNvSpPr txBox="1"/>
          <p:nvPr/>
        </p:nvSpPr>
        <p:spPr>
          <a:xfrm>
            <a:off x="3708400" y="3962400"/>
            <a:ext cx="152400" cy="276999"/>
          </a:xfrm>
          <a:prstGeom prst="rect">
            <a:avLst/>
          </a:prstGeom>
          <a:noFill/>
        </p:spPr>
        <p:txBody>
          <a:bodyPr vert="horz" wrap="square" rtlCol="0">
            <a:spAutoFit/>
          </a:bodyPr>
          <a:lstStyle/>
          <a:p>
            <a:pPr algn="ctr"/>
            <a:r>
              <a:rPr lang="en-US" sz="1200" b="1">
                <a:solidFill>
                  <a:srgbClr val="888888"/>
                </a:solidFill>
                <a:latin typeface="Segoe UI" panose="020B0502040204020203" pitchFamily="34" charset="0"/>
              </a:rPr>
              <a:t>&gt;</a:t>
            </a:r>
          </a:p>
        </p:txBody>
      </p:sp>
      <p:sp>
        <p:nvSpPr>
          <p:cNvPr id="78" name="Rectangle 77">
            <a:extLst>
              <a:ext uri="{FF2B5EF4-FFF2-40B4-BE49-F238E27FC236}">
                <a16:creationId xmlns:a16="http://schemas.microsoft.com/office/drawing/2014/main" id="{A4F7073C-79C3-945C-673B-99396F0C48C1}"/>
              </a:ext>
            </a:extLst>
          </p:cNvPr>
          <p:cNvSpPr/>
          <p:nvPr/>
        </p:nvSpPr>
        <p:spPr>
          <a:xfrm>
            <a:off x="3860800" y="3683000"/>
            <a:ext cx="1676400" cy="711200"/>
          </a:xfrm>
          <a:prstGeom prst="rect">
            <a:avLst/>
          </a:prstGeom>
          <a:solidFill>
            <a:srgbClr val="1E7A1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TextBox 78">
            <a:extLst>
              <a:ext uri="{FF2B5EF4-FFF2-40B4-BE49-F238E27FC236}">
                <a16:creationId xmlns:a16="http://schemas.microsoft.com/office/drawing/2014/main" id="{6DBEA98B-A7AF-FF89-7C13-57FE49899C98}"/>
              </a:ext>
            </a:extLst>
          </p:cNvPr>
          <p:cNvSpPr txBox="1"/>
          <p:nvPr/>
        </p:nvSpPr>
        <p:spPr>
          <a:xfrm>
            <a:off x="3860800" y="3683000"/>
            <a:ext cx="1676400" cy="338554"/>
          </a:xfrm>
          <a:prstGeom prst="rect">
            <a:avLst/>
          </a:prstGeom>
          <a:noFill/>
        </p:spPr>
        <p:txBody>
          <a:bodyPr vert="horz" wrap="square" rtlCol="0">
            <a:spAutoFit/>
          </a:bodyPr>
          <a:lstStyle/>
          <a:p>
            <a:pPr algn="ctr"/>
            <a:r>
              <a:rPr lang="en-US" sz="800" b="1">
                <a:solidFill>
                  <a:srgbClr val="FFFFFF"/>
                </a:solidFill>
                <a:latin typeface="Segoe UI" panose="020B0502040204020203" pitchFamily="34" charset="0"/>
              </a:rPr>
              <a:t>Completed
(review_required)</a:t>
            </a:r>
          </a:p>
        </p:txBody>
      </p:sp>
      <p:sp>
        <p:nvSpPr>
          <p:cNvPr id="80" name="TextBox 79">
            <a:extLst>
              <a:ext uri="{FF2B5EF4-FFF2-40B4-BE49-F238E27FC236}">
                <a16:creationId xmlns:a16="http://schemas.microsoft.com/office/drawing/2014/main" id="{4C4EFF90-949D-D7F1-6427-2337E2D335CF}"/>
              </a:ext>
            </a:extLst>
          </p:cNvPr>
          <p:cNvSpPr txBox="1"/>
          <p:nvPr/>
        </p:nvSpPr>
        <p:spPr>
          <a:xfrm>
            <a:off x="5537200" y="3962400"/>
            <a:ext cx="152400" cy="276999"/>
          </a:xfrm>
          <a:prstGeom prst="rect">
            <a:avLst/>
          </a:prstGeom>
          <a:noFill/>
        </p:spPr>
        <p:txBody>
          <a:bodyPr vert="horz" wrap="square" rtlCol="0">
            <a:spAutoFit/>
          </a:bodyPr>
          <a:lstStyle/>
          <a:p>
            <a:pPr algn="ctr"/>
            <a:r>
              <a:rPr lang="en-US" sz="1200" b="1">
                <a:solidFill>
                  <a:srgbClr val="888888"/>
                </a:solidFill>
                <a:latin typeface="Segoe UI" panose="020B0502040204020203" pitchFamily="34" charset="0"/>
              </a:rPr>
              <a:t>&gt;</a:t>
            </a:r>
          </a:p>
        </p:txBody>
      </p:sp>
      <p:sp>
        <p:nvSpPr>
          <p:cNvPr id="81" name="Rectangle 80">
            <a:extLst>
              <a:ext uri="{FF2B5EF4-FFF2-40B4-BE49-F238E27FC236}">
                <a16:creationId xmlns:a16="http://schemas.microsoft.com/office/drawing/2014/main" id="{A5F48D91-8C32-4FF6-DA97-A356D69F1E98}"/>
              </a:ext>
            </a:extLst>
          </p:cNvPr>
          <p:cNvSpPr/>
          <p:nvPr/>
        </p:nvSpPr>
        <p:spPr>
          <a:xfrm>
            <a:off x="5689600" y="3683000"/>
            <a:ext cx="1676400" cy="711200"/>
          </a:xfrm>
          <a:prstGeom prst="rect">
            <a:avLst/>
          </a:prstGeom>
          <a:solidFill>
            <a:srgbClr val="001A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TextBox 81">
            <a:extLst>
              <a:ext uri="{FF2B5EF4-FFF2-40B4-BE49-F238E27FC236}">
                <a16:creationId xmlns:a16="http://schemas.microsoft.com/office/drawing/2014/main" id="{AEBB6120-B482-182E-F967-1C003C716318}"/>
              </a:ext>
            </a:extLst>
          </p:cNvPr>
          <p:cNvSpPr txBox="1"/>
          <p:nvPr/>
        </p:nvSpPr>
        <p:spPr>
          <a:xfrm>
            <a:off x="5689600" y="3683000"/>
            <a:ext cx="1676400" cy="338554"/>
          </a:xfrm>
          <a:prstGeom prst="rect">
            <a:avLst/>
          </a:prstGeom>
          <a:noFill/>
        </p:spPr>
        <p:txBody>
          <a:bodyPr vert="horz" wrap="square" rtlCol="0">
            <a:spAutoFit/>
          </a:bodyPr>
          <a:lstStyle/>
          <a:p>
            <a:pPr algn="ctr"/>
            <a:r>
              <a:rPr lang="en-US" sz="800" b="1">
                <a:solidFill>
                  <a:srgbClr val="FFFFFF"/>
                </a:solidFill>
                <a:latin typeface="Segoe UI" panose="020B0502040204020203" pitchFamily="34" charset="0"/>
              </a:rPr>
              <a:t>Deviations
resolved</a:t>
            </a:r>
          </a:p>
        </p:txBody>
      </p:sp>
      <p:sp>
        <p:nvSpPr>
          <p:cNvPr id="83" name="TextBox 82">
            <a:extLst>
              <a:ext uri="{FF2B5EF4-FFF2-40B4-BE49-F238E27FC236}">
                <a16:creationId xmlns:a16="http://schemas.microsoft.com/office/drawing/2014/main" id="{E6A75A42-D611-E68B-2E2F-D06705911F4E}"/>
              </a:ext>
            </a:extLst>
          </p:cNvPr>
          <p:cNvSpPr txBox="1"/>
          <p:nvPr/>
        </p:nvSpPr>
        <p:spPr>
          <a:xfrm>
            <a:off x="7366000" y="3962400"/>
            <a:ext cx="152400" cy="276999"/>
          </a:xfrm>
          <a:prstGeom prst="rect">
            <a:avLst/>
          </a:prstGeom>
          <a:noFill/>
        </p:spPr>
        <p:txBody>
          <a:bodyPr vert="horz" wrap="square" rtlCol="0">
            <a:spAutoFit/>
          </a:bodyPr>
          <a:lstStyle/>
          <a:p>
            <a:pPr algn="ctr"/>
            <a:r>
              <a:rPr lang="en-US" sz="1200" b="1">
                <a:solidFill>
                  <a:srgbClr val="888888"/>
                </a:solidFill>
                <a:latin typeface="Segoe UI" panose="020B0502040204020203" pitchFamily="34" charset="0"/>
              </a:rPr>
              <a:t>&gt;</a:t>
            </a:r>
          </a:p>
        </p:txBody>
      </p:sp>
      <p:sp>
        <p:nvSpPr>
          <p:cNvPr id="84" name="Rectangle 83">
            <a:extLst>
              <a:ext uri="{FF2B5EF4-FFF2-40B4-BE49-F238E27FC236}">
                <a16:creationId xmlns:a16="http://schemas.microsoft.com/office/drawing/2014/main" id="{F2BF4AC5-5984-7A57-84A2-030C56A8BFBB}"/>
              </a:ext>
            </a:extLst>
          </p:cNvPr>
          <p:cNvSpPr/>
          <p:nvPr/>
        </p:nvSpPr>
        <p:spPr>
          <a:xfrm>
            <a:off x="7518400" y="3683000"/>
            <a:ext cx="1676400" cy="711200"/>
          </a:xfrm>
          <a:prstGeom prst="rect">
            <a:avLst/>
          </a:prstGeom>
          <a:solidFill>
            <a:srgbClr val="1A3A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TextBox 84">
            <a:extLst>
              <a:ext uri="{FF2B5EF4-FFF2-40B4-BE49-F238E27FC236}">
                <a16:creationId xmlns:a16="http://schemas.microsoft.com/office/drawing/2014/main" id="{F367AC4A-78A8-E7D7-87CA-0D88340F9906}"/>
              </a:ext>
            </a:extLst>
          </p:cNvPr>
          <p:cNvSpPr txBox="1"/>
          <p:nvPr/>
        </p:nvSpPr>
        <p:spPr>
          <a:xfrm>
            <a:off x="7518400" y="3683000"/>
            <a:ext cx="1676400" cy="338554"/>
          </a:xfrm>
          <a:prstGeom prst="rect">
            <a:avLst/>
          </a:prstGeom>
          <a:noFill/>
        </p:spPr>
        <p:txBody>
          <a:bodyPr vert="horz" wrap="square" rtlCol="0">
            <a:spAutoFit/>
          </a:bodyPr>
          <a:lstStyle/>
          <a:p>
            <a:pPr algn="ctr"/>
            <a:r>
              <a:rPr lang="en-US" sz="800" b="1">
                <a:solidFill>
                  <a:srgbClr val="FFFFFF"/>
                </a:solidFill>
                <a:latin typeface="Segoe UI" panose="020B0502040204020203" pitchFamily="34" charset="0"/>
              </a:rPr>
              <a:t>Ready for
Export</a:t>
            </a:r>
          </a:p>
        </p:txBody>
      </p:sp>
      <p:sp>
        <p:nvSpPr>
          <p:cNvPr id="86" name="TextBox 85">
            <a:extLst>
              <a:ext uri="{FF2B5EF4-FFF2-40B4-BE49-F238E27FC236}">
                <a16:creationId xmlns:a16="http://schemas.microsoft.com/office/drawing/2014/main" id="{C0E7720E-F5F9-B40D-C769-0516EDE50678}"/>
              </a:ext>
            </a:extLst>
          </p:cNvPr>
          <p:cNvSpPr txBox="1"/>
          <p:nvPr/>
        </p:nvSpPr>
        <p:spPr>
          <a:xfrm>
            <a:off x="254000" y="4521200"/>
            <a:ext cx="8636000" cy="461665"/>
          </a:xfrm>
          <a:prstGeom prst="rect">
            <a:avLst/>
          </a:prstGeom>
          <a:noFill/>
        </p:spPr>
        <p:txBody>
          <a:bodyPr vert="horz" wrap="square" rtlCol="0">
            <a:spAutoFit/>
          </a:bodyPr>
          <a:lstStyle/>
          <a:p>
            <a:r>
              <a:rPr lang="en-US" sz="800">
                <a:solidFill>
                  <a:srgbClr val="888888"/>
                </a:solidFill>
                <a:latin typeface="Segoe UI" panose="020B0502040204020203" pitchFamily="34" charset="0"/>
              </a:rPr>
              <a:t>Human-in-the-Loop checkpoints:
  - After extraction: engineer reviews Level 1 deviations (LowConfidence + MissingData)
  - After extraction: engineer reviews Level 2 device deviations (MissingDevice + LowConfidence cubicles)</a:t>
            </a:r>
          </a:p>
        </p:txBody>
      </p:sp>
      <p:sp>
        <p:nvSpPr>
          <p:cNvPr id="87" name="TextBox 86">
            <a:extLst>
              <a:ext uri="{FF2B5EF4-FFF2-40B4-BE49-F238E27FC236}">
                <a16:creationId xmlns:a16="http://schemas.microsoft.com/office/drawing/2014/main" id="{84A74341-6583-4DD6-4E01-CA897B5B1B97}"/>
              </a:ext>
            </a:extLst>
          </p:cNvPr>
          <p:cNvSpPr txBox="1"/>
          <p:nvPr/>
        </p:nvSpPr>
        <p:spPr>
          <a:xfrm>
            <a:off x="254000" y="5054600"/>
            <a:ext cx="8636000" cy="246221"/>
          </a:xfrm>
          <a:prstGeom prst="rect">
            <a:avLst/>
          </a:prstGeom>
          <a:noFill/>
        </p:spPr>
        <p:txBody>
          <a:bodyPr vert="horz" wrap="square" rtlCol="0">
            <a:spAutoFit/>
          </a:bodyPr>
          <a:lstStyle/>
          <a:p>
            <a:r>
              <a:rPr lang="en-US" sz="1000" b="1">
                <a:solidFill>
                  <a:srgbClr val="FF0F1A"/>
                </a:solidFill>
                <a:latin typeface="Segoe UI" panose="020B0502040204020203" pitchFamily="34" charset="0"/>
              </a:rPr>
              <a:t>Export is blocked if any MissingData DeviationItem is unresolved -- no silent ABB defaults.</a:t>
            </a:r>
          </a:p>
        </p:txBody>
      </p:sp>
    </p:spTree>
    <p:extLst>
      <p:ext uri="{BB962C8B-B14F-4D97-AF65-F5344CB8AC3E}">
        <p14:creationId xmlns:p14="http://schemas.microsoft.com/office/powerpoint/2010/main" val="27581711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C7CDD13-AE0A-899B-A6F8-C05DFEAAF52D}"/>
              </a:ext>
            </a:extLst>
          </p:cNvPr>
          <p:cNvSpPr/>
          <p:nvPr/>
        </p:nvSpPr>
        <p:spPr>
          <a:xfrm>
            <a:off x="0" y="0"/>
            <a:ext cx="9144000" cy="6858000"/>
          </a:xfrm>
          <a:prstGeom prst="rect">
            <a:avLst/>
          </a:prstGeom>
          <a:solidFill>
            <a:srgbClr val="1E1E1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F4A30298-083B-7578-345D-C6E6D53B09B0}"/>
              </a:ext>
            </a:extLst>
          </p:cNvPr>
          <p:cNvSpPr/>
          <p:nvPr/>
        </p:nvSpPr>
        <p:spPr>
          <a:xfrm>
            <a:off x="0" y="0"/>
            <a:ext cx="9144000" cy="762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602D316B-1E4C-F522-F378-7D69A881AA74}"/>
              </a:ext>
            </a:extLst>
          </p:cNvPr>
          <p:cNvSpPr/>
          <p:nvPr/>
        </p:nvSpPr>
        <p:spPr>
          <a:xfrm>
            <a:off x="0" y="6781800"/>
            <a:ext cx="9144000" cy="762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4D67764-C586-45D1-A4E8-50AE5128ABF7}"/>
              </a:ext>
            </a:extLst>
          </p:cNvPr>
          <p:cNvSpPr/>
          <p:nvPr/>
        </p:nvSpPr>
        <p:spPr>
          <a:xfrm>
            <a:off x="254000" y="609600"/>
            <a:ext cx="8636000" cy="25400"/>
          </a:xfrm>
          <a:prstGeom prst="rect">
            <a:avLst/>
          </a:prstGeom>
          <a:solidFill>
            <a:srgbClr val="33333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373BA58-1B7E-1B96-B700-35FECD62A7A4}"/>
              </a:ext>
            </a:extLst>
          </p:cNvPr>
          <p:cNvSpPr txBox="1"/>
          <p:nvPr/>
        </p:nvSpPr>
        <p:spPr>
          <a:xfrm>
            <a:off x="254000" y="736600"/>
            <a:ext cx="8636000" cy="553998"/>
          </a:xfrm>
          <a:prstGeom prst="rect">
            <a:avLst/>
          </a:prstGeom>
          <a:noFill/>
        </p:spPr>
        <p:txBody>
          <a:bodyPr vert="horz" wrap="square" rtlCol="0">
            <a:spAutoFit/>
          </a:bodyPr>
          <a:lstStyle/>
          <a:p>
            <a:pPr algn="ctr"/>
            <a:r>
              <a:rPr lang="en-US" sz="3000" b="1">
                <a:solidFill>
                  <a:srgbClr val="FFFFFF"/>
                </a:solidFill>
                <a:latin typeface="Segoe UI" panose="020B0502040204020203" pitchFamily="34" charset="0"/>
              </a:rPr>
              <a:t>ABB Switchgear AI Co-Engineer</a:t>
            </a:r>
          </a:p>
        </p:txBody>
      </p:sp>
      <p:sp>
        <p:nvSpPr>
          <p:cNvPr id="7" name="TextBox 6">
            <a:extLst>
              <a:ext uri="{FF2B5EF4-FFF2-40B4-BE49-F238E27FC236}">
                <a16:creationId xmlns:a16="http://schemas.microsoft.com/office/drawing/2014/main" id="{12F6777B-26E7-C4D7-CF9D-4EEA2EB32A2B}"/>
              </a:ext>
            </a:extLst>
          </p:cNvPr>
          <p:cNvSpPr txBox="1"/>
          <p:nvPr/>
        </p:nvSpPr>
        <p:spPr>
          <a:xfrm>
            <a:off x="254000" y="1320800"/>
            <a:ext cx="8636000" cy="307777"/>
          </a:xfrm>
          <a:prstGeom prst="rect">
            <a:avLst/>
          </a:prstGeom>
          <a:noFill/>
        </p:spPr>
        <p:txBody>
          <a:bodyPr vert="horz" wrap="square" rtlCol="0">
            <a:spAutoFit/>
          </a:bodyPr>
          <a:lstStyle/>
          <a:p>
            <a:pPr algn="ctr"/>
            <a:r>
              <a:rPr lang="en-US" sz="1400">
                <a:solidFill>
                  <a:srgbClr val="AAAAAA"/>
                </a:solidFill>
                <a:latin typeface="Segoe UI" panose="020B0502040204020203" pitchFamily="34" charset="0"/>
              </a:rPr>
              <a:t>Transforming RFQ documents into validated ABB configurations -- automatically</a:t>
            </a:r>
          </a:p>
        </p:txBody>
      </p:sp>
      <p:sp>
        <p:nvSpPr>
          <p:cNvPr id="8" name="Rectangle 7">
            <a:extLst>
              <a:ext uri="{FF2B5EF4-FFF2-40B4-BE49-F238E27FC236}">
                <a16:creationId xmlns:a16="http://schemas.microsoft.com/office/drawing/2014/main" id="{5169D932-E3C1-466A-FB84-C3AEC9B33122}"/>
              </a:ext>
            </a:extLst>
          </p:cNvPr>
          <p:cNvSpPr/>
          <p:nvPr/>
        </p:nvSpPr>
        <p:spPr>
          <a:xfrm>
            <a:off x="3302000" y="1701800"/>
            <a:ext cx="2540000" cy="381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6CB9C44-8BEA-892A-0F50-80941B2A172A}"/>
              </a:ext>
            </a:extLst>
          </p:cNvPr>
          <p:cNvSpPr/>
          <p:nvPr/>
        </p:nvSpPr>
        <p:spPr>
          <a:xfrm>
            <a:off x="2540000" y="1981200"/>
            <a:ext cx="88900" cy="889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A3C63768-1485-87DC-0687-408949795B6C}"/>
              </a:ext>
            </a:extLst>
          </p:cNvPr>
          <p:cNvSpPr txBox="1"/>
          <p:nvPr/>
        </p:nvSpPr>
        <p:spPr>
          <a:xfrm>
            <a:off x="2743200" y="1905000"/>
            <a:ext cx="3683000" cy="246221"/>
          </a:xfrm>
          <a:prstGeom prst="rect">
            <a:avLst/>
          </a:prstGeom>
          <a:noFill/>
        </p:spPr>
        <p:txBody>
          <a:bodyPr vert="horz" wrap="square" rtlCol="0">
            <a:spAutoFit/>
          </a:bodyPr>
          <a:lstStyle/>
          <a:p>
            <a:r>
              <a:rPr lang="en-US" sz="1000">
                <a:solidFill>
                  <a:srgbClr val="FFFFFF"/>
                </a:solidFill>
                <a:latin typeface="Segoe UI" panose="020B0502040204020203" pitchFamily="34" charset="0"/>
              </a:rPr>
              <a:t>3 parallel AI extraction paths -- no single point of failure</a:t>
            </a:r>
          </a:p>
        </p:txBody>
      </p:sp>
      <p:sp>
        <p:nvSpPr>
          <p:cNvPr id="11" name="Rectangle 10">
            <a:extLst>
              <a:ext uri="{FF2B5EF4-FFF2-40B4-BE49-F238E27FC236}">
                <a16:creationId xmlns:a16="http://schemas.microsoft.com/office/drawing/2014/main" id="{552E4E6A-1336-2561-44D9-3DE2B34476BD}"/>
              </a:ext>
            </a:extLst>
          </p:cNvPr>
          <p:cNvSpPr/>
          <p:nvPr/>
        </p:nvSpPr>
        <p:spPr>
          <a:xfrm>
            <a:off x="2540000" y="2286000"/>
            <a:ext cx="88900" cy="889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387EB673-78A1-6BC2-38F9-ABD1A399D0D5}"/>
              </a:ext>
            </a:extLst>
          </p:cNvPr>
          <p:cNvSpPr txBox="1"/>
          <p:nvPr/>
        </p:nvSpPr>
        <p:spPr>
          <a:xfrm>
            <a:off x="2743200" y="2209800"/>
            <a:ext cx="3683000" cy="400110"/>
          </a:xfrm>
          <a:prstGeom prst="rect">
            <a:avLst/>
          </a:prstGeom>
          <a:noFill/>
        </p:spPr>
        <p:txBody>
          <a:bodyPr vert="horz" wrap="square" rtlCol="0">
            <a:spAutoFit/>
          </a:bodyPr>
          <a:lstStyle/>
          <a:p>
            <a:r>
              <a:rPr lang="en-US" sz="1000">
                <a:solidFill>
                  <a:srgbClr val="FFFFFF"/>
                </a:solidFill>
                <a:latin typeface="Segoe UI" panose="020B0502040204020203" pitchFamily="34" charset="0"/>
              </a:rPr>
              <a:t>Ensemble voting ensures confidence-scored, traceable outputs</a:t>
            </a:r>
          </a:p>
        </p:txBody>
      </p:sp>
      <p:sp>
        <p:nvSpPr>
          <p:cNvPr id="13" name="Rectangle 12">
            <a:extLst>
              <a:ext uri="{FF2B5EF4-FFF2-40B4-BE49-F238E27FC236}">
                <a16:creationId xmlns:a16="http://schemas.microsoft.com/office/drawing/2014/main" id="{729FFC36-DED7-3354-D449-DC50288D5B02}"/>
              </a:ext>
            </a:extLst>
          </p:cNvPr>
          <p:cNvSpPr/>
          <p:nvPr/>
        </p:nvSpPr>
        <p:spPr>
          <a:xfrm>
            <a:off x="2540000" y="2590800"/>
            <a:ext cx="88900" cy="889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4415AFAE-918F-CBD4-708F-E25F0E7C85DB}"/>
              </a:ext>
            </a:extLst>
          </p:cNvPr>
          <p:cNvSpPr txBox="1"/>
          <p:nvPr/>
        </p:nvSpPr>
        <p:spPr>
          <a:xfrm>
            <a:off x="2743200" y="2514600"/>
            <a:ext cx="3683000" cy="246221"/>
          </a:xfrm>
          <a:prstGeom prst="rect">
            <a:avLst/>
          </a:prstGeom>
          <a:noFill/>
        </p:spPr>
        <p:txBody>
          <a:bodyPr vert="horz" wrap="square" rtlCol="0">
            <a:spAutoFit/>
          </a:bodyPr>
          <a:lstStyle/>
          <a:p>
            <a:r>
              <a:rPr lang="en-US" sz="1000">
                <a:solidFill>
                  <a:srgbClr val="FFFFFF"/>
                </a:solidFill>
                <a:latin typeface="Segoe UI" panose="020B0502040204020203" pitchFamily="34" charset="0"/>
              </a:rPr>
              <a:t>Two-level extraction: system parameters + per-cubicle devices</a:t>
            </a:r>
          </a:p>
        </p:txBody>
      </p:sp>
      <p:sp>
        <p:nvSpPr>
          <p:cNvPr id="15" name="Rectangle 14">
            <a:extLst>
              <a:ext uri="{FF2B5EF4-FFF2-40B4-BE49-F238E27FC236}">
                <a16:creationId xmlns:a16="http://schemas.microsoft.com/office/drawing/2014/main" id="{A177A97F-ADE4-2067-6B54-79A92146B213}"/>
              </a:ext>
            </a:extLst>
          </p:cNvPr>
          <p:cNvSpPr/>
          <p:nvPr/>
        </p:nvSpPr>
        <p:spPr>
          <a:xfrm>
            <a:off x="2540000" y="2895600"/>
            <a:ext cx="88900" cy="889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06AA219F-DFB6-0F8B-5875-E43F14E60BB6}"/>
              </a:ext>
            </a:extLst>
          </p:cNvPr>
          <p:cNvSpPr txBox="1"/>
          <p:nvPr/>
        </p:nvSpPr>
        <p:spPr>
          <a:xfrm>
            <a:off x="2743200" y="2819400"/>
            <a:ext cx="3683000" cy="400110"/>
          </a:xfrm>
          <a:prstGeom prst="rect">
            <a:avLst/>
          </a:prstGeom>
          <a:noFill/>
        </p:spPr>
        <p:txBody>
          <a:bodyPr vert="horz" wrap="square" rtlCol="0">
            <a:spAutoFit/>
          </a:bodyPr>
          <a:lstStyle/>
          <a:p>
            <a:r>
              <a:rPr lang="en-US" sz="1000">
                <a:solidFill>
                  <a:srgbClr val="FFFFFF"/>
                </a:solidFill>
                <a:latin typeface="Segoe UI" panose="020B0502040204020203" pitchFamily="34" charset="0"/>
              </a:rPr>
              <a:t>Multilingual natively: EN / FR / IT / DE without translation layers</a:t>
            </a:r>
          </a:p>
        </p:txBody>
      </p:sp>
      <p:sp>
        <p:nvSpPr>
          <p:cNvPr id="17" name="Rectangle 16">
            <a:extLst>
              <a:ext uri="{FF2B5EF4-FFF2-40B4-BE49-F238E27FC236}">
                <a16:creationId xmlns:a16="http://schemas.microsoft.com/office/drawing/2014/main" id="{4DBB3BF3-9F1D-649C-FB6F-E0BD425B8210}"/>
              </a:ext>
            </a:extLst>
          </p:cNvPr>
          <p:cNvSpPr/>
          <p:nvPr/>
        </p:nvSpPr>
        <p:spPr>
          <a:xfrm>
            <a:off x="2540000" y="3200400"/>
            <a:ext cx="88900" cy="889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465F2942-4A0F-5767-2DD8-55C0EC6205D7}"/>
              </a:ext>
            </a:extLst>
          </p:cNvPr>
          <p:cNvSpPr txBox="1"/>
          <p:nvPr/>
        </p:nvSpPr>
        <p:spPr>
          <a:xfrm>
            <a:off x="2743200" y="3124200"/>
            <a:ext cx="3683000" cy="400110"/>
          </a:xfrm>
          <a:prstGeom prst="rect">
            <a:avLst/>
          </a:prstGeom>
          <a:noFill/>
        </p:spPr>
        <p:txBody>
          <a:bodyPr vert="horz" wrap="square" rtlCol="0">
            <a:spAutoFit/>
          </a:bodyPr>
          <a:lstStyle/>
          <a:p>
            <a:r>
              <a:rPr lang="en-US" sz="1000">
                <a:solidFill>
                  <a:srgbClr val="FFFFFF"/>
                </a:solidFill>
                <a:latin typeface="Segoe UI" panose="020B0502040204020203" pitchFamily="34" charset="0"/>
              </a:rPr>
              <a:t>Zero silent defaults -- every gap surfaces as a reviewable deviation</a:t>
            </a:r>
          </a:p>
        </p:txBody>
      </p:sp>
      <p:sp>
        <p:nvSpPr>
          <p:cNvPr id="19" name="Rectangle 18">
            <a:extLst>
              <a:ext uri="{FF2B5EF4-FFF2-40B4-BE49-F238E27FC236}">
                <a16:creationId xmlns:a16="http://schemas.microsoft.com/office/drawing/2014/main" id="{7CF4C9C7-7EF0-2CAC-0F9E-8A719B87155D}"/>
              </a:ext>
            </a:extLst>
          </p:cNvPr>
          <p:cNvSpPr/>
          <p:nvPr/>
        </p:nvSpPr>
        <p:spPr>
          <a:xfrm>
            <a:off x="2540000" y="3505200"/>
            <a:ext cx="88900" cy="889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FA996A07-80E2-3FF8-7043-31E101ABA8D9}"/>
              </a:ext>
            </a:extLst>
          </p:cNvPr>
          <p:cNvSpPr txBox="1"/>
          <p:nvPr/>
        </p:nvSpPr>
        <p:spPr>
          <a:xfrm>
            <a:off x="2743200" y="3429000"/>
            <a:ext cx="3683000" cy="246221"/>
          </a:xfrm>
          <a:prstGeom prst="rect">
            <a:avLst/>
          </a:prstGeom>
          <a:noFill/>
        </p:spPr>
        <p:txBody>
          <a:bodyPr vert="horz" wrap="square" rtlCol="0">
            <a:spAutoFit/>
          </a:bodyPr>
          <a:lstStyle/>
          <a:p>
            <a:r>
              <a:rPr lang="en-US" sz="1000">
                <a:solidFill>
                  <a:srgbClr val="FFFFFF"/>
                </a:solidFill>
                <a:latin typeface="Segoe UI" panose="020B0502040204020203" pitchFamily="34" charset="0"/>
              </a:rPr>
              <a:t>Human-in-the-loop at every uncertainty threshold</a:t>
            </a:r>
          </a:p>
        </p:txBody>
      </p:sp>
      <p:sp>
        <p:nvSpPr>
          <p:cNvPr id="21" name="Rectangle 20">
            <a:extLst>
              <a:ext uri="{FF2B5EF4-FFF2-40B4-BE49-F238E27FC236}">
                <a16:creationId xmlns:a16="http://schemas.microsoft.com/office/drawing/2014/main" id="{5A91C1F6-5DBE-F8EC-2AAF-9206D31DAE6B}"/>
              </a:ext>
            </a:extLst>
          </p:cNvPr>
          <p:cNvSpPr/>
          <p:nvPr/>
        </p:nvSpPr>
        <p:spPr>
          <a:xfrm>
            <a:off x="2540000" y="3810000"/>
            <a:ext cx="88900" cy="889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F850B86A-1552-E204-5DD7-881576FA4639}"/>
              </a:ext>
            </a:extLst>
          </p:cNvPr>
          <p:cNvSpPr txBox="1"/>
          <p:nvPr/>
        </p:nvSpPr>
        <p:spPr>
          <a:xfrm>
            <a:off x="2743200" y="3733800"/>
            <a:ext cx="3683000" cy="400110"/>
          </a:xfrm>
          <a:prstGeom prst="rect">
            <a:avLst/>
          </a:prstGeom>
          <a:noFill/>
        </p:spPr>
        <p:txBody>
          <a:bodyPr vert="horz" wrap="square" rtlCol="0">
            <a:spAutoFit/>
          </a:bodyPr>
          <a:lstStyle/>
          <a:p>
            <a:r>
              <a:rPr lang="en-US" sz="1000">
                <a:solidFill>
                  <a:srgbClr val="FFFFFF"/>
                </a:solidFill>
                <a:latin typeface="Segoe UI" panose="020B0502040204020203" pitchFamily="34" charset="0"/>
              </a:rPr>
              <a:t>Live ABB Sales Configurator integration for real product matching</a:t>
            </a:r>
          </a:p>
        </p:txBody>
      </p:sp>
      <p:sp>
        <p:nvSpPr>
          <p:cNvPr id="23" name="Rectangle 22">
            <a:extLst>
              <a:ext uri="{FF2B5EF4-FFF2-40B4-BE49-F238E27FC236}">
                <a16:creationId xmlns:a16="http://schemas.microsoft.com/office/drawing/2014/main" id="{D6146C77-CD96-E38C-CE3D-ADB0E6C4040D}"/>
              </a:ext>
            </a:extLst>
          </p:cNvPr>
          <p:cNvSpPr/>
          <p:nvPr/>
        </p:nvSpPr>
        <p:spPr>
          <a:xfrm>
            <a:off x="2540000" y="4114800"/>
            <a:ext cx="88900" cy="88900"/>
          </a:xfrm>
          <a:prstGeom prst="rect">
            <a:avLst/>
          </a:prstGeom>
          <a:solidFill>
            <a:srgbClr val="FF0F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07161BA2-533F-BE8E-DF65-09CA71F7A1A1}"/>
              </a:ext>
            </a:extLst>
          </p:cNvPr>
          <p:cNvSpPr txBox="1"/>
          <p:nvPr/>
        </p:nvSpPr>
        <p:spPr>
          <a:xfrm>
            <a:off x="2743200" y="4038600"/>
            <a:ext cx="3683000" cy="246221"/>
          </a:xfrm>
          <a:prstGeom prst="rect">
            <a:avLst/>
          </a:prstGeom>
          <a:noFill/>
        </p:spPr>
        <p:txBody>
          <a:bodyPr vert="horz" wrap="square" rtlCol="0">
            <a:spAutoFit/>
          </a:bodyPr>
          <a:lstStyle/>
          <a:p>
            <a:r>
              <a:rPr lang="en-US" sz="1000">
                <a:solidFill>
                  <a:srgbClr val="FFFFFF"/>
                </a:solidFill>
                <a:latin typeface="Segoe UI" panose="020B0502040204020203" pitchFamily="34" charset="0"/>
              </a:rPr>
              <a:t>Scales from Phase 1 (RAG) to Phase 4 (active learning loop)</a:t>
            </a:r>
          </a:p>
        </p:txBody>
      </p:sp>
      <p:sp>
        <p:nvSpPr>
          <p:cNvPr id="25" name="TextBox 24">
            <a:extLst>
              <a:ext uri="{FF2B5EF4-FFF2-40B4-BE49-F238E27FC236}">
                <a16:creationId xmlns:a16="http://schemas.microsoft.com/office/drawing/2014/main" id="{2E2CF504-57FC-A184-3AA6-79BFB7BE7F48}"/>
              </a:ext>
            </a:extLst>
          </p:cNvPr>
          <p:cNvSpPr txBox="1"/>
          <p:nvPr/>
        </p:nvSpPr>
        <p:spPr>
          <a:xfrm>
            <a:off x="254000" y="6172200"/>
            <a:ext cx="8636000" cy="215444"/>
          </a:xfrm>
          <a:prstGeom prst="rect">
            <a:avLst/>
          </a:prstGeom>
          <a:noFill/>
        </p:spPr>
        <p:txBody>
          <a:bodyPr vert="horz" wrap="square" rtlCol="0">
            <a:spAutoFit/>
          </a:bodyPr>
          <a:lstStyle/>
          <a:p>
            <a:pPr algn="ctr"/>
            <a:r>
              <a:rPr lang="en-US" sz="800">
                <a:solidFill>
                  <a:srgbClr val="555555"/>
                </a:solidFill>
                <a:latin typeface="Segoe UI" panose="020B0502040204020203" pitchFamily="34" charset="0"/>
              </a:rPr>
              <a:t>Built at ABB Hackathon 2026  |  Team Infosys  |  .NET 9 + Angular 17 + Python FastAPI + Azure AI</a:t>
            </a:r>
          </a:p>
        </p:txBody>
      </p:sp>
    </p:spTree>
    <p:extLst>
      <p:ext uri="{BB962C8B-B14F-4D97-AF65-F5344CB8AC3E}">
        <p14:creationId xmlns:p14="http://schemas.microsoft.com/office/powerpoint/2010/main" val="31104048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1">
  <p:cSld>
    <p:spTree>
      <p:nvGrpSpPr>
        <p:cNvPr id="1" name=""/>
        <p:cNvGrpSpPr/>
        <p:nvPr/>
      </p:nvGrpSpPr>
      <p:grpSpPr>
        <a:xfrm>
          <a:off x="0" y="0"/>
          <a:ext cx="0" cy="0"/>
          <a:chOff x="0" y="0"/>
          <a:chExt cx="0" cy="0"/>
        </a:xfrm>
      </p:grpSpPr>
      <p:pic>
        <p:nvPicPr>
          <p:cNvPr id="2" name="Architecture Diagram"/>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a0819fa7-4367-4500-ba88-dd630d977609}" enabled="1" method="Standard" siteId="{63ce7d59-2f3e-42cd-a8cc-be764cff5eb6}" contentBits="0" removed="0"/>
</clbl:labelList>
</file>

<file path=docProps/app.xml><?xml version="1.0" encoding="utf-8"?>
<Properties xmlns="http://schemas.openxmlformats.org/officeDocument/2006/extended-properties" xmlns:vt="http://schemas.openxmlformats.org/officeDocument/2006/docPropsVTypes">
  <TotalTime>0</TotalTime>
  <Words>2774</Words>
  <Application>Microsoft Office PowerPoint</Application>
  <PresentationFormat>Widescreen</PresentationFormat>
  <Paragraphs>364</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Aptos Display</vt:lpstr>
      <vt:lpstr>Arial</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Infosys Limited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Anmy Tony</dc:creator>
  <cp:lastModifiedBy>Anmy Tony</cp:lastModifiedBy>
  <cp:revision>1</cp:revision>
  <dcterms:created xsi:type="dcterms:W3CDTF">2026-06-19T04:14:57Z</dcterms:created>
  <dcterms:modified xsi:type="dcterms:W3CDTF">2026-06-19T04:14:58Z</dcterms:modified>
</cp:coreProperties>
</file>